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372" r:id="rId18"/>
    <p:sldId id="373" r:id="rId19"/>
    <p:sldId id="276" r:id="rId20"/>
    <p:sldId id="277" r:id="rId21"/>
    <p:sldId id="278" r:id="rId22"/>
    <p:sldId id="279" r:id="rId23"/>
    <p:sldId id="280" r:id="rId24"/>
    <p:sldId id="375" r:id="rId25"/>
    <p:sldId id="376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90" r:id="rId34"/>
    <p:sldId id="378" r:id="rId35"/>
    <p:sldId id="298" r:id="rId36"/>
    <p:sldId id="299" r:id="rId37"/>
    <p:sldId id="301" r:id="rId38"/>
    <p:sldId id="314" r:id="rId39"/>
    <p:sldId id="317" r:id="rId40"/>
    <p:sldId id="382" r:id="rId41"/>
    <p:sldId id="319" r:id="rId42"/>
    <p:sldId id="320" r:id="rId43"/>
    <p:sldId id="324" r:id="rId44"/>
    <p:sldId id="399" r:id="rId45"/>
    <p:sldId id="325" r:id="rId46"/>
    <p:sldId id="326" r:id="rId47"/>
    <p:sldId id="327" r:id="rId48"/>
    <p:sldId id="328" r:id="rId49"/>
    <p:sldId id="329" r:id="rId50"/>
    <p:sldId id="331" r:id="rId51"/>
    <p:sldId id="335" r:id="rId52"/>
    <p:sldId id="332" r:id="rId53"/>
    <p:sldId id="333" r:id="rId54"/>
    <p:sldId id="334" r:id="rId55"/>
    <p:sldId id="402" r:id="rId56"/>
    <p:sldId id="340" r:id="rId57"/>
    <p:sldId id="341" r:id="rId58"/>
    <p:sldId id="342" r:id="rId59"/>
    <p:sldId id="343" r:id="rId60"/>
    <p:sldId id="344" r:id="rId61"/>
    <p:sldId id="345" r:id="rId62"/>
    <p:sldId id="346" r:id="rId63"/>
    <p:sldId id="347" r:id="rId64"/>
    <p:sldId id="348" r:id="rId65"/>
    <p:sldId id="349" r:id="rId66"/>
    <p:sldId id="351" r:id="rId67"/>
    <p:sldId id="359" r:id="rId6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96" autoAdjust="0"/>
    <p:restoredTop sz="94660"/>
  </p:normalViewPr>
  <p:slideViewPr>
    <p:cSldViewPr>
      <p:cViewPr varScale="1">
        <p:scale>
          <a:sx n="64" d="100"/>
          <a:sy n="64" d="100"/>
        </p:scale>
        <p:origin x="1123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5C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5C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5C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5720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6858000"/>
                </a:move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close/>
              </a:path>
            </a:pathLst>
          </a:custGeom>
          <a:solidFill>
            <a:srgbClr val="002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79" y="920749"/>
            <a:ext cx="8295640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5C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7698" y="1894586"/>
            <a:ext cx="7763002" cy="406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5642" y="6902504"/>
            <a:ext cx="372745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8400" y="6885685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6088" y="1982977"/>
            <a:ext cx="7159625" cy="11779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81580" marR="30480" indent="-2444115">
              <a:lnSpc>
                <a:spcPts val="4270"/>
              </a:lnSpc>
              <a:spcBef>
                <a:spcPts val="685"/>
              </a:spcBef>
            </a:pPr>
            <a:r>
              <a:rPr dirty="0"/>
              <a:t>A </a:t>
            </a:r>
            <a:r>
              <a:rPr spc="-5" dirty="0"/>
              <a:t>“Hands-on” </a:t>
            </a:r>
            <a:r>
              <a:rPr dirty="0"/>
              <a:t>Introduction</a:t>
            </a:r>
            <a:r>
              <a:rPr spc="-85" dirty="0"/>
              <a:t> </a:t>
            </a:r>
            <a:r>
              <a:rPr spc="-5" dirty="0"/>
              <a:t>to  </a:t>
            </a:r>
            <a:r>
              <a:rPr spc="-10" dirty="0"/>
              <a:t>OpenMP</a:t>
            </a:r>
            <a:r>
              <a:rPr sz="4050" spc="-15" baseline="24691" dirty="0"/>
              <a:t>*</a:t>
            </a:r>
            <a:endParaRPr sz="4050" baseline="24691"/>
          </a:p>
        </p:txBody>
      </p:sp>
      <p:sp>
        <p:nvSpPr>
          <p:cNvPr id="5" name="object 5"/>
          <p:cNvSpPr/>
          <p:nvPr/>
        </p:nvSpPr>
        <p:spPr>
          <a:xfrm>
            <a:off x="3906773" y="725423"/>
            <a:ext cx="2591346" cy="9288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13557" y="7100569"/>
            <a:ext cx="45821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*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“OpenMP”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property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OpenMP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Architecture Review</a:t>
            </a:r>
            <a:r>
              <a:rPr sz="1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Board.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77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3096" y="1875840"/>
            <a:ext cx="6619240" cy="47555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Introduction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single masters 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stuff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 your for and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model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 and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9648" y="2062479"/>
            <a:ext cx="469900" cy="317500"/>
            <a:chOff x="739648" y="2062479"/>
            <a:chExt cx="469900" cy="317500"/>
          </a:xfrm>
        </p:grpSpPr>
        <p:sp>
          <p:nvSpPr>
            <p:cNvPr id="5" name="object 5"/>
            <p:cNvSpPr/>
            <p:nvPr/>
          </p:nvSpPr>
          <p:spPr>
            <a:xfrm>
              <a:off x="745998" y="2068829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400"/>
                  </a:moveTo>
                  <a:lnTo>
                    <a:pt x="342900" y="0"/>
                  </a:ln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8" y="2068829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42900" y="0"/>
                  </a:move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63000" y="6902504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8400" y="6885685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1550" y="923798"/>
            <a:ext cx="48406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OpenMP</a:t>
            </a:r>
            <a:r>
              <a:rPr sz="4050" spc="-7" baseline="24691" dirty="0"/>
              <a:t>*</a:t>
            </a:r>
            <a:r>
              <a:rPr sz="4050" spc="427" baseline="24691" dirty="0"/>
              <a:t> </a:t>
            </a:r>
            <a:r>
              <a:rPr sz="4000" dirty="0"/>
              <a:t>Overview: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970270" y="6589776"/>
            <a:ext cx="2594610" cy="379730"/>
          </a:xfrm>
          <a:prstGeom prst="rect">
            <a:avLst/>
          </a:prstGeom>
          <a:solidFill>
            <a:srgbClr val="CCFFCC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95"/>
              </a:spcBef>
            </a:pPr>
            <a:r>
              <a:rPr sz="1800" b="1" spc="-10" dirty="0">
                <a:latin typeface="Courier New"/>
                <a:cs typeface="Courier New"/>
              </a:rPr>
              <a:t>omp_set_lock(lck)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1519" y="5455920"/>
            <a:ext cx="5442585" cy="379730"/>
          </a:xfrm>
          <a:custGeom>
            <a:avLst/>
            <a:gdLst/>
            <a:ahLst/>
            <a:cxnLst/>
            <a:rect l="l" t="t" r="r" b="b"/>
            <a:pathLst>
              <a:path w="5442585" h="379729">
                <a:moveTo>
                  <a:pt x="0" y="0"/>
                </a:moveTo>
                <a:lnTo>
                  <a:pt x="0" y="379476"/>
                </a:lnTo>
                <a:lnTo>
                  <a:pt x="5442204" y="379475"/>
                </a:lnTo>
                <a:lnTo>
                  <a:pt x="5442204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7869" y="5462270"/>
            <a:ext cx="405130" cy="36703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190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50"/>
              </a:spcBef>
            </a:pPr>
            <a:r>
              <a:rPr sz="1800" b="1" spc="-10" dirty="0">
                <a:latin typeface="Courier New"/>
                <a:cs typeface="Courier New"/>
              </a:rPr>
              <a:t>#p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1120" y="1827276"/>
            <a:ext cx="3013710" cy="379730"/>
          </a:xfrm>
          <a:prstGeom prst="rect">
            <a:avLst/>
          </a:prstGeom>
          <a:solidFill>
            <a:srgbClr val="CCFFFF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95"/>
              </a:spcBef>
            </a:pPr>
            <a:r>
              <a:rPr sz="1800" b="1" spc="-10" dirty="0">
                <a:latin typeface="Courier New"/>
                <a:cs typeface="Courier New"/>
              </a:rPr>
              <a:t>#pragma omp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critical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9976" y="2760726"/>
            <a:ext cx="4746625" cy="379730"/>
          </a:xfrm>
          <a:custGeom>
            <a:avLst/>
            <a:gdLst/>
            <a:ahLst/>
            <a:cxnLst/>
            <a:rect l="l" t="t" r="r" b="b"/>
            <a:pathLst>
              <a:path w="4746625" h="379730">
                <a:moveTo>
                  <a:pt x="0" y="0"/>
                </a:moveTo>
                <a:lnTo>
                  <a:pt x="0" y="379475"/>
                </a:lnTo>
                <a:lnTo>
                  <a:pt x="4746498" y="379475"/>
                </a:lnTo>
                <a:lnTo>
                  <a:pt x="474649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6326" y="2767076"/>
            <a:ext cx="567055" cy="36703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1800" b="1" spc="-10" dirty="0">
                <a:latin typeface="Courier New"/>
                <a:cs typeface="Courier New"/>
              </a:rPr>
              <a:t>C$O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3825" y="4922520"/>
            <a:ext cx="5050155" cy="379730"/>
          </a:xfrm>
          <a:custGeom>
            <a:avLst/>
            <a:gdLst/>
            <a:ahLst/>
            <a:cxnLst/>
            <a:rect l="l" t="t" r="r" b="b"/>
            <a:pathLst>
              <a:path w="5050155" h="379729">
                <a:moveTo>
                  <a:pt x="0" y="0"/>
                </a:moveTo>
                <a:lnTo>
                  <a:pt x="0" y="379476"/>
                </a:lnTo>
                <a:lnTo>
                  <a:pt x="5049774" y="379475"/>
                </a:lnTo>
                <a:lnTo>
                  <a:pt x="5049774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0175" y="4928870"/>
            <a:ext cx="243204" cy="367030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1800" b="1" spc="-10" dirty="0">
                <a:latin typeface="Courier New"/>
                <a:cs typeface="Courier New"/>
              </a:rPr>
              <a:t>C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29969" y="3258820"/>
            <a:ext cx="3740785" cy="392430"/>
            <a:chOff x="1029969" y="3258820"/>
            <a:chExt cx="3740785" cy="392430"/>
          </a:xfrm>
        </p:grpSpPr>
        <p:sp>
          <p:nvSpPr>
            <p:cNvPr id="13" name="object 13"/>
            <p:cNvSpPr/>
            <p:nvPr/>
          </p:nvSpPr>
          <p:spPr>
            <a:xfrm>
              <a:off x="1036319" y="3265170"/>
              <a:ext cx="106680" cy="379730"/>
            </a:xfrm>
            <a:custGeom>
              <a:avLst/>
              <a:gdLst/>
              <a:ahLst/>
              <a:cxnLst/>
              <a:rect l="l" t="t" r="r" b="b"/>
              <a:pathLst>
                <a:path w="106680" h="379729">
                  <a:moveTo>
                    <a:pt x="0" y="379475"/>
                  </a:moveTo>
                  <a:lnTo>
                    <a:pt x="106680" y="379475"/>
                  </a:lnTo>
                  <a:lnTo>
                    <a:pt x="106680" y="0"/>
                  </a:lnTo>
                  <a:lnTo>
                    <a:pt x="0" y="0"/>
                  </a:lnTo>
                  <a:lnTo>
                    <a:pt x="0" y="379475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6319" y="3265170"/>
              <a:ext cx="3728085" cy="379730"/>
            </a:xfrm>
            <a:custGeom>
              <a:avLst/>
              <a:gdLst/>
              <a:ahLst/>
              <a:cxnLst/>
              <a:rect l="l" t="t" r="r" b="b"/>
              <a:pathLst>
                <a:path w="3728085" h="379729">
                  <a:moveTo>
                    <a:pt x="0" y="0"/>
                  </a:moveTo>
                  <a:lnTo>
                    <a:pt x="0" y="379475"/>
                  </a:lnTo>
                  <a:lnTo>
                    <a:pt x="3727704" y="379475"/>
                  </a:lnTo>
                  <a:lnTo>
                    <a:pt x="3727704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FF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497576" y="2868676"/>
            <a:ext cx="3540125" cy="392430"/>
            <a:chOff x="5497576" y="2868676"/>
            <a:chExt cx="3540125" cy="392430"/>
          </a:xfrm>
        </p:grpSpPr>
        <p:sp>
          <p:nvSpPr>
            <p:cNvPr id="16" name="object 16"/>
            <p:cNvSpPr/>
            <p:nvPr/>
          </p:nvSpPr>
          <p:spPr>
            <a:xfrm>
              <a:off x="8991600" y="2875026"/>
              <a:ext cx="40005" cy="379730"/>
            </a:xfrm>
            <a:custGeom>
              <a:avLst/>
              <a:gdLst/>
              <a:ahLst/>
              <a:cxnLst/>
              <a:rect l="l" t="t" r="r" b="b"/>
              <a:pathLst>
                <a:path w="40004" h="379729">
                  <a:moveTo>
                    <a:pt x="0" y="379476"/>
                  </a:moveTo>
                  <a:lnTo>
                    <a:pt x="39624" y="379476"/>
                  </a:lnTo>
                  <a:lnTo>
                    <a:pt x="39624" y="0"/>
                  </a:lnTo>
                  <a:lnTo>
                    <a:pt x="0" y="0"/>
                  </a:lnTo>
                  <a:lnTo>
                    <a:pt x="0" y="379476"/>
                  </a:lnTo>
                  <a:close/>
                </a:path>
              </a:pathLst>
            </a:custGeom>
            <a:solidFill>
              <a:srgbClr val="CC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03926" y="2875026"/>
              <a:ext cx="3527425" cy="379730"/>
            </a:xfrm>
            <a:custGeom>
              <a:avLst/>
              <a:gdLst/>
              <a:ahLst/>
              <a:cxnLst/>
              <a:rect l="l" t="t" r="r" b="b"/>
              <a:pathLst>
                <a:path w="3527425" h="379729">
                  <a:moveTo>
                    <a:pt x="0" y="0"/>
                  </a:moveTo>
                  <a:lnTo>
                    <a:pt x="0" y="379476"/>
                  </a:lnTo>
                  <a:lnTo>
                    <a:pt x="3527298" y="379475"/>
                  </a:lnTo>
                  <a:lnTo>
                    <a:pt x="3527298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FF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4265676" y="3922776"/>
            <a:ext cx="4213225" cy="379730"/>
          </a:xfrm>
          <a:custGeom>
            <a:avLst/>
            <a:gdLst/>
            <a:ahLst/>
            <a:cxnLst/>
            <a:rect l="l" t="t" r="r" b="b"/>
            <a:pathLst>
              <a:path w="4213225" h="379729">
                <a:moveTo>
                  <a:pt x="0" y="0"/>
                </a:moveTo>
                <a:lnTo>
                  <a:pt x="0" y="379476"/>
                </a:lnTo>
                <a:lnTo>
                  <a:pt x="4213098" y="379475"/>
                </a:lnTo>
                <a:lnTo>
                  <a:pt x="421309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32476" y="2322576"/>
            <a:ext cx="4070985" cy="379730"/>
          </a:xfrm>
          <a:prstGeom prst="rect">
            <a:avLst/>
          </a:prstGeom>
          <a:solidFill>
            <a:srgbClr val="CCFFCC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95"/>
              </a:spcBef>
            </a:pPr>
            <a:r>
              <a:rPr sz="1800" b="1" spc="-5" dirty="0">
                <a:latin typeface="Courier New"/>
                <a:cs typeface="Courier New"/>
              </a:rPr>
              <a:t>CALL</a:t>
            </a:r>
            <a:r>
              <a:rPr sz="1800" b="1" spc="-10" dirty="0">
                <a:latin typeface="Courier New"/>
                <a:cs typeface="Courier New"/>
              </a:rPr>
              <a:t> OMP_SET_NUM_THREADS(10)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75326" y="6037326"/>
            <a:ext cx="3499485" cy="379730"/>
          </a:xfrm>
          <a:prstGeom prst="rect">
            <a:avLst/>
          </a:prstGeom>
          <a:solidFill>
            <a:srgbClr val="FFCCFF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95"/>
              </a:spcBef>
            </a:pPr>
            <a:r>
              <a:rPr sz="1800" b="1" spc="-5" dirty="0">
                <a:latin typeface="Courier New"/>
                <a:cs typeface="Courier New"/>
              </a:rPr>
              <a:t>C$OMP DO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lastprivate(XX)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41869" y="4503420"/>
            <a:ext cx="2070735" cy="379730"/>
          </a:xfrm>
          <a:custGeom>
            <a:avLst/>
            <a:gdLst/>
            <a:ahLst/>
            <a:cxnLst/>
            <a:rect l="l" t="t" r="r" b="b"/>
            <a:pathLst>
              <a:path w="2070734" h="379729">
                <a:moveTo>
                  <a:pt x="0" y="0"/>
                </a:moveTo>
                <a:lnTo>
                  <a:pt x="0" y="379475"/>
                </a:lnTo>
                <a:lnTo>
                  <a:pt x="2070353" y="379475"/>
                </a:lnTo>
                <a:lnTo>
                  <a:pt x="2070353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991600" y="4509770"/>
            <a:ext cx="414655" cy="367030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905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50"/>
              </a:spcBef>
            </a:pPr>
            <a:r>
              <a:rPr sz="1800" b="1" spc="-10" dirty="0"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9119" y="3808476"/>
            <a:ext cx="3575685" cy="379730"/>
          </a:xfrm>
          <a:custGeom>
            <a:avLst/>
            <a:gdLst/>
            <a:ahLst/>
            <a:cxnLst/>
            <a:rect l="l" t="t" r="r" b="b"/>
            <a:pathLst>
              <a:path w="3575685" h="379729">
                <a:moveTo>
                  <a:pt x="0" y="0"/>
                </a:moveTo>
                <a:lnTo>
                  <a:pt x="0" y="379475"/>
                </a:lnTo>
                <a:lnTo>
                  <a:pt x="3575304" y="379475"/>
                </a:lnTo>
                <a:lnTo>
                  <a:pt x="3575304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85469" y="3814826"/>
            <a:ext cx="557530" cy="367030"/>
          </a:xfrm>
          <a:prstGeom prst="rect">
            <a:avLst/>
          </a:prstGeom>
          <a:solidFill>
            <a:srgbClr val="CCECFF"/>
          </a:solidFill>
        </p:spPr>
        <p:txBody>
          <a:bodyPr vert="horz" wrap="square" lIns="0" tIns="184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45"/>
              </a:spcBef>
            </a:pPr>
            <a:r>
              <a:rPr sz="1800" b="1" spc="-10" dirty="0">
                <a:latin typeface="Courier New"/>
                <a:cs typeface="Courier New"/>
              </a:rPr>
              <a:t>C$O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29400" y="5029200"/>
            <a:ext cx="2108835" cy="379730"/>
          </a:xfrm>
          <a:custGeom>
            <a:avLst/>
            <a:gdLst/>
            <a:ahLst/>
            <a:cxnLst/>
            <a:rect l="l" t="t" r="r" b="b"/>
            <a:pathLst>
              <a:path w="2108834" h="379729">
                <a:moveTo>
                  <a:pt x="0" y="0"/>
                </a:moveTo>
                <a:lnTo>
                  <a:pt x="0" y="379475"/>
                </a:lnTo>
                <a:lnTo>
                  <a:pt x="2108454" y="379475"/>
                </a:lnTo>
                <a:lnTo>
                  <a:pt x="2108454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79919" y="3332226"/>
            <a:ext cx="1861185" cy="379730"/>
          </a:xfrm>
          <a:custGeom>
            <a:avLst/>
            <a:gdLst/>
            <a:ahLst/>
            <a:cxnLst/>
            <a:rect l="l" t="t" r="r" b="b"/>
            <a:pathLst>
              <a:path w="1861184" h="379729">
                <a:moveTo>
                  <a:pt x="0" y="0"/>
                </a:moveTo>
                <a:lnTo>
                  <a:pt x="0" y="379475"/>
                </a:lnTo>
                <a:lnTo>
                  <a:pt x="1860803" y="379475"/>
                </a:lnTo>
                <a:lnTo>
                  <a:pt x="1860803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03470" y="3446526"/>
            <a:ext cx="1870710" cy="379730"/>
          </a:xfrm>
          <a:custGeom>
            <a:avLst/>
            <a:gdLst/>
            <a:ahLst/>
            <a:cxnLst/>
            <a:rect l="l" t="t" r="r" b="b"/>
            <a:pathLst>
              <a:path w="1870709" h="379729">
                <a:moveTo>
                  <a:pt x="0" y="0"/>
                </a:moveTo>
                <a:lnTo>
                  <a:pt x="0" y="379476"/>
                </a:lnTo>
                <a:lnTo>
                  <a:pt x="1870710" y="379475"/>
                </a:lnTo>
                <a:lnTo>
                  <a:pt x="187071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989326" y="1808226"/>
            <a:ext cx="1736725" cy="379730"/>
          </a:xfrm>
          <a:prstGeom prst="rect">
            <a:avLst/>
          </a:prstGeom>
          <a:solidFill>
            <a:srgbClr val="FFCCFF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95"/>
              </a:spcBef>
            </a:pPr>
            <a:r>
              <a:rPr sz="1800" b="1" spc="-5" dirty="0">
                <a:latin typeface="Courier New"/>
                <a:cs typeface="Courier New"/>
              </a:rPr>
              <a:t>C$OMP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FLUSH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31519" y="4408170"/>
            <a:ext cx="6195060" cy="379730"/>
          </a:xfrm>
          <a:custGeom>
            <a:avLst/>
            <a:gdLst/>
            <a:ahLst/>
            <a:cxnLst/>
            <a:rect l="l" t="t" r="r" b="b"/>
            <a:pathLst>
              <a:path w="6195059" h="379729">
                <a:moveTo>
                  <a:pt x="0" y="0"/>
                </a:moveTo>
                <a:lnTo>
                  <a:pt x="0" y="379476"/>
                </a:lnTo>
                <a:lnTo>
                  <a:pt x="6195059" y="379475"/>
                </a:lnTo>
                <a:lnTo>
                  <a:pt x="619505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37869" y="4414520"/>
            <a:ext cx="405130" cy="36703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90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50"/>
              </a:spcBef>
            </a:pPr>
            <a:r>
              <a:rPr sz="1800" b="1" spc="-10" dirty="0">
                <a:latin typeface="Courier New"/>
                <a:cs typeface="Courier New"/>
              </a:rPr>
              <a:t>C$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74419" y="2265426"/>
            <a:ext cx="3823335" cy="379730"/>
          </a:xfrm>
          <a:prstGeom prst="rect">
            <a:avLst/>
          </a:prstGeom>
          <a:solidFill>
            <a:srgbClr val="FFCCFF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95"/>
              </a:spcBef>
            </a:pPr>
            <a:r>
              <a:rPr sz="1800" b="1" spc="-5" dirty="0">
                <a:latin typeface="Courier New"/>
                <a:cs typeface="Courier New"/>
              </a:rPr>
              <a:t>C$OMP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THREADPRIVATE(/ABC/)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8669" y="5961126"/>
            <a:ext cx="4080510" cy="379730"/>
          </a:xfrm>
          <a:prstGeom prst="rect">
            <a:avLst/>
          </a:prstGeom>
          <a:solidFill>
            <a:srgbClr val="CCFFCC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95"/>
              </a:spcBef>
            </a:pPr>
            <a:r>
              <a:rPr sz="1800" b="1" spc="-5" dirty="0">
                <a:latin typeface="Courier New"/>
                <a:cs typeface="Courier New"/>
              </a:rPr>
              <a:t>C$OMP PARALLEL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COPYIN(/blk/)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50669" y="6551676"/>
            <a:ext cx="4051935" cy="379730"/>
          </a:xfrm>
          <a:prstGeom prst="rect">
            <a:avLst/>
          </a:prstGeom>
          <a:solidFill>
            <a:srgbClr val="CCECFF"/>
          </a:solidFill>
          <a:ln w="12700">
            <a:solidFill>
              <a:srgbClr val="66FF3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95"/>
              </a:spcBef>
            </a:pPr>
            <a:r>
              <a:rPr sz="1800" b="1" spc="-5" dirty="0">
                <a:latin typeface="Courier New"/>
                <a:cs typeface="Courier New"/>
              </a:rPr>
              <a:t>Nthrds =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OMP_GET_NUM_PROCS()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77970" y="2824158"/>
            <a:ext cx="7865109" cy="305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0"/>
              </a:lnSpc>
              <a:tabLst>
                <a:tab pos="4523740" algn="l"/>
              </a:tabLst>
            </a:pPr>
            <a:r>
              <a:rPr sz="1800" b="1" spc="-5" dirty="0">
                <a:latin typeface="Courier New"/>
                <a:cs typeface="Courier New"/>
              </a:rPr>
              <a:t>MP parallel do shared(a,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b,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c)	</a:t>
            </a:r>
            <a:r>
              <a:rPr sz="2700" b="1" spc="-7" baseline="-27777" dirty="0">
                <a:latin typeface="Courier New"/>
                <a:cs typeface="Courier New"/>
              </a:rPr>
              <a:t>call</a:t>
            </a:r>
            <a:r>
              <a:rPr sz="2700" b="1" spc="-30" baseline="-27777" dirty="0">
                <a:latin typeface="Courier New"/>
                <a:cs typeface="Courier New"/>
              </a:rPr>
              <a:t> </a:t>
            </a:r>
            <a:r>
              <a:rPr sz="2700" b="1" spc="-15" baseline="-27777" dirty="0">
                <a:latin typeface="Courier New"/>
                <a:cs typeface="Courier New"/>
              </a:rPr>
              <a:t>omp_test_lock(jlok)</a:t>
            </a:r>
            <a:endParaRPr sz="2700" baseline="-27777">
              <a:latin typeface="Courier New"/>
              <a:cs typeface="Courier New"/>
            </a:endParaRPr>
          </a:p>
          <a:p>
            <a:pPr marL="57150">
              <a:lnSpc>
                <a:spcPct val="100000"/>
              </a:lnSpc>
              <a:spcBef>
                <a:spcPts val="1814"/>
              </a:spcBef>
              <a:tabLst>
                <a:tab pos="3924300" algn="l"/>
                <a:tab pos="6000750" algn="l"/>
              </a:tabLst>
            </a:pPr>
            <a:r>
              <a:rPr sz="1800" b="1" spc="-5" dirty="0">
                <a:latin typeface="Courier New"/>
                <a:cs typeface="Courier New"/>
              </a:rPr>
              <a:t>call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OMP_INIT_LOCK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(ilok)	</a:t>
            </a:r>
            <a:r>
              <a:rPr sz="2700" b="1" spc="-15" baseline="-43209" dirty="0">
                <a:latin typeface="Courier New"/>
                <a:cs typeface="Courier New"/>
              </a:rPr>
              <a:t>C$OMP ATOMIC	</a:t>
            </a:r>
            <a:r>
              <a:rPr sz="2700" b="1" spc="-15" baseline="-15432" dirty="0">
                <a:latin typeface="Courier New"/>
                <a:cs typeface="Courier New"/>
              </a:rPr>
              <a:t>C$OMP</a:t>
            </a:r>
            <a:r>
              <a:rPr sz="2700" b="1" spc="-52" baseline="-15432" dirty="0">
                <a:latin typeface="Courier New"/>
                <a:cs typeface="Courier New"/>
              </a:rPr>
              <a:t> </a:t>
            </a:r>
            <a:r>
              <a:rPr sz="2700" b="1" spc="-22" baseline="-15432" dirty="0">
                <a:latin typeface="Courier New"/>
                <a:cs typeface="Courier New"/>
              </a:rPr>
              <a:t>MASTER</a:t>
            </a:r>
            <a:endParaRPr sz="2700" baseline="-15432">
              <a:latin typeface="Courier New"/>
              <a:cs typeface="Courier New"/>
            </a:endParaRPr>
          </a:p>
          <a:p>
            <a:pPr marL="9525">
              <a:lnSpc>
                <a:spcPct val="100000"/>
              </a:lnSpc>
              <a:spcBef>
                <a:spcPts val="3015"/>
              </a:spcBef>
              <a:tabLst>
                <a:tab pos="555625" algn="l"/>
                <a:tab pos="3285490" algn="l"/>
              </a:tabLst>
            </a:pPr>
            <a:r>
              <a:rPr sz="2700" b="1" spc="-7" baseline="27777" dirty="0">
                <a:latin typeface="Courier New"/>
                <a:cs typeface="Courier New"/>
              </a:rPr>
              <a:t>MP	SINGLE</a:t>
            </a:r>
            <a:r>
              <a:rPr sz="2700" b="1" spc="-15" baseline="27777" dirty="0">
                <a:latin typeface="Courier New"/>
                <a:cs typeface="Courier New"/>
              </a:rPr>
              <a:t> </a:t>
            </a:r>
            <a:r>
              <a:rPr sz="2700" b="1" spc="-7" baseline="27777" dirty="0">
                <a:latin typeface="Courier New"/>
                <a:cs typeface="Courier New"/>
              </a:rPr>
              <a:t>PRIVATE(X)	</a:t>
            </a:r>
            <a:r>
              <a:rPr sz="1800" b="1" spc="-5" dirty="0">
                <a:latin typeface="Courier New"/>
                <a:cs typeface="Courier New"/>
              </a:rPr>
              <a:t>setenv OMP_SCHEDULE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“dynamic”</a:t>
            </a:r>
            <a:endParaRPr sz="18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1664"/>
              </a:spcBef>
              <a:tabLst>
                <a:tab pos="6362700" algn="l"/>
              </a:tabLst>
            </a:pPr>
            <a:r>
              <a:rPr sz="1800" b="1" spc="-5" dirty="0">
                <a:latin typeface="Courier New"/>
                <a:cs typeface="Courier New"/>
              </a:rPr>
              <a:t>OMP PARALLEL DO ORDERED PRIVATE (A,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B,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C)	</a:t>
            </a:r>
            <a:r>
              <a:rPr sz="2700" b="1" spc="-7" baseline="-23148" dirty="0">
                <a:latin typeface="Courier New"/>
                <a:cs typeface="Courier New"/>
              </a:rPr>
              <a:t>C$OMP</a:t>
            </a:r>
            <a:r>
              <a:rPr sz="2700" b="1" spc="-127" baseline="-23148" dirty="0">
                <a:latin typeface="Courier New"/>
                <a:cs typeface="Courier New"/>
              </a:rPr>
              <a:t> </a:t>
            </a:r>
            <a:r>
              <a:rPr sz="2700" b="1" spc="-15" baseline="-23148" dirty="0">
                <a:latin typeface="Courier New"/>
                <a:cs typeface="Courier New"/>
              </a:rPr>
              <a:t>ORDER</a:t>
            </a:r>
            <a:endParaRPr sz="2700" baseline="-23148">
              <a:latin typeface="Courier New"/>
              <a:cs typeface="Courier New"/>
            </a:endParaRPr>
          </a:p>
          <a:p>
            <a:pPr marL="50165">
              <a:lnSpc>
                <a:spcPct val="100000"/>
              </a:lnSpc>
              <a:spcBef>
                <a:spcPts val="1889"/>
              </a:spcBef>
              <a:tabLst>
                <a:tab pos="2098040" algn="l"/>
                <a:tab pos="5649595" algn="l"/>
              </a:tabLst>
            </a:pPr>
            <a:r>
              <a:rPr sz="1800" b="1" spc="-5" dirty="0">
                <a:latin typeface="Courier New"/>
                <a:cs typeface="Courier New"/>
              </a:rPr>
              <a:t>$OMP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PARALLEL	REDUCTION (+: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A,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B)	</a:t>
            </a:r>
            <a:r>
              <a:rPr sz="2700" b="1" spc="-15" baseline="-26234" dirty="0">
                <a:latin typeface="Courier New"/>
                <a:cs typeface="Courier New"/>
              </a:rPr>
              <a:t>C$OMP</a:t>
            </a:r>
            <a:r>
              <a:rPr sz="2700" b="1" spc="-52" baseline="-26234" dirty="0">
                <a:latin typeface="Courier New"/>
                <a:cs typeface="Courier New"/>
              </a:rPr>
              <a:t> </a:t>
            </a:r>
            <a:r>
              <a:rPr sz="2700" b="1" spc="-22" baseline="-26234" dirty="0">
                <a:latin typeface="Courier New"/>
                <a:cs typeface="Courier New"/>
              </a:rPr>
              <a:t>SECTIONS</a:t>
            </a:r>
            <a:endParaRPr sz="2700" baseline="-26234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2039"/>
              </a:spcBef>
              <a:tabLst>
                <a:tab pos="5380990" algn="l"/>
                <a:tab pos="6337300" algn="l"/>
              </a:tabLst>
            </a:pPr>
            <a:r>
              <a:rPr sz="1800" b="1" spc="-5" dirty="0">
                <a:latin typeface="Courier New"/>
                <a:cs typeface="Courier New"/>
              </a:rPr>
              <a:t>ragma omp parallel for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private(A,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B)	</a:t>
            </a:r>
            <a:r>
              <a:rPr sz="2700" b="1" spc="-7" baseline="-24691" dirty="0">
                <a:latin typeface="Courier New"/>
                <a:cs typeface="Courier New"/>
              </a:rPr>
              <a:t>!$OMP	</a:t>
            </a:r>
            <a:r>
              <a:rPr sz="2700" b="1" spc="-15" baseline="-24691" dirty="0">
                <a:latin typeface="Courier New"/>
                <a:cs typeface="Courier New"/>
              </a:rPr>
              <a:t>BARRIER</a:t>
            </a:r>
            <a:endParaRPr sz="2700" baseline="-24691">
              <a:latin typeface="Courier New"/>
              <a:cs typeface="Courier New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54826" y="5554726"/>
            <a:ext cx="2244725" cy="392430"/>
            <a:chOff x="6354826" y="5554726"/>
            <a:chExt cx="2244725" cy="392430"/>
          </a:xfrm>
        </p:grpSpPr>
        <p:sp>
          <p:nvSpPr>
            <p:cNvPr id="36" name="object 36"/>
            <p:cNvSpPr/>
            <p:nvPr/>
          </p:nvSpPr>
          <p:spPr>
            <a:xfrm>
              <a:off x="6361176" y="5871972"/>
              <a:ext cx="2232025" cy="68580"/>
            </a:xfrm>
            <a:custGeom>
              <a:avLst/>
              <a:gdLst/>
              <a:ahLst/>
              <a:cxnLst/>
              <a:rect l="l" t="t" r="r" b="b"/>
              <a:pathLst>
                <a:path w="2232025" h="68579">
                  <a:moveTo>
                    <a:pt x="0" y="68579"/>
                  </a:moveTo>
                  <a:lnTo>
                    <a:pt x="2231898" y="68579"/>
                  </a:lnTo>
                  <a:lnTo>
                    <a:pt x="2231898" y="0"/>
                  </a:lnTo>
                  <a:lnTo>
                    <a:pt x="0" y="0"/>
                  </a:lnTo>
                  <a:lnTo>
                    <a:pt x="0" y="68579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61176" y="5561076"/>
              <a:ext cx="2232025" cy="379730"/>
            </a:xfrm>
            <a:custGeom>
              <a:avLst/>
              <a:gdLst/>
              <a:ahLst/>
              <a:cxnLst/>
              <a:rect l="l" t="t" r="r" b="b"/>
              <a:pathLst>
                <a:path w="2232025" h="379729">
                  <a:moveTo>
                    <a:pt x="0" y="0"/>
                  </a:moveTo>
                  <a:lnTo>
                    <a:pt x="0" y="379475"/>
                  </a:lnTo>
                  <a:lnTo>
                    <a:pt x="2231898" y="379475"/>
                  </a:lnTo>
                  <a:lnTo>
                    <a:pt x="2231898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FF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1143000" y="2590800"/>
            <a:ext cx="7848600" cy="3281679"/>
          </a:xfrm>
          <a:custGeom>
            <a:avLst/>
            <a:gdLst/>
            <a:ahLst/>
            <a:cxnLst/>
            <a:rect l="l" t="t" r="r" b="b"/>
            <a:pathLst>
              <a:path w="7848600" h="3281679">
                <a:moveTo>
                  <a:pt x="7848600" y="3281172"/>
                </a:moveTo>
                <a:lnTo>
                  <a:pt x="7848600" y="0"/>
                </a:lnTo>
                <a:lnTo>
                  <a:pt x="0" y="0"/>
                </a:lnTo>
                <a:lnTo>
                  <a:pt x="0" y="3281172"/>
                </a:lnTo>
                <a:lnTo>
                  <a:pt x="7848600" y="3281172"/>
                </a:lnTo>
                <a:close/>
              </a:path>
            </a:pathLst>
          </a:custGeom>
          <a:solidFill>
            <a:srgbClr val="0010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437386" y="2592577"/>
            <a:ext cx="72561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0530" algn="l"/>
              </a:tabLst>
            </a:pPr>
            <a:r>
              <a:rPr sz="2800" b="1" i="1" spc="-5" dirty="0">
                <a:solidFill>
                  <a:srgbClr val="FFFFFF"/>
                </a:solidFill>
                <a:latin typeface="Trebuchet MS"/>
                <a:cs typeface="Trebuchet MS"/>
              </a:rPr>
              <a:t>OpenMP:	An API for Writing</a:t>
            </a:r>
            <a:r>
              <a:rPr sz="28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Trebuchet MS"/>
                <a:cs typeface="Trebuchet MS"/>
              </a:rPr>
              <a:t>Multithreaded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06082" y="2994159"/>
            <a:ext cx="2124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solidFill>
                  <a:srgbClr val="FFFFFF"/>
                </a:solidFill>
                <a:latin typeface="Trebuchet MS"/>
                <a:cs typeface="Trebuchet MS"/>
              </a:rPr>
              <a:t>Applications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36901" y="3852926"/>
            <a:ext cx="5744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40335">
              <a:lnSpc>
                <a:spcPct val="100000"/>
              </a:lnSpc>
              <a:spcBef>
                <a:spcPts val="100"/>
              </a:spcBef>
              <a:buClr>
                <a:srgbClr val="F5C300"/>
              </a:buClr>
              <a:buSzPct val="95833"/>
              <a:buFont typeface="Wingdings"/>
              <a:buChar char=""/>
              <a:tabLst>
                <a:tab pos="153035" algn="l"/>
              </a:tabLst>
            </a:pP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A set of compiler directives and</a:t>
            </a: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library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36901" y="4195826"/>
            <a:ext cx="6626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6045" algn="l"/>
              </a:tabLst>
            </a:pP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routines	for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parallel </a:t>
            </a: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application</a:t>
            </a:r>
            <a:r>
              <a:rPr sz="24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programmers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11501" y="4648454"/>
            <a:ext cx="7006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indent="-140335">
              <a:lnSpc>
                <a:spcPct val="100000"/>
              </a:lnSpc>
              <a:spcBef>
                <a:spcPts val="100"/>
              </a:spcBef>
              <a:buClr>
                <a:srgbClr val="F5C300"/>
              </a:buClr>
              <a:buSzPct val="95833"/>
              <a:buFont typeface="Wingdings"/>
              <a:buChar char=""/>
              <a:tabLst>
                <a:tab pos="178435" algn="l"/>
              </a:tabLst>
            </a:pP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Greatly simplifies writing multi-threaded (MT) </a:t>
            </a:r>
            <a:r>
              <a:rPr sz="2700" b="1" spc="-15" baseline="50925" dirty="0">
                <a:latin typeface="Courier New"/>
                <a:cs typeface="Courier New"/>
              </a:rPr>
              <a:t>E</a:t>
            </a:r>
            <a:endParaRPr sz="2700" baseline="50925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36901" y="4991354"/>
            <a:ext cx="4508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programs in Fortran,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C </a:t>
            </a: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4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C++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36901" y="5443982"/>
            <a:ext cx="6176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40335">
              <a:lnSpc>
                <a:spcPct val="100000"/>
              </a:lnSpc>
              <a:spcBef>
                <a:spcPts val="100"/>
              </a:spcBef>
              <a:buClr>
                <a:srgbClr val="F5C300"/>
              </a:buClr>
              <a:buSzPct val="95833"/>
              <a:buFont typeface="Wingdings"/>
              <a:buChar char=""/>
              <a:tabLst>
                <a:tab pos="153035" algn="l"/>
              </a:tabLst>
            </a:pPr>
            <a:r>
              <a:rPr sz="2400" b="1" spc="-5" dirty="0">
                <a:solidFill>
                  <a:srgbClr val="FFFFFF"/>
                </a:solidFill>
                <a:latin typeface="Trebuchet MS"/>
                <a:cs typeface="Trebuchet MS"/>
              </a:rPr>
              <a:t>Standardizes last 20 years of SMP</a:t>
            </a:r>
            <a:r>
              <a:rPr sz="24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practice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13557" y="7100569"/>
            <a:ext cx="45821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*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“OpenMP”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property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OpenMP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Architecture Review</a:t>
            </a:r>
            <a:r>
              <a:rPr sz="1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Board.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154" y="741680"/>
            <a:ext cx="69253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OpenMP Basic </a:t>
            </a:r>
            <a:r>
              <a:rPr sz="3200" spc="-5" dirty="0"/>
              <a:t>Defs: </a:t>
            </a:r>
            <a:r>
              <a:rPr sz="3200" spc="-10" dirty="0"/>
              <a:t>Solution</a:t>
            </a:r>
            <a:r>
              <a:rPr sz="3200" spc="10" dirty="0"/>
              <a:t> </a:t>
            </a:r>
            <a:r>
              <a:rPr sz="3200" spc="-10" dirty="0"/>
              <a:t>Stack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91946" y="4227576"/>
            <a:ext cx="8229600" cy="457200"/>
          </a:xfrm>
          <a:prstGeom prst="rect">
            <a:avLst/>
          </a:prstGeom>
          <a:solidFill>
            <a:srgbClr val="660066"/>
          </a:solidFill>
          <a:ln w="12700">
            <a:solidFill>
              <a:srgbClr val="FFFFFF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Runtime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library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1946" y="4837176"/>
            <a:ext cx="8229600" cy="457200"/>
          </a:xfrm>
          <a:prstGeom prst="rect">
            <a:avLst/>
          </a:prstGeom>
          <a:solidFill>
            <a:srgbClr val="660066"/>
          </a:solidFill>
          <a:ln w="12700">
            <a:solidFill>
              <a:srgbClr val="FFFFFF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892175">
              <a:lnSpc>
                <a:spcPct val="100000"/>
              </a:lnSpc>
              <a:spcBef>
                <a:spcPts val="55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OS/system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support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shared memory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threading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0600" y="3998976"/>
            <a:ext cx="8458200" cy="1905"/>
          </a:xfrm>
          <a:custGeom>
            <a:avLst/>
            <a:gdLst/>
            <a:ahLst/>
            <a:cxnLst/>
            <a:rect l="l" t="t" r="r" b="b"/>
            <a:pathLst>
              <a:path w="8458200" h="1904">
                <a:moveTo>
                  <a:pt x="0" y="0"/>
                </a:moveTo>
                <a:lnTo>
                  <a:pt x="8458200" y="1523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8468" y="4098527"/>
            <a:ext cx="285750" cy="14363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2700" b="1" spc="-15" baseline="1543" dirty="0">
                <a:solidFill>
                  <a:srgbClr val="FFFFFF"/>
                </a:solidFill>
                <a:latin typeface="Arial"/>
                <a:cs typeface="Arial"/>
              </a:rPr>
              <a:t>Sys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tem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1946" y="3084576"/>
            <a:ext cx="2413635" cy="685800"/>
          </a:xfrm>
          <a:prstGeom prst="rect">
            <a:avLst/>
          </a:prstGeom>
          <a:solidFill>
            <a:srgbClr val="001B72"/>
          </a:solidFill>
          <a:ln w="12700">
            <a:solidFill>
              <a:srgbClr val="FFFF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655955" marR="556895" indent="-90805">
              <a:lnSpc>
                <a:spcPct val="100000"/>
              </a:lnSpc>
              <a:spcBef>
                <a:spcPts val="250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Directives,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Compiler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3800" y="3084576"/>
            <a:ext cx="3048000" cy="609600"/>
          </a:xfrm>
          <a:prstGeom prst="rect">
            <a:avLst/>
          </a:prstGeom>
          <a:solidFill>
            <a:srgbClr val="001B72"/>
          </a:solidFill>
          <a:ln w="12700">
            <a:solidFill>
              <a:srgbClr val="FFFFFF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15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0400" y="3084576"/>
            <a:ext cx="2311400" cy="609600"/>
          </a:xfrm>
          <a:prstGeom prst="rect">
            <a:avLst/>
          </a:prstGeom>
          <a:solidFill>
            <a:srgbClr val="001B72"/>
          </a:solidFill>
          <a:ln w="12700">
            <a:solidFill>
              <a:srgbClr val="FFFFFF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604520" marR="406400" indent="-260985">
              <a:lnSpc>
                <a:spcPts val="2400"/>
              </a:lnSpc>
              <a:spcBef>
                <a:spcPts val="3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Environment 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variables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0600" y="2932176"/>
            <a:ext cx="8458200" cy="0"/>
          </a:xfrm>
          <a:custGeom>
            <a:avLst/>
            <a:gdLst/>
            <a:ahLst/>
            <a:cxnLst/>
            <a:rect l="l" t="t" r="r" b="b"/>
            <a:pathLst>
              <a:path w="8458200">
                <a:moveTo>
                  <a:pt x="0" y="0"/>
                </a:moveTo>
                <a:lnTo>
                  <a:pt x="8458200" y="0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4174" y="3123921"/>
            <a:ext cx="498475" cy="568325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 marR="5080" indent="12065">
              <a:lnSpc>
                <a:spcPts val="1920"/>
              </a:lnSpc>
              <a:spcBef>
                <a:spcPts val="2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Prog.  Laye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60450" y="1478025"/>
            <a:ext cx="8242300" cy="1231900"/>
            <a:chOff x="1060450" y="1478025"/>
            <a:chExt cx="8242300" cy="1231900"/>
          </a:xfrm>
        </p:grpSpPr>
        <p:sp>
          <p:nvSpPr>
            <p:cNvPr id="13" name="object 13"/>
            <p:cNvSpPr/>
            <p:nvPr/>
          </p:nvSpPr>
          <p:spPr>
            <a:xfrm>
              <a:off x="1066800" y="1484375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60960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6800" y="1484375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0" y="0"/>
                  </a:move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63306" y="1636775"/>
              <a:ext cx="1133475" cy="1066800"/>
            </a:xfrm>
            <a:custGeom>
              <a:avLst/>
              <a:gdLst/>
              <a:ahLst/>
              <a:cxnLst/>
              <a:rect l="l" t="t" r="r" b="b"/>
              <a:pathLst>
                <a:path w="1133475" h="1066800">
                  <a:moveTo>
                    <a:pt x="1133094" y="1066800"/>
                  </a:moveTo>
                  <a:lnTo>
                    <a:pt x="1133094" y="0"/>
                  </a:lnTo>
                  <a:lnTo>
                    <a:pt x="0" y="0"/>
                  </a:lnTo>
                  <a:lnTo>
                    <a:pt x="0" y="1066800"/>
                  </a:lnTo>
                  <a:lnTo>
                    <a:pt x="1133094" y="10668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62543" y="1636775"/>
              <a:ext cx="1134110" cy="1066800"/>
            </a:xfrm>
            <a:custGeom>
              <a:avLst/>
              <a:gdLst/>
              <a:ahLst/>
              <a:cxnLst/>
              <a:rect l="l" t="t" r="r" b="b"/>
              <a:pathLst>
                <a:path w="1134109" h="1066800">
                  <a:moveTo>
                    <a:pt x="0" y="0"/>
                  </a:moveTo>
                  <a:lnTo>
                    <a:pt x="0" y="1066800"/>
                  </a:lnTo>
                  <a:lnTo>
                    <a:pt x="1133855" y="1066800"/>
                  </a:lnTo>
                  <a:lnTo>
                    <a:pt x="1133855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24800" y="1560575"/>
              <a:ext cx="1367155" cy="523875"/>
            </a:xfrm>
            <a:custGeom>
              <a:avLst/>
              <a:gdLst/>
              <a:ahLst/>
              <a:cxnLst/>
              <a:rect l="l" t="t" r="r" b="b"/>
              <a:pathLst>
                <a:path w="1367154" h="523875">
                  <a:moveTo>
                    <a:pt x="1367027" y="523494"/>
                  </a:moveTo>
                  <a:lnTo>
                    <a:pt x="1367027" y="0"/>
                  </a:lnTo>
                  <a:lnTo>
                    <a:pt x="0" y="0"/>
                  </a:lnTo>
                  <a:lnTo>
                    <a:pt x="0" y="523494"/>
                  </a:lnTo>
                  <a:lnTo>
                    <a:pt x="1367027" y="523494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66800" y="2246376"/>
            <a:ext cx="6934200" cy="457200"/>
          </a:xfrm>
          <a:prstGeom prst="rect">
            <a:avLst/>
          </a:prstGeom>
          <a:solidFill>
            <a:srgbClr val="51DC00"/>
          </a:solidFill>
          <a:ln w="12700">
            <a:solidFill>
              <a:srgbClr val="FFFFFF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000" b="1" spc="-5" dirty="0"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57959" y="1587506"/>
            <a:ext cx="11410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End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User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2848" y="1523698"/>
            <a:ext cx="256540" cy="10096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95"/>
              </a:lnSpc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0119" y="5511546"/>
            <a:ext cx="8458200" cy="1905"/>
          </a:xfrm>
          <a:custGeom>
            <a:avLst/>
            <a:gdLst/>
            <a:ahLst/>
            <a:cxnLst/>
            <a:rect l="l" t="t" r="r" b="b"/>
            <a:pathLst>
              <a:path w="8458200" h="1904">
                <a:moveTo>
                  <a:pt x="0" y="0"/>
                </a:moveTo>
                <a:lnTo>
                  <a:pt x="8458200" y="1523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441450" y="5669026"/>
          <a:ext cx="7239000" cy="1046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8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19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Proc1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Proc</a:t>
                      </a:r>
                      <a:r>
                        <a:rPr sz="1950" b="1" spc="-7" baseline="-21367" dirty="0">
                          <a:latin typeface="Arial"/>
                          <a:cs typeface="Arial"/>
                        </a:rPr>
                        <a:t>2</a:t>
                      </a:r>
                      <a:endParaRPr sz="1950" baseline="-21367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Proc</a:t>
                      </a:r>
                      <a:r>
                        <a:rPr sz="1950" b="1" spc="-7" baseline="-21367" dirty="0">
                          <a:latin typeface="Arial"/>
                          <a:cs typeface="Arial"/>
                        </a:rPr>
                        <a:t>3</a:t>
                      </a:r>
                      <a:endParaRPr sz="1950" baseline="-21367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ProcN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27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154">
                <a:tc grid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Shared </a:t>
                      </a:r>
                      <a:r>
                        <a:rPr sz="2400" b="1" spc="-5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2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Space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5858002" y="5800852"/>
            <a:ext cx="156717" cy="101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19952" y="5800852"/>
            <a:ext cx="156717" cy="101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81902" y="5800852"/>
            <a:ext cx="156718" cy="101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51516" y="6022282"/>
            <a:ext cx="282575" cy="4076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63000" y="6902504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66826"/>
            <a:ext cx="4546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OpenMP </a:t>
            </a:r>
            <a:r>
              <a:rPr sz="3600" spc="-5" dirty="0"/>
              <a:t>core</a:t>
            </a:r>
            <a:r>
              <a:rPr sz="3600" spc="-95" dirty="0"/>
              <a:t> </a:t>
            </a:r>
            <a:r>
              <a:rPr sz="3600" spc="-5" dirty="0"/>
              <a:t>syntax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763000" y="6902504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1560067"/>
            <a:ext cx="8298815" cy="52400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8450" marR="5080" indent="-285750">
              <a:lnSpc>
                <a:spcPts val="2780"/>
              </a:lnSpc>
              <a:spcBef>
                <a:spcPts val="6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Most of 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constructs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 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are compiler 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directives.</a:t>
            </a:r>
            <a:endParaRPr sz="28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370"/>
              </a:spcBef>
            </a:pP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#pragma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omp </a:t>
            </a:r>
            <a:r>
              <a:rPr sz="2400" b="1" i="1" dirty="0">
                <a:solidFill>
                  <a:srgbClr val="FFFF65"/>
                </a:solidFill>
                <a:latin typeface="Arial"/>
                <a:cs typeface="Arial"/>
              </a:rPr>
              <a:t>construct [clause</a:t>
            </a:r>
            <a:r>
              <a:rPr sz="2400" b="1" i="1" spc="-45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FF65"/>
                </a:solidFill>
                <a:latin typeface="Arial"/>
                <a:cs typeface="Arial"/>
              </a:rPr>
              <a:t>[clause]…]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80"/>
              </a:spcBef>
            </a:pPr>
            <a:r>
              <a:rPr sz="2400" b="1" i="1" spc="-5" dirty="0">
                <a:solidFill>
                  <a:srgbClr val="FFFF65"/>
                </a:solidFill>
                <a:latin typeface="Arial"/>
                <a:cs typeface="Arial"/>
              </a:rPr>
              <a:t>#pragma omp </a:t>
            </a:r>
            <a:r>
              <a:rPr sz="2400" b="1" i="1" dirty="0">
                <a:solidFill>
                  <a:srgbClr val="FFFF65"/>
                </a:solidFill>
                <a:latin typeface="Arial"/>
                <a:cs typeface="Arial"/>
              </a:rPr>
              <a:t>parallel</a:t>
            </a:r>
            <a:r>
              <a:rPr sz="2400" b="1" i="1" spc="-2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FF65"/>
                </a:solidFill>
                <a:latin typeface="Arial"/>
                <a:cs typeface="Arial"/>
              </a:rPr>
              <a:t>num_threads(4)</a:t>
            </a:r>
            <a:endParaRPr sz="2400">
              <a:latin typeface="Arial"/>
              <a:cs typeface="Arial"/>
            </a:endParaRPr>
          </a:p>
          <a:p>
            <a:pPr marL="298450" marR="1007110" indent="-298450">
              <a:lnSpc>
                <a:spcPct val="112999"/>
              </a:lnSpc>
              <a:spcBef>
                <a:spcPts val="2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Function prototypes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types in the file: </a:t>
            </a:r>
            <a:r>
              <a:rPr sz="2800" b="1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65"/>
                </a:solidFill>
                <a:latin typeface="Arial"/>
                <a:cs typeface="Arial"/>
              </a:rPr>
              <a:t>#include &lt;omp.h&gt;</a:t>
            </a:r>
            <a:endParaRPr sz="2800">
              <a:latin typeface="Arial"/>
              <a:cs typeface="Arial"/>
            </a:endParaRPr>
          </a:p>
          <a:p>
            <a:pPr marL="298450" marR="1800860" indent="-285750">
              <a:lnSpc>
                <a:spcPts val="2790"/>
              </a:lnSpc>
              <a:spcBef>
                <a:spcPts val="100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Most OpenMP*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constructs apply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 a  “structured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block”.</a:t>
            </a:r>
            <a:endParaRPr sz="2800">
              <a:latin typeface="Arial"/>
              <a:cs typeface="Arial"/>
            </a:endParaRPr>
          </a:p>
          <a:p>
            <a:pPr marL="698500" marR="22860" indent="-228600">
              <a:lnSpc>
                <a:spcPts val="2390"/>
              </a:lnSpc>
              <a:spcBef>
                <a:spcPts val="850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Structured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block: a block of one or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more statements  with one point of entry at the top and one point of  exit at the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bottom.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It’s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OK to have an exit() within the structured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block.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34822"/>
            <a:ext cx="73710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Hello</a:t>
            </a:r>
            <a:r>
              <a:rPr spc="-50" dirty="0"/>
              <a:t> </a:t>
            </a:r>
            <a:r>
              <a:rPr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288795"/>
            <a:ext cx="83991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51DC00"/>
                </a:solidFill>
                <a:latin typeface="Arial"/>
                <a:cs typeface="Arial"/>
              </a:rPr>
              <a:t>Verify that </a:t>
            </a:r>
            <a:r>
              <a:rPr sz="2800" b="1" spc="-5" dirty="0">
                <a:solidFill>
                  <a:srgbClr val="51DC00"/>
                </a:solidFill>
                <a:latin typeface="Arial"/>
                <a:cs typeface="Arial"/>
              </a:rPr>
              <a:t>your </a:t>
            </a:r>
            <a:r>
              <a:rPr sz="2800" b="1" dirty="0">
                <a:solidFill>
                  <a:srgbClr val="51DC00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51DC00"/>
                </a:solidFill>
                <a:latin typeface="Arial"/>
                <a:cs typeface="Arial"/>
              </a:rPr>
              <a:t>environment</a:t>
            </a:r>
            <a:r>
              <a:rPr sz="2800" b="1" spc="-20" dirty="0">
                <a:solidFill>
                  <a:srgbClr val="51DC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51DC00"/>
                </a:solidFill>
                <a:latin typeface="Arial"/>
                <a:cs typeface="Arial"/>
              </a:rPr>
              <a:t>works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2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Write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multithreaded program that prints “hello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world”.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83079" y="2426970"/>
            <a:ext cx="6446520" cy="4733290"/>
            <a:chOff x="1783079" y="2426970"/>
            <a:chExt cx="6446520" cy="4733290"/>
          </a:xfrm>
        </p:grpSpPr>
        <p:sp>
          <p:nvSpPr>
            <p:cNvPr id="5" name="object 5"/>
            <p:cNvSpPr/>
            <p:nvPr/>
          </p:nvSpPr>
          <p:spPr>
            <a:xfrm>
              <a:off x="1859280" y="2503169"/>
              <a:ext cx="6370320" cy="4657090"/>
            </a:xfrm>
            <a:custGeom>
              <a:avLst/>
              <a:gdLst/>
              <a:ahLst/>
              <a:cxnLst/>
              <a:rect l="l" t="t" r="r" b="b"/>
              <a:pathLst>
                <a:path w="6370320" h="4657090">
                  <a:moveTo>
                    <a:pt x="6370320" y="0"/>
                  </a:moveTo>
                  <a:lnTo>
                    <a:pt x="0" y="0"/>
                  </a:lnTo>
                  <a:lnTo>
                    <a:pt x="0" y="4580382"/>
                  </a:lnTo>
                  <a:lnTo>
                    <a:pt x="0" y="4656582"/>
                  </a:lnTo>
                  <a:lnTo>
                    <a:pt x="6370320" y="4656582"/>
                  </a:lnTo>
                  <a:lnTo>
                    <a:pt x="6370320" y="4580382"/>
                  </a:lnTo>
                  <a:lnTo>
                    <a:pt x="63703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83079" y="2426970"/>
              <a:ext cx="6370320" cy="4657090"/>
            </a:xfrm>
            <a:custGeom>
              <a:avLst/>
              <a:gdLst/>
              <a:ahLst/>
              <a:cxnLst/>
              <a:rect l="l" t="t" r="r" b="b"/>
              <a:pathLst>
                <a:path w="6370320" h="4657090">
                  <a:moveTo>
                    <a:pt x="6370320" y="4656582"/>
                  </a:moveTo>
                  <a:lnTo>
                    <a:pt x="6370320" y="0"/>
                  </a:lnTo>
                  <a:lnTo>
                    <a:pt x="0" y="0"/>
                  </a:lnTo>
                  <a:lnTo>
                    <a:pt x="0" y="4656582"/>
                  </a:lnTo>
                  <a:lnTo>
                    <a:pt x="6370320" y="4656582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83205" y="5006594"/>
            <a:ext cx="1336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 ID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0;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3205" y="5554471"/>
            <a:ext cx="3462654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printf(“ hello(%d)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”,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ID);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printf(“ world(%d) \n”,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ID);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2498" y="6161023"/>
            <a:ext cx="14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65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1820" y="2561336"/>
            <a:ext cx="3032125" cy="21507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2400" b="1" spc="-5" dirty="0">
                <a:solidFill>
                  <a:srgbClr val="FFFF65"/>
                </a:solidFill>
                <a:latin typeface="Times New Roman"/>
                <a:cs typeface="Times New Roman"/>
              </a:rPr>
              <a:t>#include</a:t>
            </a:r>
            <a:r>
              <a:rPr sz="2400" b="1" spc="-15" dirty="0">
                <a:solidFill>
                  <a:srgbClr val="FFFF65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Times New Roman"/>
                <a:cs typeface="Times New Roman"/>
              </a:rPr>
              <a:t>“omp.h”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  <a:spcBef>
                <a:spcPts val="28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void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main()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50"/>
              </a:spcBef>
            </a:pPr>
            <a:r>
              <a:rPr sz="2400" b="1" spc="-5" dirty="0">
                <a:solidFill>
                  <a:srgbClr val="FFFF65"/>
                </a:solidFill>
                <a:latin typeface="Times New Roman"/>
                <a:cs typeface="Times New Roman"/>
              </a:rPr>
              <a:t>#pragma omp</a:t>
            </a:r>
            <a:r>
              <a:rPr sz="2400" b="1" spc="-75" dirty="0">
                <a:solidFill>
                  <a:srgbClr val="FFFF65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Times New Roman"/>
                <a:cs typeface="Times New Roman"/>
              </a:rPr>
              <a:t>parallel</a:t>
            </a:r>
            <a:endParaRPr sz="2400">
              <a:latin typeface="Times New Roman"/>
              <a:cs typeface="Times New Roman"/>
            </a:endParaRPr>
          </a:p>
          <a:p>
            <a:pPr marL="125095">
              <a:lnSpc>
                <a:spcPct val="100000"/>
              </a:lnSpc>
              <a:spcBef>
                <a:spcPts val="1430"/>
              </a:spcBef>
            </a:pPr>
            <a:r>
              <a:rPr sz="2400" b="1" spc="-5" dirty="0">
                <a:solidFill>
                  <a:srgbClr val="FFFF65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67300" y="3695700"/>
            <a:ext cx="4533900" cy="1769110"/>
          </a:xfrm>
          <a:custGeom>
            <a:avLst/>
            <a:gdLst/>
            <a:ahLst/>
            <a:cxnLst/>
            <a:rect l="l" t="t" r="r" b="b"/>
            <a:pathLst>
              <a:path w="4533900" h="1769110">
                <a:moveTo>
                  <a:pt x="4533900" y="1768602"/>
                </a:moveTo>
                <a:lnTo>
                  <a:pt x="4533900" y="0"/>
                </a:lnTo>
                <a:lnTo>
                  <a:pt x="0" y="0"/>
                </a:lnTo>
                <a:lnTo>
                  <a:pt x="0" y="1768602"/>
                </a:lnTo>
                <a:lnTo>
                  <a:pt x="4533900" y="17686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46802" y="3569919"/>
            <a:ext cx="4210685" cy="1397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spc="-10" dirty="0">
                <a:latin typeface="Arial"/>
                <a:cs typeface="Arial"/>
              </a:rPr>
              <a:t>Switches </a:t>
            </a:r>
            <a:r>
              <a:rPr sz="2000" b="1" spc="-5" dirty="0">
                <a:latin typeface="Arial"/>
                <a:cs typeface="Arial"/>
              </a:rPr>
              <a:t>for </a:t>
            </a:r>
            <a:r>
              <a:rPr sz="2000" b="1" spc="-10" dirty="0">
                <a:latin typeface="Arial"/>
                <a:cs typeface="Arial"/>
              </a:rPr>
              <a:t>compiling </a:t>
            </a:r>
            <a:r>
              <a:rPr sz="2000" b="1" spc="-5" dirty="0">
                <a:latin typeface="Arial"/>
                <a:cs typeface="Arial"/>
              </a:rPr>
              <a:t>and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linking</a:t>
            </a:r>
            <a:endParaRPr sz="20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  <a:tabLst>
                <a:tab pos="1975485" algn="l"/>
              </a:tabLst>
            </a:pPr>
            <a:r>
              <a:rPr sz="2000" b="1" spc="-5" dirty="0">
                <a:latin typeface="Arial"/>
                <a:cs typeface="Arial"/>
              </a:rPr>
              <a:t>-fopenmp	gcc</a:t>
            </a:r>
            <a:endParaRPr sz="20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  <a:tabLst>
                <a:tab pos="1075055" algn="l"/>
              </a:tabLst>
            </a:pPr>
            <a:r>
              <a:rPr sz="2000" b="1" spc="-5" dirty="0">
                <a:latin typeface="Arial"/>
                <a:cs typeface="Arial"/>
              </a:rPr>
              <a:t>-mp	</a:t>
            </a:r>
            <a:r>
              <a:rPr sz="2000" b="1" spc="-10" dirty="0">
                <a:latin typeface="Arial"/>
                <a:cs typeface="Arial"/>
              </a:rPr>
              <a:t>pgi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1820" y="6678338"/>
            <a:ext cx="12763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13" name="object 13"/>
          <p:cNvSpPr txBox="1"/>
          <p:nvPr/>
        </p:nvSpPr>
        <p:spPr>
          <a:xfrm>
            <a:off x="5604001" y="5094222"/>
            <a:ext cx="1943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7795" algn="l"/>
              </a:tabLst>
            </a:pPr>
            <a:r>
              <a:rPr sz="2000" b="1" spc="-5" dirty="0">
                <a:latin typeface="Arial"/>
                <a:cs typeface="Arial"/>
              </a:rPr>
              <a:t>/Qopenmp	intel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3797" y="988902"/>
            <a:ext cx="7788909" cy="1835150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0"/>
              </a:spcBef>
            </a:pPr>
            <a:r>
              <a:rPr sz="3200" b="1" spc="-5" dirty="0">
                <a:solidFill>
                  <a:srgbClr val="51DC00"/>
                </a:solidFill>
                <a:latin typeface="Arial"/>
                <a:cs typeface="Arial"/>
              </a:rPr>
              <a:t>A </a:t>
            </a:r>
            <a:r>
              <a:rPr sz="3200" b="1" spc="-10" dirty="0">
                <a:solidFill>
                  <a:srgbClr val="51DC00"/>
                </a:solidFill>
                <a:latin typeface="Arial"/>
                <a:cs typeface="Arial"/>
              </a:rPr>
              <a:t>multi-threaded “Hello world”</a:t>
            </a:r>
            <a:r>
              <a:rPr sz="3200" b="1" spc="55" dirty="0">
                <a:solidFill>
                  <a:srgbClr val="51DC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1DC00"/>
                </a:solidFill>
                <a:latin typeface="Arial"/>
                <a:cs typeface="Arial"/>
              </a:rPr>
              <a:t>program</a:t>
            </a:r>
            <a:endParaRPr sz="3200" dirty="0">
              <a:latin typeface="Arial"/>
              <a:cs typeface="Arial"/>
            </a:endParaRPr>
          </a:p>
          <a:p>
            <a:pPr marL="298450" marR="264795" indent="-285750">
              <a:lnSpc>
                <a:spcPts val="3130"/>
              </a:lnSpc>
              <a:spcBef>
                <a:spcPts val="213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Write a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multithreaded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program where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each  thread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prints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“hello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world”.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001" y="3037248"/>
            <a:ext cx="227266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spc="-5" dirty="0">
                <a:latin typeface="Arial"/>
                <a:cs typeface="Arial"/>
              </a:rPr>
              <a:t>#include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“omp.h”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8001" y="3402246"/>
            <a:ext cx="4751705" cy="3626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0"/>
              </a:lnSpc>
            </a:pPr>
            <a:r>
              <a:rPr sz="2400" spc="-5" dirty="0">
                <a:latin typeface="Arial"/>
                <a:cs typeface="Arial"/>
              </a:rPr>
              <a:t>void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main()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75"/>
              </a:lnSpc>
              <a:spcBef>
                <a:spcPts val="1435"/>
              </a:spcBef>
            </a:pPr>
            <a:r>
              <a:rPr sz="2400" spc="-5" dirty="0">
                <a:latin typeface="Arial"/>
                <a:cs typeface="Arial"/>
              </a:rPr>
              <a:t>#pragma omp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parallel</a:t>
            </a:r>
            <a:endParaRPr sz="2400">
              <a:latin typeface="Arial"/>
              <a:cs typeface="Arial"/>
            </a:endParaRPr>
          </a:p>
          <a:p>
            <a:pPr marL="84455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421005">
              <a:lnSpc>
                <a:spcPct val="100000"/>
              </a:lnSpc>
              <a:spcBef>
                <a:spcPts val="1430"/>
              </a:spcBef>
            </a:pPr>
            <a:r>
              <a:rPr sz="2400" spc="-5" dirty="0">
                <a:latin typeface="Arial"/>
                <a:cs typeface="Arial"/>
              </a:rPr>
              <a:t>int ID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omp_get_thread_num();  printf(“ hello(%d) </a:t>
            </a:r>
            <a:r>
              <a:rPr sz="2400" dirty="0">
                <a:latin typeface="Arial"/>
                <a:cs typeface="Arial"/>
              </a:rPr>
              <a:t>”,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ID);</a:t>
            </a:r>
            <a:endParaRPr sz="2400">
              <a:latin typeface="Arial"/>
              <a:cs typeface="Arial"/>
            </a:endParaRPr>
          </a:p>
          <a:p>
            <a:pPr marL="421005">
              <a:lnSpc>
                <a:spcPts val="2865"/>
              </a:lnSpc>
            </a:pPr>
            <a:r>
              <a:rPr sz="2400" spc="-5" dirty="0">
                <a:latin typeface="Arial"/>
                <a:cs typeface="Arial"/>
              </a:rPr>
              <a:t>printf(“ world(%d) \n”,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ID);</a:t>
            </a:r>
            <a:endParaRPr sz="2400">
              <a:latin typeface="Arial"/>
              <a:cs typeface="Arial"/>
            </a:endParaRPr>
          </a:p>
          <a:p>
            <a:pPr marL="252729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600" y="2895600"/>
            <a:ext cx="5029200" cy="4185285"/>
            <a:chOff x="609600" y="2895600"/>
            <a:chExt cx="5029200" cy="4185285"/>
          </a:xfrm>
        </p:grpSpPr>
        <p:sp>
          <p:nvSpPr>
            <p:cNvPr id="7" name="object 7"/>
            <p:cNvSpPr/>
            <p:nvPr/>
          </p:nvSpPr>
          <p:spPr>
            <a:xfrm>
              <a:off x="685800" y="2971799"/>
              <a:ext cx="4953000" cy="4109085"/>
            </a:xfrm>
            <a:custGeom>
              <a:avLst/>
              <a:gdLst/>
              <a:ahLst/>
              <a:cxnLst/>
              <a:rect l="l" t="t" r="r" b="b"/>
              <a:pathLst>
                <a:path w="4953000" h="4109084">
                  <a:moveTo>
                    <a:pt x="4953000" y="0"/>
                  </a:moveTo>
                  <a:lnTo>
                    <a:pt x="0" y="0"/>
                  </a:lnTo>
                  <a:lnTo>
                    <a:pt x="0" y="303276"/>
                  </a:lnTo>
                  <a:lnTo>
                    <a:pt x="0" y="4032504"/>
                  </a:lnTo>
                  <a:lnTo>
                    <a:pt x="0" y="4108704"/>
                  </a:lnTo>
                  <a:lnTo>
                    <a:pt x="4953000" y="4108704"/>
                  </a:lnTo>
                  <a:lnTo>
                    <a:pt x="4953000" y="4032504"/>
                  </a:lnTo>
                  <a:lnTo>
                    <a:pt x="4953000" y="303276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600" y="2895600"/>
              <a:ext cx="4953000" cy="4109085"/>
            </a:xfrm>
            <a:custGeom>
              <a:avLst/>
              <a:gdLst/>
              <a:ahLst/>
              <a:cxnLst/>
              <a:rect l="l" t="t" r="r" b="b"/>
              <a:pathLst>
                <a:path w="4953000" h="4109084">
                  <a:moveTo>
                    <a:pt x="4953000" y="4108704"/>
                  </a:moveTo>
                  <a:lnTo>
                    <a:pt x="4953000" y="0"/>
                  </a:lnTo>
                  <a:lnTo>
                    <a:pt x="0" y="0"/>
                  </a:lnTo>
                  <a:lnTo>
                    <a:pt x="0" y="4108704"/>
                  </a:lnTo>
                  <a:lnTo>
                    <a:pt x="4953000" y="4108704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9101" y="2919476"/>
            <a:ext cx="2298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#include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“omp.h”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101" y="3284473"/>
            <a:ext cx="153606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void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main()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9101" y="4197350"/>
            <a:ext cx="4777105" cy="2034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#pragma omp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400">
              <a:latin typeface="Arial"/>
              <a:cs typeface="Arial"/>
            </a:endParaRPr>
          </a:p>
          <a:p>
            <a:pPr marL="97155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433705" marR="5080">
              <a:lnSpc>
                <a:spcPct val="100000"/>
              </a:lnSpc>
              <a:spcBef>
                <a:spcPts val="143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 ID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omp_get_thread_num();  printf(“ hello(%d)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”,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ID);</a:t>
            </a:r>
            <a:endParaRPr sz="2400">
              <a:latin typeface="Arial"/>
              <a:cs typeface="Arial"/>
            </a:endParaRPr>
          </a:p>
          <a:p>
            <a:pPr marL="433705">
              <a:lnSpc>
                <a:spcPts val="2870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printf(“ world(%d) \n”,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ID);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2086" y="6205220"/>
            <a:ext cx="12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101" y="6570217"/>
            <a:ext cx="12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83402" y="3651684"/>
            <a:ext cx="3392170" cy="258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b="1" spc="-5" dirty="0">
                <a:latin typeface="Arial"/>
                <a:cs typeface="Arial"/>
              </a:rPr>
              <a:t>Sample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Output:</a:t>
            </a:r>
            <a:endParaRPr sz="2800">
              <a:latin typeface="Arial"/>
              <a:cs typeface="Arial"/>
            </a:endParaRPr>
          </a:p>
          <a:p>
            <a:pPr marR="76200">
              <a:lnSpc>
                <a:spcPct val="149600"/>
              </a:lnSpc>
              <a:spcBef>
                <a:spcPts val="10"/>
              </a:spcBef>
            </a:pPr>
            <a:r>
              <a:rPr sz="2400" spc="-5" dirty="0">
                <a:latin typeface="Arial"/>
                <a:cs typeface="Arial"/>
              </a:rPr>
              <a:t>hello(1) hello(0) world(1)  world(0)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49800"/>
              </a:lnSpc>
            </a:pPr>
            <a:r>
              <a:rPr sz="2400" spc="-5" dirty="0">
                <a:latin typeface="Arial"/>
                <a:cs typeface="Arial"/>
              </a:rPr>
              <a:t>hello (3) hello(2) world(3)  world(2)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15000" y="3505200"/>
            <a:ext cx="3733800" cy="2786380"/>
            <a:chOff x="5715000" y="3505200"/>
            <a:chExt cx="3733800" cy="2786380"/>
          </a:xfrm>
        </p:grpSpPr>
        <p:sp>
          <p:nvSpPr>
            <p:cNvPr id="16" name="object 16"/>
            <p:cNvSpPr/>
            <p:nvPr/>
          </p:nvSpPr>
          <p:spPr>
            <a:xfrm>
              <a:off x="5791200" y="3581399"/>
              <a:ext cx="3657600" cy="2710180"/>
            </a:xfrm>
            <a:custGeom>
              <a:avLst/>
              <a:gdLst/>
              <a:ahLst/>
              <a:cxnLst/>
              <a:rect l="l" t="t" r="r" b="b"/>
              <a:pathLst>
                <a:path w="3657600" h="2710179">
                  <a:moveTo>
                    <a:pt x="3657600" y="0"/>
                  </a:moveTo>
                  <a:lnTo>
                    <a:pt x="0" y="0"/>
                  </a:lnTo>
                  <a:lnTo>
                    <a:pt x="0" y="2633484"/>
                  </a:lnTo>
                  <a:lnTo>
                    <a:pt x="0" y="2709684"/>
                  </a:lnTo>
                  <a:lnTo>
                    <a:pt x="3657600" y="2709684"/>
                  </a:lnTo>
                  <a:lnTo>
                    <a:pt x="3657600" y="2633484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15000" y="3505200"/>
              <a:ext cx="3657600" cy="2710180"/>
            </a:xfrm>
            <a:custGeom>
              <a:avLst/>
              <a:gdLst/>
              <a:ahLst/>
              <a:cxnLst/>
              <a:rect l="l" t="t" r="r" b="b"/>
              <a:pathLst>
                <a:path w="3657600" h="2710179">
                  <a:moveTo>
                    <a:pt x="3657600" y="2709672"/>
                  </a:moveTo>
                  <a:lnTo>
                    <a:pt x="3657600" y="0"/>
                  </a:lnTo>
                  <a:lnTo>
                    <a:pt x="0" y="0"/>
                  </a:lnTo>
                  <a:lnTo>
                    <a:pt x="0" y="2709672"/>
                  </a:lnTo>
                  <a:lnTo>
                    <a:pt x="3657600" y="2709672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94502" y="3315919"/>
            <a:ext cx="3417570" cy="28568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88900">
              <a:lnSpc>
                <a:spcPct val="146200"/>
              </a:lnSpc>
              <a:spcBef>
                <a:spcPts val="22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Sample Output: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hello(1) hello(0) world(1)  world(0)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49800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hello (3) hello(2) world(3)  world(2)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17897" y="2970272"/>
            <a:ext cx="2211070" cy="3517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sz="1800" dirty="0">
                <a:latin typeface="Lucida Sans Unicode"/>
                <a:cs typeface="Lucida Sans Unicode"/>
              </a:rPr>
              <a:t>OpenMP include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file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19600" y="2971800"/>
            <a:ext cx="2438400" cy="379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43400" y="2895600"/>
            <a:ext cx="2438400" cy="3797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60"/>
              </a:spcBef>
            </a:pPr>
            <a:r>
              <a:rPr sz="1800" dirty="0">
                <a:latin typeface="Lucida Sans Unicode"/>
                <a:cs typeface="Lucida Sans Unicode"/>
              </a:rPr>
              <a:t>OpenMP include</a:t>
            </a:r>
            <a:r>
              <a:rPr sz="1800" spc="-5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file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24200" y="3038677"/>
            <a:ext cx="1219200" cy="171450"/>
          </a:xfrm>
          <a:custGeom>
            <a:avLst/>
            <a:gdLst/>
            <a:ahLst/>
            <a:cxnLst/>
            <a:rect l="l" t="t" r="r" b="b"/>
            <a:pathLst>
              <a:path w="1219200" h="171450">
                <a:moveTo>
                  <a:pt x="171521" y="16478"/>
                </a:moveTo>
                <a:lnTo>
                  <a:pt x="169163" y="9322"/>
                </a:lnTo>
                <a:lnTo>
                  <a:pt x="164032" y="3643"/>
                </a:lnTo>
                <a:lnTo>
                  <a:pt x="157257" y="464"/>
                </a:lnTo>
                <a:lnTo>
                  <a:pt x="149768" y="0"/>
                </a:lnTo>
                <a:lnTo>
                  <a:pt x="142494" y="2464"/>
                </a:lnTo>
                <a:lnTo>
                  <a:pt x="0" y="85522"/>
                </a:lnTo>
                <a:lnTo>
                  <a:pt x="38100" y="107730"/>
                </a:lnTo>
                <a:lnTo>
                  <a:pt x="38100" y="66472"/>
                </a:lnTo>
                <a:lnTo>
                  <a:pt x="109052" y="66472"/>
                </a:lnTo>
                <a:lnTo>
                  <a:pt x="162305" y="35230"/>
                </a:lnTo>
                <a:lnTo>
                  <a:pt x="167663" y="30218"/>
                </a:lnTo>
                <a:lnTo>
                  <a:pt x="170878" y="23705"/>
                </a:lnTo>
                <a:lnTo>
                  <a:pt x="171521" y="16478"/>
                </a:lnTo>
                <a:close/>
              </a:path>
              <a:path w="1219200" h="171450">
                <a:moveTo>
                  <a:pt x="109052" y="66472"/>
                </a:moveTo>
                <a:lnTo>
                  <a:pt x="38100" y="66472"/>
                </a:lnTo>
                <a:lnTo>
                  <a:pt x="38100" y="104572"/>
                </a:lnTo>
                <a:lnTo>
                  <a:pt x="48006" y="104572"/>
                </a:lnTo>
                <a:lnTo>
                  <a:pt x="48006" y="68758"/>
                </a:lnTo>
                <a:lnTo>
                  <a:pt x="76580" y="85522"/>
                </a:lnTo>
                <a:lnTo>
                  <a:pt x="109052" y="66472"/>
                </a:lnTo>
                <a:close/>
              </a:path>
              <a:path w="1219200" h="171450">
                <a:moveTo>
                  <a:pt x="171521" y="154566"/>
                </a:moveTo>
                <a:lnTo>
                  <a:pt x="170878" y="147339"/>
                </a:lnTo>
                <a:lnTo>
                  <a:pt x="167663" y="140827"/>
                </a:lnTo>
                <a:lnTo>
                  <a:pt x="162305" y="135814"/>
                </a:lnTo>
                <a:lnTo>
                  <a:pt x="109052" y="104572"/>
                </a:lnTo>
                <a:lnTo>
                  <a:pt x="38100" y="104572"/>
                </a:lnTo>
                <a:lnTo>
                  <a:pt x="38100" y="107730"/>
                </a:lnTo>
                <a:lnTo>
                  <a:pt x="142494" y="168580"/>
                </a:lnTo>
                <a:lnTo>
                  <a:pt x="149768" y="171045"/>
                </a:lnTo>
                <a:lnTo>
                  <a:pt x="157257" y="170580"/>
                </a:lnTo>
                <a:lnTo>
                  <a:pt x="164032" y="167401"/>
                </a:lnTo>
                <a:lnTo>
                  <a:pt x="169163" y="161722"/>
                </a:lnTo>
                <a:lnTo>
                  <a:pt x="171521" y="154566"/>
                </a:lnTo>
                <a:close/>
              </a:path>
              <a:path w="1219200" h="171450">
                <a:moveTo>
                  <a:pt x="76580" y="85522"/>
                </a:moveTo>
                <a:lnTo>
                  <a:pt x="48006" y="68758"/>
                </a:lnTo>
                <a:lnTo>
                  <a:pt x="48006" y="102286"/>
                </a:lnTo>
                <a:lnTo>
                  <a:pt x="76580" y="85522"/>
                </a:lnTo>
                <a:close/>
              </a:path>
              <a:path w="1219200" h="171450">
                <a:moveTo>
                  <a:pt x="109052" y="104572"/>
                </a:moveTo>
                <a:lnTo>
                  <a:pt x="76580" y="85522"/>
                </a:lnTo>
                <a:lnTo>
                  <a:pt x="48006" y="102286"/>
                </a:lnTo>
                <a:lnTo>
                  <a:pt x="48006" y="104572"/>
                </a:lnTo>
                <a:lnTo>
                  <a:pt x="109052" y="104572"/>
                </a:lnTo>
                <a:close/>
              </a:path>
              <a:path w="1219200" h="171450">
                <a:moveTo>
                  <a:pt x="1219199" y="104572"/>
                </a:moveTo>
                <a:lnTo>
                  <a:pt x="1219199" y="66472"/>
                </a:lnTo>
                <a:lnTo>
                  <a:pt x="109052" y="66472"/>
                </a:lnTo>
                <a:lnTo>
                  <a:pt x="76580" y="85522"/>
                </a:lnTo>
                <a:lnTo>
                  <a:pt x="109052" y="104572"/>
                </a:lnTo>
                <a:lnTo>
                  <a:pt x="1219199" y="1045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65298" y="3632354"/>
            <a:ext cx="2793365" cy="489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Parallel region with</a:t>
            </a:r>
            <a:r>
              <a:rPr sz="1600" b="1" spc="-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default  </a:t>
            </a:r>
            <a:r>
              <a:rPr sz="1600" b="1" spc="-5" dirty="0">
                <a:latin typeface="Tahoma"/>
                <a:cs typeface="Tahoma"/>
              </a:rPr>
              <a:t>number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-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threads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667000" y="3581400"/>
            <a:ext cx="3047999" cy="5935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90800" y="3505200"/>
            <a:ext cx="3048000" cy="5937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97790" marR="149225">
              <a:lnSpc>
                <a:spcPct val="100000"/>
              </a:lnSpc>
              <a:spcBef>
                <a:spcPts val="405"/>
              </a:spcBef>
            </a:pPr>
            <a:r>
              <a:rPr sz="1600" b="1" dirty="0">
                <a:latin typeface="Tahoma"/>
                <a:cs typeface="Tahoma"/>
              </a:rPr>
              <a:t>Parallel region with</a:t>
            </a:r>
            <a:r>
              <a:rPr sz="1600" b="1" spc="-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default  </a:t>
            </a:r>
            <a:r>
              <a:rPr sz="1600" b="1" spc="-5" dirty="0">
                <a:latin typeface="Tahoma"/>
                <a:cs typeface="Tahoma"/>
              </a:rPr>
              <a:t>number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-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threads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33800" y="4098797"/>
            <a:ext cx="391160" cy="245110"/>
          </a:xfrm>
          <a:custGeom>
            <a:avLst/>
            <a:gdLst/>
            <a:ahLst/>
            <a:cxnLst/>
            <a:rect l="l" t="t" r="r" b="b"/>
            <a:pathLst>
              <a:path w="391160" h="245110">
                <a:moveTo>
                  <a:pt x="115228" y="110954"/>
                </a:moveTo>
                <a:lnTo>
                  <a:pt x="114680" y="103727"/>
                </a:lnTo>
                <a:lnTo>
                  <a:pt x="111275" y="97214"/>
                </a:lnTo>
                <a:lnTo>
                  <a:pt x="105155" y="92201"/>
                </a:lnTo>
                <a:lnTo>
                  <a:pt x="98012" y="89856"/>
                </a:lnTo>
                <a:lnTo>
                  <a:pt x="90868" y="90582"/>
                </a:lnTo>
                <a:lnTo>
                  <a:pt x="84581" y="94023"/>
                </a:lnTo>
                <a:lnTo>
                  <a:pt x="80009" y="99821"/>
                </a:lnTo>
                <a:lnTo>
                  <a:pt x="0" y="244601"/>
                </a:lnTo>
                <a:lnTo>
                  <a:pt x="22859" y="244285"/>
                </a:lnTo>
                <a:lnTo>
                  <a:pt x="22859" y="208787"/>
                </a:lnTo>
                <a:lnTo>
                  <a:pt x="82926" y="172774"/>
                </a:lnTo>
                <a:lnTo>
                  <a:pt x="112775" y="118109"/>
                </a:lnTo>
                <a:lnTo>
                  <a:pt x="115228" y="110954"/>
                </a:lnTo>
                <a:close/>
              </a:path>
              <a:path w="391160" h="245110">
                <a:moveTo>
                  <a:pt x="82926" y="172774"/>
                </a:moveTo>
                <a:lnTo>
                  <a:pt x="22859" y="208787"/>
                </a:lnTo>
                <a:lnTo>
                  <a:pt x="32765" y="225170"/>
                </a:lnTo>
                <a:lnTo>
                  <a:pt x="32765" y="205739"/>
                </a:lnTo>
                <a:lnTo>
                  <a:pt x="65129" y="205365"/>
                </a:lnTo>
                <a:lnTo>
                  <a:pt x="82926" y="172774"/>
                </a:lnTo>
                <a:close/>
              </a:path>
              <a:path w="391160" h="245110">
                <a:moveTo>
                  <a:pt x="183641" y="223265"/>
                </a:moveTo>
                <a:lnTo>
                  <a:pt x="182165" y="215788"/>
                </a:lnTo>
                <a:lnTo>
                  <a:pt x="178117" y="209740"/>
                </a:lnTo>
                <a:lnTo>
                  <a:pt x="172069" y="205692"/>
                </a:lnTo>
                <a:lnTo>
                  <a:pt x="164591" y="204215"/>
                </a:lnTo>
                <a:lnTo>
                  <a:pt x="103548" y="204921"/>
                </a:lnTo>
                <a:lnTo>
                  <a:pt x="42671" y="241553"/>
                </a:lnTo>
                <a:lnTo>
                  <a:pt x="22859" y="208787"/>
                </a:lnTo>
                <a:lnTo>
                  <a:pt x="22859" y="244285"/>
                </a:lnTo>
                <a:lnTo>
                  <a:pt x="165353" y="242315"/>
                </a:lnTo>
                <a:lnTo>
                  <a:pt x="172819" y="240839"/>
                </a:lnTo>
                <a:lnTo>
                  <a:pt x="178784" y="236791"/>
                </a:lnTo>
                <a:lnTo>
                  <a:pt x="182606" y="230743"/>
                </a:lnTo>
                <a:lnTo>
                  <a:pt x="183641" y="223265"/>
                </a:lnTo>
                <a:close/>
              </a:path>
              <a:path w="391160" h="245110">
                <a:moveTo>
                  <a:pt x="65129" y="205365"/>
                </a:moveTo>
                <a:lnTo>
                  <a:pt x="32765" y="205739"/>
                </a:lnTo>
                <a:lnTo>
                  <a:pt x="49529" y="233933"/>
                </a:lnTo>
                <a:lnTo>
                  <a:pt x="65129" y="205365"/>
                </a:lnTo>
                <a:close/>
              </a:path>
              <a:path w="391160" h="245110">
                <a:moveTo>
                  <a:pt x="103548" y="204921"/>
                </a:moveTo>
                <a:lnTo>
                  <a:pt x="65129" y="205365"/>
                </a:lnTo>
                <a:lnTo>
                  <a:pt x="49529" y="233933"/>
                </a:lnTo>
                <a:lnTo>
                  <a:pt x="32765" y="205739"/>
                </a:lnTo>
                <a:lnTo>
                  <a:pt x="32765" y="225170"/>
                </a:lnTo>
                <a:lnTo>
                  <a:pt x="42671" y="241553"/>
                </a:lnTo>
                <a:lnTo>
                  <a:pt x="103548" y="204921"/>
                </a:lnTo>
                <a:close/>
              </a:path>
              <a:path w="391160" h="245110">
                <a:moveTo>
                  <a:pt x="390905" y="32003"/>
                </a:moveTo>
                <a:lnTo>
                  <a:pt x="371093" y="0"/>
                </a:lnTo>
                <a:lnTo>
                  <a:pt x="82926" y="172774"/>
                </a:lnTo>
                <a:lnTo>
                  <a:pt x="65129" y="205365"/>
                </a:lnTo>
                <a:lnTo>
                  <a:pt x="103548" y="204921"/>
                </a:lnTo>
                <a:lnTo>
                  <a:pt x="390905" y="320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508497" y="6451753"/>
            <a:ext cx="2777490" cy="489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spc="-5" dirty="0">
                <a:latin typeface="Tahoma"/>
                <a:cs typeface="Tahoma"/>
              </a:rPr>
              <a:t>Runtime </a:t>
            </a:r>
            <a:r>
              <a:rPr sz="1600" b="1" dirty="0">
                <a:latin typeface="Tahoma"/>
                <a:cs typeface="Tahoma"/>
              </a:rPr>
              <a:t>library function to  return a thread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ID.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410200" y="6400800"/>
            <a:ext cx="3047999" cy="5935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34000" y="6324600"/>
            <a:ext cx="3048000" cy="5937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7790" marR="164465">
              <a:lnSpc>
                <a:spcPct val="100000"/>
              </a:lnSpc>
              <a:spcBef>
                <a:spcPts val="400"/>
              </a:spcBef>
            </a:pPr>
            <a:r>
              <a:rPr sz="1600" b="1" spc="-5" dirty="0">
                <a:latin typeface="Tahoma"/>
                <a:cs typeface="Tahoma"/>
              </a:rPr>
              <a:t>Runtime </a:t>
            </a:r>
            <a:r>
              <a:rPr sz="1600" b="1" dirty="0">
                <a:latin typeface="Tahoma"/>
                <a:cs typeface="Tahoma"/>
              </a:rPr>
              <a:t>library function to  return a thread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ID.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22876" y="5562600"/>
            <a:ext cx="628015" cy="1076325"/>
          </a:xfrm>
          <a:custGeom>
            <a:avLst/>
            <a:gdLst/>
            <a:ahLst/>
            <a:cxnLst/>
            <a:rect l="l" t="t" r="r" b="b"/>
            <a:pathLst>
              <a:path w="628014" h="1076325">
                <a:moveTo>
                  <a:pt x="154102" y="101703"/>
                </a:moveTo>
                <a:lnTo>
                  <a:pt x="153638" y="94297"/>
                </a:lnTo>
                <a:lnTo>
                  <a:pt x="150459" y="87749"/>
                </a:lnTo>
                <a:lnTo>
                  <a:pt x="144780" y="83058"/>
                </a:lnTo>
                <a:lnTo>
                  <a:pt x="1524" y="0"/>
                </a:lnTo>
                <a:lnTo>
                  <a:pt x="0" y="165354"/>
                </a:lnTo>
                <a:lnTo>
                  <a:pt x="1476" y="172831"/>
                </a:lnTo>
                <a:lnTo>
                  <a:pt x="3810" y="176317"/>
                </a:lnTo>
                <a:lnTo>
                  <a:pt x="3810" y="42672"/>
                </a:lnTo>
                <a:lnTo>
                  <a:pt x="36576" y="23622"/>
                </a:lnTo>
                <a:lnTo>
                  <a:pt x="71401" y="84522"/>
                </a:lnTo>
                <a:lnTo>
                  <a:pt x="125730" y="115824"/>
                </a:lnTo>
                <a:lnTo>
                  <a:pt x="132885" y="118288"/>
                </a:lnTo>
                <a:lnTo>
                  <a:pt x="140112" y="117824"/>
                </a:lnTo>
                <a:lnTo>
                  <a:pt x="146625" y="114645"/>
                </a:lnTo>
                <a:lnTo>
                  <a:pt x="151638" y="108966"/>
                </a:lnTo>
                <a:lnTo>
                  <a:pt x="154102" y="101703"/>
                </a:lnTo>
                <a:close/>
              </a:path>
              <a:path w="628014" h="1076325">
                <a:moveTo>
                  <a:pt x="71401" y="84522"/>
                </a:moveTo>
                <a:lnTo>
                  <a:pt x="36576" y="23622"/>
                </a:lnTo>
                <a:lnTo>
                  <a:pt x="3810" y="42672"/>
                </a:lnTo>
                <a:lnTo>
                  <a:pt x="10668" y="54671"/>
                </a:lnTo>
                <a:lnTo>
                  <a:pt x="10668" y="49530"/>
                </a:lnTo>
                <a:lnTo>
                  <a:pt x="39624" y="33528"/>
                </a:lnTo>
                <a:lnTo>
                  <a:pt x="39624" y="66213"/>
                </a:lnTo>
                <a:lnTo>
                  <a:pt x="71401" y="84522"/>
                </a:lnTo>
                <a:close/>
              </a:path>
              <a:path w="628014" h="1076325">
                <a:moveTo>
                  <a:pt x="38810" y="103911"/>
                </a:moveTo>
                <a:lnTo>
                  <a:pt x="3810" y="42672"/>
                </a:lnTo>
                <a:lnTo>
                  <a:pt x="3810" y="176317"/>
                </a:lnTo>
                <a:lnTo>
                  <a:pt x="5524" y="178879"/>
                </a:lnTo>
                <a:lnTo>
                  <a:pt x="11572" y="182927"/>
                </a:lnTo>
                <a:lnTo>
                  <a:pt x="19050" y="184404"/>
                </a:lnTo>
                <a:lnTo>
                  <a:pt x="26527" y="182927"/>
                </a:lnTo>
                <a:lnTo>
                  <a:pt x="32575" y="178879"/>
                </a:lnTo>
                <a:lnTo>
                  <a:pt x="36623" y="172831"/>
                </a:lnTo>
                <a:lnTo>
                  <a:pt x="38100" y="165354"/>
                </a:lnTo>
                <a:lnTo>
                  <a:pt x="38810" y="103911"/>
                </a:lnTo>
                <a:close/>
              </a:path>
              <a:path w="628014" h="1076325">
                <a:moveTo>
                  <a:pt x="39624" y="33528"/>
                </a:moveTo>
                <a:lnTo>
                  <a:pt x="10668" y="49530"/>
                </a:lnTo>
                <a:lnTo>
                  <a:pt x="39248" y="65996"/>
                </a:lnTo>
                <a:lnTo>
                  <a:pt x="39624" y="33528"/>
                </a:lnTo>
                <a:close/>
              </a:path>
              <a:path w="628014" h="1076325">
                <a:moveTo>
                  <a:pt x="39248" y="65996"/>
                </a:moveTo>
                <a:lnTo>
                  <a:pt x="10668" y="49530"/>
                </a:lnTo>
                <a:lnTo>
                  <a:pt x="10668" y="54671"/>
                </a:lnTo>
                <a:lnTo>
                  <a:pt x="38810" y="103911"/>
                </a:lnTo>
                <a:lnTo>
                  <a:pt x="39248" y="65996"/>
                </a:lnTo>
                <a:close/>
              </a:path>
              <a:path w="628014" h="1076325">
                <a:moveTo>
                  <a:pt x="627888" y="1057656"/>
                </a:moveTo>
                <a:lnTo>
                  <a:pt x="71401" y="84522"/>
                </a:lnTo>
                <a:lnTo>
                  <a:pt x="39248" y="65996"/>
                </a:lnTo>
                <a:lnTo>
                  <a:pt x="38810" y="103911"/>
                </a:lnTo>
                <a:lnTo>
                  <a:pt x="594360" y="1075944"/>
                </a:lnTo>
                <a:lnTo>
                  <a:pt x="627888" y="1057656"/>
                </a:lnTo>
                <a:close/>
              </a:path>
              <a:path w="628014" h="1076325">
                <a:moveTo>
                  <a:pt x="39624" y="66213"/>
                </a:moveTo>
                <a:lnTo>
                  <a:pt x="39624" y="33528"/>
                </a:lnTo>
                <a:lnTo>
                  <a:pt x="39248" y="65996"/>
                </a:lnTo>
                <a:lnTo>
                  <a:pt x="39624" y="66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774698" y="6695593"/>
            <a:ext cx="259397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End of the Parallel</a:t>
            </a:r>
            <a:r>
              <a:rPr sz="1600" b="1" spc="-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region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76400" y="6645402"/>
            <a:ext cx="3048000" cy="3489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600200" y="6569202"/>
            <a:ext cx="3048000" cy="34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395"/>
              </a:spcBef>
            </a:pPr>
            <a:r>
              <a:rPr sz="1600" b="1" dirty="0">
                <a:latin typeface="Tahoma"/>
                <a:cs typeface="Tahoma"/>
              </a:rPr>
              <a:t>End of the Parallel</a:t>
            </a:r>
            <a:r>
              <a:rPr sz="1600" b="1" spc="-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region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43000" y="6477000"/>
            <a:ext cx="467995" cy="321310"/>
          </a:xfrm>
          <a:custGeom>
            <a:avLst/>
            <a:gdLst/>
            <a:ahLst/>
            <a:cxnLst/>
            <a:rect l="l" t="t" r="r" b="b"/>
            <a:pathLst>
              <a:path w="467994" h="321309">
                <a:moveTo>
                  <a:pt x="182879" y="30479"/>
                </a:moveTo>
                <a:lnTo>
                  <a:pt x="0" y="0"/>
                </a:lnTo>
                <a:lnTo>
                  <a:pt x="21335" y="43794"/>
                </a:lnTo>
                <a:lnTo>
                  <a:pt x="21335" y="37337"/>
                </a:lnTo>
                <a:lnTo>
                  <a:pt x="41909" y="5333"/>
                </a:lnTo>
                <a:lnTo>
                  <a:pt x="100679" y="44443"/>
                </a:lnTo>
                <a:lnTo>
                  <a:pt x="162305" y="48005"/>
                </a:lnTo>
                <a:lnTo>
                  <a:pt x="169914" y="46982"/>
                </a:lnTo>
                <a:lnTo>
                  <a:pt x="176307" y="43243"/>
                </a:lnTo>
                <a:lnTo>
                  <a:pt x="180844" y="37504"/>
                </a:lnTo>
                <a:lnTo>
                  <a:pt x="182879" y="30479"/>
                </a:lnTo>
                <a:close/>
              </a:path>
              <a:path w="467994" h="321309">
                <a:moveTo>
                  <a:pt x="100679" y="44443"/>
                </a:moveTo>
                <a:lnTo>
                  <a:pt x="41909" y="5333"/>
                </a:lnTo>
                <a:lnTo>
                  <a:pt x="21335" y="37337"/>
                </a:lnTo>
                <a:lnTo>
                  <a:pt x="30479" y="43433"/>
                </a:lnTo>
                <a:lnTo>
                  <a:pt x="30479" y="40385"/>
                </a:lnTo>
                <a:lnTo>
                  <a:pt x="48767" y="12953"/>
                </a:lnTo>
                <a:lnTo>
                  <a:pt x="63049" y="42268"/>
                </a:lnTo>
                <a:lnTo>
                  <a:pt x="100679" y="44443"/>
                </a:lnTo>
                <a:close/>
              </a:path>
              <a:path w="467994" h="321309">
                <a:moveTo>
                  <a:pt x="108584" y="138969"/>
                </a:moveTo>
                <a:lnTo>
                  <a:pt x="106679" y="131825"/>
                </a:lnTo>
                <a:lnTo>
                  <a:pt x="79556" y="76151"/>
                </a:lnTo>
                <a:lnTo>
                  <a:pt x="21335" y="37337"/>
                </a:lnTo>
                <a:lnTo>
                  <a:pt x="21335" y="43794"/>
                </a:lnTo>
                <a:lnTo>
                  <a:pt x="72389" y="148589"/>
                </a:lnTo>
                <a:lnTo>
                  <a:pt x="76973" y="154400"/>
                </a:lnTo>
                <a:lnTo>
                  <a:pt x="83343" y="157924"/>
                </a:lnTo>
                <a:lnTo>
                  <a:pt x="90713" y="158876"/>
                </a:lnTo>
                <a:lnTo>
                  <a:pt x="98297" y="156971"/>
                </a:lnTo>
                <a:lnTo>
                  <a:pt x="104108" y="152399"/>
                </a:lnTo>
                <a:lnTo>
                  <a:pt x="107632" y="146113"/>
                </a:lnTo>
                <a:lnTo>
                  <a:pt x="108584" y="138969"/>
                </a:lnTo>
                <a:close/>
              </a:path>
              <a:path w="467994" h="321309">
                <a:moveTo>
                  <a:pt x="63049" y="42268"/>
                </a:moveTo>
                <a:lnTo>
                  <a:pt x="48767" y="12953"/>
                </a:lnTo>
                <a:lnTo>
                  <a:pt x="30479" y="40385"/>
                </a:lnTo>
                <a:lnTo>
                  <a:pt x="63049" y="42268"/>
                </a:lnTo>
                <a:close/>
              </a:path>
              <a:path w="467994" h="321309">
                <a:moveTo>
                  <a:pt x="79556" y="76151"/>
                </a:moveTo>
                <a:lnTo>
                  <a:pt x="63049" y="42268"/>
                </a:lnTo>
                <a:lnTo>
                  <a:pt x="30479" y="40385"/>
                </a:lnTo>
                <a:lnTo>
                  <a:pt x="30479" y="43433"/>
                </a:lnTo>
                <a:lnTo>
                  <a:pt x="79556" y="76151"/>
                </a:lnTo>
                <a:close/>
              </a:path>
              <a:path w="467994" h="321309">
                <a:moveTo>
                  <a:pt x="467867" y="288797"/>
                </a:moveTo>
                <a:lnTo>
                  <a:pt x="100679" y="44443"/>
                </a:lnTo>
                <a:lnTo>
                  <a:pt x="63049" y="42268"/>
                </a:lnTo>
                <a:lnTo>
                  <a:pt x="79556" y="76151"/>
                </a:lnTo>
                <a:lnTo>
                  <a:pt x="446531" y="320801"/>
                </a:lnTo>
                <a:lnTo>
                  <a:pt x="467867" y="2887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7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654050"/>
            <a:ext cx="4192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OpenMP</a:t>
            </a:r>
            <a:r>
              <a:rPr sz="3600" spc="-90" dirty="0"/>
              <a:t> </a:t>
            </a:r>
            <a:r>
              <a:rPr sz="3600" spc="-5" dirty="0"/>
              <a:t>Overview: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8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301" y="1079973"/>
            <a:ext cx="8582025" cy="594550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660"/>
              </a:spcBef>
            </a:pPr>
            <a:r>
              <a:rPr sz="3200" b="1" spc="-5" dirty="0">
                <a:solidFill>
                  <a:srgbClr val="51DC00"/>
                </a:solidFill>
                <a:latin typeface="Arial"/>
                <a:cs typeface="Arial"/>
              </a:rPr>
              <a:t>How do </a:t>
            </a:r>
            <a:r>
              <a:rPr sz="3200" b="1" spc="-10" dirty="0">
                <a:solidFill>
                  <a:srgbClr val="51DC00"/>
                </a:solidFill>
                <a:latin typeface="Arial"/>
                <a:cs typeface="Arial"/>
              </a:rPr>
              <a:t>threads interact?</a:t>
            </a:r>
            <a:endParaRPr sz="3200">
              <a:latin typeface="Arial"/>
              <a:cs typeface="Arial"/>
            </a:endParaRPr>
          </a:p>
          <a:p>
            <a:pPr marL="298450" marR="625475" indent="-285750">
              <a:lnSpc>
                <a:spcPts val="316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is a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multi-threading, shared address  model.</a:t>
            </a:r>
            <a:endParaRPr sz="2800">
              <a:latin typeface="Arial"/>
              <a:cs typeface="Arial"/>
            </a:endParaRPr>
          </a:p>
          <a:p>
            <a:pPr marL="1155700" lvl="1" indent="-229235">
              <a:lnSpc>
                <a:spcPct val="100000"/>
              </a:lnSpc>
              <a:spcBef>
                <a:spcPts val="595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Threads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communicate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by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sharing</a:t>
            </a:r>
            <a:r>
              <a:rPr sz="2400" b="1" spc="-4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variables.</a:t>
            </a:r>
            <a:endParaRPr sz="2400">
              <a:latin typeface="Arial"/>
              <a:cs typeface="Arial"/>
            </a:endParaRPr>
          </a:p>
          <a:p>
            <a:pPr marL="298450" marR="1527810" indent="-285750">
              <a:lnSpc>
                <a:spcPts val="3160"/>
              </a:lnSpc>
              <a:spcBef>
                <a:spcPts val="10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Unintended sharing of data causes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race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conditions:</a:t>
            </a:r>
            <a:endParaRPr sz="2800">
              <a:latin typeface="Arial"/>
              <a:cs typeface="Arial"/>
            </a:endParaRPr>
          </a:p>
          <a:p>
            <a:pPr marL="1155700" marR="257810" lvl="1" indent="-228600">
              <a:lnSpc>
                <a:spcPts val="2680"/>
              </a:lnSpc>
              <a:spcBef>
                <a:spcPts val="855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race condition: when the program’s outcome  changes as the threads are scheduled</a:t>
            </a:r>
            <a:r>
              <a:rPr sz="2400" b="1" spc="-75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differently.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5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control race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conditions:</a:t>
            </a:r>
            <a:endParaRPr sz="2800">
              <a:latin typeface="Arial"/>
              <a:cs typeface="Arial"/>
            </a:endParaRPr>
          </a:p>
          <a:p>
            <a:pPr marL="1155700" lvl="1" indent="-228600">
              <a:lnSpc>
                <a:spcPct val="100000"/>
              </a:lnSpc>
              <a:spcBef>
                <a:spcPts val="660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Use synchronization to protect data</a:t>
            </a:r>
            <a:r>
              <a:rPr sz="2400" b="1" spc="-2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conflicts.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8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 is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expensive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so:</a:t>
            </a:r>
            <a:endParaRPr sz="2800">
              <a:latin typeface="Arial"/>
              <a:cs typeface="Arial"/>
            </a:endParaRPr>
          </a:p>
          <a:p>
            <a:pPr marL="1155700" marR="5080" lvl="1" indent="-228600">
              <a:lnSpc>
                <a:spcPts val="2670"/>
              </a:lnSpc>
              <a:spcBef>
                <a:spcPts val="930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Change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how data is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accessed to minimize the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need 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for</a:t>
            </a:r>
            <a:r>
              <a:rPr sz="2400" b="1" spc="-1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synchronization.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77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3096" y="1875840"/>
            <a:ext cx="6619240" cy="47555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Introduction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single masters 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stuff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 your for and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model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 and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9648" y="2630170"/>
            <a:ext cx="469900" cy="317500"/>
            <a:chOff x="739648" y="2630170"/>
            <a:chExt cx="469900" cy="317500"/>
          </a:xfrm>
        </p:grpSpPr>
        <p:sp>
          <p:nvSpPr>
            <p:cNvPr id="5" name="object 5"/>
            <p:cNvSpPr/>
            <p:nvPr/>
          </p:nvSpPr>
          <p:spPr>
            <a:xfrm>
              <a:off x="745998" y="263652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400"/>
                  </a:moveTo>
                  <a:lnTo>
                    <a:pt x="342900" y="0"/>
                  </a:ln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8" y="263652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42900" y="0"/>
                  </a:move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9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902" y="599948"/>
            <a:ext cx="73075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OpenMP </a:t>
            </a:r>
            <a:r>
              <a:rPr spc="-5" dirty="0"/>
              <a:t>Programming</a:t>
            </a:r>
            <a:r>
              <a:rPr spc="-75" dirty="0"/>
              <a:t> </a:t>
            </a:r>
            <a:r>
              <a:rPr spc="-5" dirty="0"/>
              <a:t>Model: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902" y="1328341"/>
            <a:ext cx="8274684" cy="229743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Fork-Join Parallelism: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dirty="0">
                <a:solidFill>
                  <a:srgbClr val="FFFF65"/>
                </a:solidFill>
                <a:latin typeface="Arial"/>
                <a:cs typeface="Arial"/>
              </a:rPr>
              <a:t>Master </a:t>
            </a:r>
            <a:r>
              <a:rPr sz="2400" spc="-5" dirty="0">
                <a:solidFill>
                  <a:srgbClr val="FFFF65"/>
                </a:solidFill>
                <a:latin typeface="Arial"/>
                <a:cs typeface="Arial"/>
              </a:rPr>
              <a:t>thread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spawns a </a:t>
            </a:r>
            <a:r>
              <a:rPr sz="2400" spc="-5" dirty="0">
                <a:solidFill>
                  <a:srgbClr val="FFFF65"/>
                </a:solidFill>
                <a:latin typeface="Arial"/>
                <a:cs typeface="Arial"/>
              </a:rPr>
              <a:t>team of threads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needed.</a:t>
            </a:r>
            <a:endParaRPr sz="2400">
              <a:latin typeface="Arial"/>
              <a:cs typeface="Arial"/>
            </a:endParaRPr>
          </a:p>
          <a:p>
            <a:pPr marL="698500" marR="5080" indent="-228600">
              <a:lnSpc>
                <a:spcPts val="2700"/>
              </a:lnSpc>
              <a:spcBef>
                <a:spcPts val="150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Parallelism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added incrementally until performance goals  are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met: i.e.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sequential program evolves into a  parallel program.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54403" y="4267200"/>
            <a:ext cx="7664450" cy="1981200"/>
            <a:chOff x="1454403" y="4267200"/>
            <a:chExt cx="7664450" cy="1981200"/>
          </a:xfrm>
        </p:grpSpPr>
        <p:sp>
          <p:nvSpPr>
            <p:cNvPr id="6" name="object 6"/>
            <p:cNvSpPr/>
            <p:nvPr/>
          </p:nvSpPr>
          <p:spPr>
            <a:xfrm>
              <a:off x="2158746" y="4267199"/>
              <a:ext cx="6172200" cy="1981200"/>
            </a:xfrm>
            <a:custGeom>
              <a:avLst/>
              <a:gdLst/>
              <a:ahLst/>
              <a:cxnLst/>
              <a:rect l="l" t="t" r="r" b="b"/>
              <a:pathLst>
                <a:path w="6172200" h="1981200">
                  <a:moveTo>
                    <a:pt x="16002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1600200" y="1981200"/>
                  </a:lnTo>
                  <a:lnTo>
                    <a:pt x="1600200" y="0"/>
                  </a:lnTo>
                  <a:close/>
                </a:path>
                <a:path w="6172200" h="1981200">
                  <a:moveTo>
                    <a:pt x="3962400" y="0"/>
                  </a:moveTo>
                  <a:lnTo>
                    <a:pt x="2362200" y="0"/>
                  </a:lnTo>
                  <a:lnTo>
                    <a:pt x="2362200" y="1981200"/>
                  </a:lnTo>
                  <a:lnTo>
                    <a:pt x="3962400" y="1981200"/>
                  </a:lnTo>
                  <a:lnTo>
                    <a:pt x="3962400" y="0"/>
                  </a:lnTo>
                  <a:close/>
                </a:path>
                <a:path w="6172200" h="1981200">
                  <a:moveTo>
                    <a:pt x="6172200" y="0"/>
                  </a:moveTo>
                  <a:lnTo>
                    <a:pt x="4648200" y="0"/>
                  </a:lnTo>
                  <a:lnTo>
                    <a:pt x="4648200" y="306324"/>
                  </a:lnTo>
                  <a:lnTo>
                    <a:pt x="4648200" y="382524"/>
                  </a:lnTo>
                  <a:lnTo>
                    <a:pt x="4648200" y="1981200"/>
                  </a:lnTo>
                  <a:lnTo>
                    <a:pt x="6172200" y="1981200"/>
                  </a:lnTo>
                  <a:lnTo>
                    <a:pt x="6172200" y="382524"/>
                  </a:lnTo>
                  <a:lnTo>
                    <a:pt x="6172200" y="306324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9803" y="5186172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50800">
              <a:solidFill>
                <a:srgbClr val="CF0E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22803" y="4754880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50800">
              <a:solidFill>
                <a:srgbClr val="CF0E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2803" y="5013198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22803" y="5273802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2803" y="5532119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37993" y="4757927"/>
              <a:ext cx="375285" cy="425450"/>
            </a:xfrm>
            <a:custGeom>
              <a:avLst/>
              <a:gdLst/>
              <a:ahLst/>
              <a:cxnLst/>
              <a:rect l="l" t="t" r="r" b="b"/>
              <a:pathLst>
                <a:path w="375285" h="425450">
                  <a:moveTo>
                    <a:pt x="0" y="425196"/>
                  </a:moveTo>
                  <a:lnTo>
                    <a:pt x="374903" y="0"/>
                  </a:lnTo>
                </a:path>
              </a:pathLst>
            </a:custGeom>
            <a:ln w="50800">
              <a:solidFill>
                <a:srgbClr val="CF0E3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37993" y="5016245"/>
              <a:ext cx="375285" cy="167005"/>
            </a:xfrm>
            <a:custGeom>
              <a:avLst/>
              <a:gdLst/>
              <a:ahLst/>
              <a:cxnLst/>
              <a:rect l="l" t="t" r="r" b="b"/>
              <a:pathLst>
                <a:path w="375285" h="167004">
                  <a:moveTo>
                    <a:pt x="0" y="166877"/>
                  </a:moveTo>
                  <a:lnTo>
                    <a:pt x="374904" y="0"/>
                  </a:lnTo>
                </a:path>
              </a:pathLst>
            </a:custGeom>
            <a:ln w="25399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41803" y="5193030"/>
              <a:ext cx="374650" cy="339090"/>
            </a:xfrm>
            <a:custGeom>
              <a:avLst/>
              <a:gdLst/>
              <a:ahLst/>
              <a:cxnLst/>
              <a:rect l="l" t="t" r="r" b="b"/>
              <a:pathLst>
                <a:path w="374650" h="339089">
                  <a:moveTo>
                    <a:pt x="0" y="0"/>
                  </a:moveTo>
                  <a:lnTo>
                    <a:pt x="374142" y="80772"/>
                  </a:lnTo>
                </a:path>
                <a:path w="374650" h="339089">
                  <a:moveTo>
                    <a:pt x="0" y="0"/>
                  </a:moveTo>
                  <a:lnTo>
                    <a:pt x="374142" y="33909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84803" y="4760976"/>
              <a:ext cx="374650" cy="425450"/>
            </a:xfrm>
            <a:custGeom>
              <a:avLst/>
              <a:gdLst/>
              <a:ahLst/>
              <a:cxnLst/>
              <a:rect l="l" t="t" r="r" b="b"/>
              <a:pathLst>
                <a:path w="374650" h="425450">
                  <a:moveTo>
                    <a:pt x="0" y="0"/>
                  </a:moveTo>
                  <a:lnTo>
                    <a:pt x="374142" y="425195"/>
                  </a:lnTo>
                </a:path>
              </a:pathLst>
            </a:custGeom>
            <a:ln w="50800">
              <a:solidFill>
                <a:srgbClr val="CF0E3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84803" y="5019294"/>
              <a:ext cx="374650" cy="167005"/>
            </a:xfrm>
            <a:custGeom>
              <a:avLst/>
              <a:gdLst/>
              <a:ahLst/>
              <a:cxnLst/>
              <a:rect l="l" t="t" r="r" b="b"/>
              <a:pathLst>
                <a:path w="374650" h="167004">
                  <a:moveTo>
                    <a:pt x="0" y="0"/>
                  </a:moveTo>
                  <a:lnTo>
                    <a:pt x="374142" y="166877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80993" y="5189219"/>
              <a:ext cx="375285" cy="81915"/>
            </a:xfrm>
            <a:custGeom>
              <a:avLst/>
              <a:gdLst/>
              <a:ahLst/>
              <a:cxnLst/>
              <a:rect l="l" t="t" r="r" b="b"/>
              <a:pathLst>
                <a:path w="375285" h="81914">
                  <a:moveTo>
                    <a:pt x="0" y="81534"/>
                  </a:moveTo>
                  <a:lnTo>
                    <a:pt x="374904" y="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80993" y="5189219"/>
              <a:ext cx="375285" cy="340360"/>
            </a:xfrm>
            <a:custGeom>
              <a:avLst/>
              <a:gdLst/>
              <a:ahLst/>
              <a:cxnLst/>
              <a:rect l="l" t="t" r="r" b="b"/>
              <a:pathLst>
                <a:path w="375285" h="340360">
                  <a:moveTo>
                    <a:pt x="0" y="339852"/>
                  </a:moveTo>
                  <a:lnTo>
                    <a:pt x="374904" y="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65803" y="5186172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50800">
              <a:solidFill>
                <a:srgbClr val="CF0E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08803" y="4754880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08803" y="5013198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08803" y="5273802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08803" y="5532119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3993" y="4757927"/>
              <a:ext cx="375285" cy="425450"/>
            </a:xfrm>
            <a:custGeom>
              <a:avLst/>
              <a:gdLst/>
              <a:ahLst/>
              <a:cxnLst/>
              <a:rect l="l" t="t" r="r" b="b"/>
              <a:pathLst>
                <a:path w="375285" h="425450">
                  <a:moveTo>
                    <a:pt x="0" y="425196"/>
                  </a:moveTo>
                  <a:lnTo>
                    <a:pt x="374903" y="0"/>
                  </a:lnTo>
                </a:path>
                <a:path w="375285" h="425450">
                  <a:moveTo>
                    <a:pt x="0" y="425196"/>
                  </a:moveTo>
                  <a:lnTo>
                    <a:pt x="374904" y="258318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7803" y="5193030"/>
              <a:ext cx="374650" cy="339090"/>
            </a:xfrm>
            <a:custGeom>
              <a:avLst/>
              <a:gdLst/>
              <a:ahLst/>
              <a:cxnLst/>
              <a:rect l="l" t="t" r="r" b="b"/>
              <a:pathLst>
                <a:path w="374650" h="339089">
                  <a:moveTo>
                    <a:pt x="0" y="0"/>
                  </a:moveTo>
                  <a:lnTo>
                    <a:pt x="374142" y="80772"/>
                  </a:lnTo>
                </a:path>
                <a:path w="374650" h="339089">
                  <a:moveTo>
                    <a:pt x="0" y="0"/>
                  </a:moveTo>
                  <a:lnTo>
                    <a:pt x="374142" y="33909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70803" y="4760976"/>
              <a:ext cx="374650" cy="425450"/>
            </a:xfrm>
            <a:custGeom>
              <a:avLst/>
              <a:gdLst/>
              <a:ahLst/>
              <a:cxnLst/>
              <a:rect l="l" t="t" r="r" b="b"/>
              <a:pathLst>
                <a:path w="374650" h="425450">
                  <a:moveTo>
                    <a:pt x="0" y="0"/>
                  </a:moveTo>
                  <a:lnTo>
                    <a:pt x="374142" y="425195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70803" y="5019294"/>
              <a:ext cx="374650" cy="167005"/>
            </a:xfrm>
            <a:custGeom>
              <a:avLst/>
              <a:gdLst/>
              <a:ahLst/>
              <a:cxnLst/>
              <a:rect l="l" t="t" r="r" b="b"/>
              <a:pathLst>
                <a:path w="374650" h="167004">
                  <a:moveTo>
                    <a:pt x="0" y="0"/>
                  </a:moveTo>
                  <a:lnTo>
                    <a:pt x="374142" y="166877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66994" y="5189219"/>
              <a:ext cx="375285" cy="81915"/>
            </a:xfrm>
            <a:custGeom>
              <a:avLst/>
              <a:gdLst/>
              <a:ahLst/>
              <a:cxnLst/>
              <a:rect l="l" t="t" r="r" b="b"/>
              <a:pathLst>
                <a:path w="375285" h="81914">
                  <a:moveTo>
                    <a:pt x="0" y="81533"/>
                  </a:moveTo>
                  <a:lnTo>
                    <a:pt x="374904" y="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66994" y="5189219"/>
              <a:ext cx="375285" cy="340360"/>
            </a:xfrm>
            <a:custGeom>
              <a:avLst/>
              <a:gdLst/>
              <a:ahLst/>
              <a:cxnLst/>
              <a:rect l="l" t="t" r="r" b="b"/>
              <a:pathLst>
                <a:path w="375285" h="340360">
                  <a:moveTo>
                    <a:pt x="0" y="339851"/>
                  </a:moveTo>
                  <a:lnTo>
                    <a:pt x="374904" y="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51803" y="5186172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50800">
              <a:solidFill>
                <a:srgbClr val="CF0E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94803" y="4754880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50800">
              <a:solidFill>
                <a:srgbClr val="CF0E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94803" y="5013198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94803" y="5273802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94803" y="5532119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09994" y="4757927"/>
              <a:ext cx="375285" cy="425450"/>
            </a:xfrm>
            <a:custGeom>
              <a:avLst/>
              <a:gdLst/>
              <a:ahLst/>
              <a:cxnLst/>
              <a:rect l="l" t="t" r="r" b="b"/>
              <a:pathLst>
                <a:path w="375284" h="425450">
                  <a:moveTo>
                    <a:pt x="0" y="425195"/>
                  </a:moveTo>
                  <a:lnTo>
                    <a:pt x="374903" y="0"/>
                  </a:lnTo>
                </a:path>
              </a:pathLst>
            </a:custGeom>
            <a:ln w="50800">
              <a:solidFill>
                <a:srgbClr val="CF0E3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09994" y="5016245"/>
              <a:ext cx="375285" cy="167005"/>
            </a:xfrm>
            <a:custGeom>
              <a:avLst/>
              <a:gdLst/>
              <a:ahLst/>
              <a:cxnLst/>
              <a:rect l="l" t="t" r="r" b="b"/>
              <a:pathLst>
                <a:path w="375284" h="167004">
                  <a:moveTo>
                    <a:pt x="0" y="166878"/>
                  </a:moveTo>
                  <a:lnTo>
                    <a:pt x="374904" y="0"/>
                  </a:lnTo>
                </a:path>
              </a:pathLst>
            </a:custGeom>
            <a:ln w="25399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13803" y="5193030"/>
              <a:ext cx="374650" cy="339090"/>
            </a:xfrm>
            <a:custGeom>
              <a:avLst/>
              <a:gdLst/>
              <a:ahLst/>
              <a:cxnLst/>
              <a:rect l="l" t="t" r="r" b="b"/>
              <a:pathLst>
                <a:path w="374650" h="339089">
                  <a:moveTo>
                    <a:pt x="0" y="0"/>
                  </a:moveTo>
                  <a:lnTo>
                    <a:pt x="374142" y="80771"/>
                  </a:lnTo>
                </a:path>
                <a:path w="374650" h="339089">
                  <a:moveTo>
                    <a:pt x="0" y="0"/>
                  </a:moveTo>
                  <a:lnTo>
                    <a:pt x="374142" y="339089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56803" y="4760976"/>
              <a:ext cx="374650" cy="425450"/>
            </a:xfrm>
            <a:custGeom>
              <a:avLst/>
              <a:gdLst/>
              <a:ahLst/>
              <a:cxnLst/>
              <a:rect l="l" t="t" r="r" b="b"/>
              <a:pathLst>
                <a:path w="374650" h="425450">
                  <a:moveTo>
                    <a:pt x="0" y="0"/>
                  </a:moveTo>
                  <a:lnTo>
                    <a:pt x="374142" y="425195"/>
                  </a:lnTo>
                </a:path>
              </a:pathLst>
            </a:custGeom>
            <a:ln w="50800">
              <a:solidFill>
                <a:srgbClr val="CF0E3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956803" y="5019294"/>
              <a:ext cx="374650" cy="167005"/>
            </a:xfrm>
            <a:custGeom>
              <a:avLst/>
              <a:gdLst/>
              <a:ahLst/>
              <a:cxnLst/>
              <a:rect l="l" t="t" r="r" b="b"/>
              <a:pathLst>
                <a:path w="374650" h="167004">
                  <a:moveTo>
                    <a:pt x="0" y="0"/>
                  </a:moveTo>
                  <a:lnTo>
                    <a:pt x="374142" y="166877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952994" y="5189219"/>
              <a:ext cx="375285" cy="81915"/>
            </a:xfrm>
            <a:custGeom>
              <a:avLst/>
              <a:gdLst/>
              <a:ahLst/>
              <a:cxnLst/>
              <a:rect l="l" t="t" r="r" b="b"/>
              <a:pathLst>
                <a:path w="375284" h="81914">
                  <a:moveTo>
                    <a:pt x="0" y="81534"/>
                  </a:moveTo>
                  <a:lnTo>
                    <a:pt x="374904" y="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952994" y="5189219"/>
              <a:ext cx="375285" cy="340360"/>
            </a:xfrm>
            <a:custGeom>
              <a:avLst/>
              <a:gdLst/>
              <a:ahLst/>
              <a:cxnLst/>
              <a:rect l="l" t="t" r="r" b="b"/>
              <a:pathLst>
                <a:path w="375284" h="340360">
                  <a:moveTo>
                    <a:pt x="0" y="339852"/>
                  </a:moveTo>
                  <a:lnTo>
                    <a:pt x="374904" y="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08803" y="4495800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50800">
              <a:solidFill>
                <a:srgbClr val="CF0E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08803" y="5791200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23993" y="4498847"/>
              <a:ext cx="375285" cy="684530"/>
            </a:xfrm>
            <a:custGeom>
              <a:avLst/>
              <a:gdLst/>
              <a:ahLst/>
              <a:cxnLst/>
              <a:rect l="l" t="t" r="r" b="b"/>
              <a:pathLst>
                <a:path w="375285" h="684529">
                  <a:moveTo>
                    <a:pt x="0" y="684276"/>
                  </a:moveTo>
                  <a:lnTo>
                    <a:pt x="374903" y="0"/>
                  </a:lnTo>
                </a:path>
              </a:pathLst>
            </a:custGeom>
            <a:ln w="50800">
              <a:solidFill>
                <a:srgbClr val="CF0E3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27803" y="5193030"/>
              <a:ext cx="374650" cy="598170"/>
            </a:xfrm>
            <a:custGeom>
              <a:avLst/>
              <a:gdLst/>
              <a:ahLst/>
              <a:cxnLst/>
              <a:rect l="l" t="t" r="r" b="b"/>
              <a:pathLst>
                <a:path w="374650" h="598170">
                  <a:moveTo>
                    <a:pt x="0" y="0"/>
                  </a:moveTo>
                  <a:lnTo>
                    <a:pt x="374142" y="59817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70803" y="4501895"/>
              <a:ext cx="374650" cy="684530"/>
            </a:xfrm>
            <a:custGeom>
              <a:avLst/>
              <a:gdLst/>
              <a:ahLst/>
              <a:cxnLst/>
              <a:rect l="l" t="t" r="r" b="b"/>
              <a:pathLst>
                <a:path w="374650" h="684529">
                  <a:moveTo>
                    <a:pt x="0" y="0"/>
                  </a:moveTo>
                  <a:lnTo>
                    <a:pt x="374142" y="684276"/>
                  </a:lnTo>
                </a:path>
              </a:pathLst>
            </a:custGeom>
            <a:ln w="50799">
              <a:solidFill>
                <a:srgbClr val="CF0E3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66994" y="5189219"/>
              <a:ext cx="375285" cy="599440"/>
            </a:xfrm>
            <a:custGeom>
              <a:avLst/>
              <a:gdLst/>
              <a:ahLst/>
              <a:cxnLst/>
              <a:rect l="l" t="t" r="r" b="b"/>
              <a:pathLst>
                <a:path w="375285" h="599439">
                  <a:moveTo>
                    <a:pt x="0" y="598931"/>
                  </a:moveTo>
                  <a:lnTo>
                    <a:pt x="374903" y="0"/>
                  </a:lnTo>
                </a:path>
              </a:pathLst>
            </a:custGeom>
            <a:ln w="2540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37803" y="5186172"/>
              <a:ext cx="755650" cy="0"/>
            </a:xfrm>
            <a:custGeom>
              <a:avLst/>
              <a:gdLst/>
              <a:ahLst/>
              <a:cxnLst/>
              <a:rect l="l" t="t" r="r" b="b"/>
              <a:pathLst>
                <a:path w="755650">
                  <a:moveTo>
                    <a:pt x="0" y="0"/>
                  </a:moveTo>
                  <a:lnTo>
                    <a:pt x="755142" y="0"/>
                  </a:lnTo>
                </a:path>
              </a:pathLst>
            </a:custGeom>
            <a:ln w="50800">
              <a:solidFill>
                <a:srgbClr val="CF0E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051046" y="3529076"/>
            <a:ext cx="27927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Regions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048000" y="3798570"/>
            <a:ext cx="4572000" cy="468630"/>
            <a:chOff x="3048000" y="3798570"/>
            <a:chExt cx="4572000" cy="468630"/>
          </a:xfrm>
        </p:grpSpPr>
        <p:sp>
          <p:nvSpPr>
            <p:cNvPr id="51" name="object 51"/>
            <p:cNvSpPr/>
            <p:nvPr/>
          </p:nvSpPr>
          <p:spPr>
            <a:xfrm>
              <a:off x="3048000" y="3798569"/>
              <a:ext cx="4572000" cy="468630"/>
            </a:xfrm>
            <a:custGeom>
              <a:avLst/>
              <a:gdLst/>
              <a:ahLst/>
              <a:cxnLst/>
              <a:rect l="l" t="t" r="r" b="b"/>
              <a:pathLst>
                <a:path w="4572000" h="468629">
                  <a:moveTo>
                    <a:pt x="916686" y="17526"/>
                  </a:moveTo>
                  <a:lnTo>
                    <a:pt x="912114" y="5334"/>
                  </a:lnTo>
                  <a:lnTo>
                    <a:pt x="48577" y="365467"/>
                  </a:lnTo>
                  <a:lnTo>
                    <a:pt x="55626" y="327660"/>
                  </a:lnTo>
                  <a:lnTo>
                    <a:pt x="0" y="392430"/>
                  </a:lnTo>
                  <a:lnTo>
                    <a:pt x="44196" y="395592"/>
                  </a:lnTo>
                  <a:lnTo>
                    <a:pt x="85344" y="398526"/>
                  </a:lnTo>
                  <a:lnTo>
                    <a:pt x="53670" y="376999"/>
                  </a:lnTo>
                  <a:lnTo>
                    <a:pt x="916686" y="17526"/>
                  </a:lnTo>
                  <a:close/>
                </a:path>
                <a:path w="4572000" h="468629">
                  <a:moveTo>
                    <a:pt x="4572000" y="468630"/>
                  </a:moveTo>
                  <a:lnTo>
                    <a:pt x="4533138" y="400100"/>
                  </a:lnTo>
                  <a:lnTo>
                    <a:pt x="4533138" y="435102"/>
                  </a:lnTo>
                  <a:lnTo>
                    <a:pt x="4530090" y="439851"/>
                  </a:lnTo>
                  <a:lnTo>
                    <a:pt x="4530090" y="440436"/>
                  </a:lnTo>
                  <a:lnTo>
                    <a:pt x="4529569" y="440639"/>
                  </a:lnTo>
                  <a:lnTo>
                    <a:pt x="4533138" y="435102"/>
                  </a:lnTo>
                  <a:lnTo>
                    <a:pt x="4533138" y="400100"/>
                  </a:lnTo>
                  <a:lnTo>
                    <a:pt x="4530090" y="394716"/>
                  </a:lnTo>
                  <a:lnTo>
                    <a:pt x="4530090" y="433044"/>
                  </a:lnTo>
                  <a:lnTo>
                    <a:pt x="3890010" y="0"/>
                  </a:lnTo>
                  <a:lnTo>
                    <a:pt x="3882390" y="10668"/>
                  </a:lnTo>
                  <a:lnTo>
                    <a:pt x="4522686" y="443344"/>
                  </a:lnTo>
                  <a:lnTo>
                    <a:pt x="4487418" y="457200"/>
                  </a:lnTo>
                  <a:lnTo>
                    <a:pt x="4533138" y="463384"/>
                  </a:lnTo>
                  <a:lnTo>
                    <a:pt x="4572000" y="4686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72100" y="3962400"/>
              <a:ext cx="76200" cy="228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52921" y="3913123"/>
            <a:ext cx="87249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970" algn="just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Master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Thread  in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368552" y="4871465"/>
            <a:ext cx="6499225" cy="786765"/>
            <a:chOff x="1368552" y="4871465"/>
            <a:chExt cx="6499225" cy="786765"/>
          </a:xfrm>
        </p:grpSpPr>
        <p:sp>
          <p:nvSpPr>
            <p:cNvPr id="55" name="object 55"/>
            <p:cNvSpPr/>
            <p:nvPr/>
          </p:nvSpPr>
          <p:spPr>
            <a:xfrm>
              <a:off x="1368552" y="4871465"/>
              <a:ext cx="460375" cy="234315"/>
            </a:xfrm>
            <a:custGeom>
              <a:avLst/>
              <a:gdLst/>
              <a:ahLst/>
              <a:cxnLst/>
              <a:rect l="l" t="t" r="r" b="b"/>
              <a:pathLst>
                <a:path w="460375" h="234314">
                  <a:moveTo>
                    <a:pt x="414528" y="211073"/>
                  </a:moveTo>
                  <a:lnTo>
                    <a:pt x="413663" y="203783"/>
                  </a:lnTo>
                  <a:lnTo>
                    <a:pt x="6096" y="0"/>
                  </a:lnTo>
                  <a:lnTo>
                    <a:pt x="0" y="10668"/>
                  </a:lnTo>
                  <a:lnTo>
                    <a:pt x="407809" y="214949"/>
                  </a:lnTo>
                  <a:lnTo>
                    <a:pt x="414528" y="211073"/>
                  </a:lnTo>
                  <a:close/>
                </a:path>
                <a:path w="460375" h="234314">
                  <a:moveTo>
                    <a:pt x="417576" y="233933"/>
                  </a:moveTo>
                  <a:lnTo>
                    <a:pt x="417576" y="205739"/>
                  </a:lnTo>
                  <a:lnTo>
                    <a:pt x="412242" y="217169"/>
                  </a:lnTo>
                  <a:lnTo>
                    <a:pt x="407809" y="214949"/>
                  </a:lnTo>
                  <a:lnTo>
                    <a:pt x="374904" y="233933"/>
                  </a:lnTo>
                  <a:lnTo>
                    <a:pt x="417576" y="233933"/>
                  </a:lnTo>
                  <a:close/>
                </a:path>
                <a:path w="460375" h="234314">
                  <a:moveTo>
                    <a:pt x="414528" y="212271"/>
                  </a:moveTo>
                  <a:lnTo>
                    <a:pt x="414528" y="211073"/>
                  </a:lnTo>
                  <a:lnTo>
                    <a:pt x="407809" y="214949"/>
                  </a:lnTo>
                  <a:lnTo>
                    <a:pt x="412242" y="217169"/>
                  </a:lnTo>
                  <a:lnTo>
                    <a:pt x="414528" y="212271"/>
                  </a:lnTo>
                  <a:close/>
                </a:path>
                <a:path w="460375" h="234314">
                  <a:moveTo>
                    <a:pt x="460248" y="233933"/>
                  </a:moveTo>
                  <a:lnTo>
                    <a:pt x="409194" y="166115"/>
                  </a:lnTo>
                  <a:lnTo>
                    <a:pt x="413663" y="203783"/>
                  </a:lnTo>
                  <a:lnTo>
                    <a:pt x="417576" y="205739"/>
                  </a:lnTo>
                  <a:lnTo>
                    <a:pt x="417576" y="233933"/>
                  </a:lnTo>
                  <a:lnTo>
                    <a:pt x="460248" y="233933"/>
                  </a:lnTo>
                  <a:close/>
                </a:path>
                <a:path w="460375" h="234314">
                  <a:moveTo>
                    <a:pt x="417576" y="205739"/>
                  </a:moveTo>
                  <a:lnTo>
                    <a:pt x="413663" y="203783"/>
                  </a:lnTo>
                  <a:lnTo>
                    <a:pt x="414528" y="211073"/>
                  </a:lnTo>
                  <a:lnTo>
                    <a:pt x="414528" y="212271"/>
                  </a:lnTo>
                  <a:lnTo>
                    <a:pt x="417576" y="2057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391399" y="5638799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91399" y="5410199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2540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315199" y="54101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ln w="381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772399" y="54101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ln w="381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15199" y="55625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ln w="381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72399" y="55625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ln w="3810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343900" y="3795078"/>
            <a:ext cx="990600" cy="805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Nested</a:t>
            </a:r>
            <a:endParaRPr sz="1800">
              <a:latin typeface="Arial"/>
              <a:cs typeface="Arial"/>
            </a:endParaRPr>
          </a:p>
          <a:p>
            <a:pPr marL="146050" marR="81280" indent="-5715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Parallel  region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153400" y="3657600"/>
            <a:ext cx="1295400" cy="992505"/>
            <a:chOff x="8153400" y="3657600"/>
            <a:chExt cx="1295400" cy="992505"/>
          </a:xfrm>
        </p:grpSpPr>
        <p:sp>
          <p:nvSpPr>
            <p:cNvPr id="64" name="object 64"/>
            <p:cNvSpPr/>
            <p:nvPr/>
          </p:nvSpPr>
          <p:spPr>
            <a:xfrm>
              <a:off x="8229600" y="3733799"/>
              <a:ext cx="1219200" cy="916305"/>
            </a:xfrm>
            <a:custGeom>
              <a:avLst/>
              <a:gdLst/>
              <a:ahLst/>
              <a:cxnLst/>
              <a:rect l="l" t="t" r="r" b="b"/>
              <a:pathLst>
                <a:path w="1219200" h="916304">
                  <a:moveTo>
                    <a:pt x="1219200" y="0"/>
                  </a:moveTo>
                  <a:lnTo>
                    <a:pt x="0" y="0"/>
                  </a:lnTo>
                  <a:lnTo>
                    <a:pt x="0" y="839724"/>
                  </a:lnTo>
                  <a:lnTo>
                    <a:pt x="0" y="915924"/>
                  </a:lnTo>
                  <a:lnTo>
                    <a:pt x="1219200" y="915924"/>
                  </a:lnTo>
                  <a:lnTo>
                    <a:pt x="1219200" y="839724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153400" y="3657600"/>
              <a:ext cx="1219200" cy="916305"/>
            </a:xfrm>
            <a:custGeom>
              <a:avLst/>
              <a:gdLst/>
              <a:ahLst/>
              <a:cxnLst/>
              <a:rect l="l" t="t" r="r" b="b"/>
              <a:pathLst>
                <a:path w="1219200" h="916304">
                  <a:moveTo>
                    <a:pt x="1219200" y="915924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915924"/>
                  </a:lnTo>
                  <a:lnTo>
                    <a:pt x="1219200" y="915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229600" y="3733800"/>
            <a:ext cx="1143000" cy="533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Nested</a:t>
            </a:r>
            <a:endParaRPr sz="18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Parallel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330945" y="4267200"/>
            <a:ext cx="1042035" cy="3067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2000"/>
              </a:lnSpc>
            </a:pPr>
            <a:r>
              <a:rPr sz="1800" b="1" spc="-5" dirty="0">
                <a:latin typeface="Arial"/>
                <a:cs typeface="Arial"/>
              </a:rPr>
              <a:t>region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848600" y="4564379"/>
            <a:ext cx="920750" cy="769620"/>
          </a:xfrm>
          <a:custGeom>
            <a:avLst/>
            <a:gdLst/>
            <a:ahLst/>
            <a:cxnLst/>
            <a:rect l="l" t="t" r="r" b="b"/>
            <a:pathLst>
              <a:path w="920750" h="769620">
                <a:moveTo>
                  <a:pt x="55626" y="756666"/>
                </a:moveTo>
                <a:lnTo>
                  <a:pt x="45250" y="744360"/>
                </a:lnTo>
                <a:lnTo>
                  <a:pt x="35052" y="752855"/>
                </a:lnTo>
                <a:lnTo>
                  <a:pt x="22860" y="737616"/>
                </a:lnTo>
                <a:lnTo>
                  <a:pt x="22860" y="717804"/>
                </a:lnTo>
                <a:lnTo>
                  <a:pt x="0" y="769619"/>
                </a:lnTo>
                <a:lnTo>
                  <a:pt x="22860" y="764296"/>
                </a:lnTo>
                <a:lnTo>
                  <a:pt x="22860" y="737616"/>
                </a:lnTo>
                <a:lnTo>
                  <a:pt x="32672" y="729441"/>
                </a:lnTo>
                <a:lnTo>
                  <a:pt x="32672" y="762011"/>
                </a:lnTo>
                <a:lnTo>
                  <a:pt x="55626" y="756666"/>
                </a:lnTo>
                <a:close/>
              </a:path>
              <a:path w="920750" h="769620">
                <a:moveTo>
                  <a:pt x="45250" y="744360"/>
                </a:moveTo>
                <a:lnTo>
                  <a:pt x="32672" y="729441"/>
                </a:lnTo>
                <a:lnTo>
                  <a:pt x="22860" y="737616"/>
                </a:lnTo>
                <a:lnTo>
                  <a:pt x="35052" y="752855"/>
                </a:lnTo>
                <a:lnTo>
                  <a:pt x="45250" y="744360"/>
                </a:lnTo>
                <a:close/>
              </a:path>
              <a:path w="920750" h="769620">
                <a:moveTo>
                  <a:pt x="920496" y="15239"/>
                </a:moveTo>
                <a:lnTo>
                  <a:pt x="908304" y="0"/>
                </a:lnTo>
                <a:lnTo>
                  <a:pt x="32672" y="729441"/>
                </a:lnTo>
                <a:lnTo>
                  <a:pt x="45250" y="744360"/>
                </a:lnTo>
                <a:lnTo>
                  <a:pt x="920496" y="152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079240" y="6660894"/>
            <a:ext cx="29667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Sequential</a:t>
            </a:r>
            <a:r>
              <a:rPr sz="28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Parts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905000" y="5334000"/>
            <a:ext cx="6858000" cy="1529715"/>
          </a:xfrm>
          <a:custGeom>
            <a:avLst/>
            <a:gdLst/>
            <a:ahLst/>
            <a:cxnLst/>
            <a:rect l="l" t="t" r="r" b="b"/>
            <a:pathLst>
              <a:path w="6858000" h="1529715">
                <a:moveTo>
                  <a:pt x="2213610" y="1518666"/>
                </a:moveTo>
                <a:lnTo>
                  <a:pt x="49263" y="26073"/>
                </a:lnTo>
                <a:lnTo>
                  <a:pt x="84582" y="12192"/>
                </a:lnTo>
                <a:lnTo>
                  <a:pt x="0" y="0"/>
                </a:lnTo>
                <a:lnTo>
                  <a:pt x="38100" y="69151"/>
                </a:lnTo>
                <a:lnTo>
                  <a:pt x="41148" y="74676"/>
                </a:lnTo>
                <a:lnTo>
                  <a:pt x="41770" y="36830"/>
                </a:lnTo>
                <a:lnTo>
                  <a:pt x="2205990" y="1529334"/>
                </a:lnTo>
                <a:lnTo>
                  <a:pt x="2213610" y="1518666"/>
                </a:lnTo>
                <a:close/>
              </a:path>
              <a:path w="6858000" h="1529715">
                <a:moveTo>
                  <a:pt x="2673096" y="1363218"/>
                </a:moveTo>
                <a:lnTo>
                  <a:pt x="2307691" y="127254"/>
                </a:lnTo>
                <a:lnTo>
                  <a:pt x="2343912" y="138684"/>
                </a:lnTo>
                <a:lnTo>
                  <a:pt x="2286000" y="76200"/>
                </a:lnTo>
                <a:lnTo>
                  <a:pt x="2270760" y="160020"/>
                </a:lnTo>
                <a:lnTo>
                  <a:pt x="2294382" y="132168"/>
                </a:lnTo>
                <a:lnTo>
                  <a:pt x="2295614" y="130695"/>
                </a:lnTo>
                <a:lnTo>
                  <a:pt x="2660904" y="1367028"/>
                </a:lnTo>
                <a:lnTo>
                  <a:pt x="2673096" y="1363218"/>
                </a:lnTo>
                <a:close/>
              </a:path>
              <a:path w="6858000" h="1529715">
                <a:moveTo>
                  <a:pt x="4580382" y="160794"/>
                </a:moveTo>
                <a:lnTo>
                  <a:pt x="4572000" y="76212"/>
                </a:lnTo>
                <a:lnTo>
                  <a:pt x="4509516" y="134124"/>
                </a:lnTo>
                <a:lnTo>
                  <a:pt x="4546892" y="125095"/>
                </a:lnTo>
                <a:lnTo>
                  <a:pt x="4108704" y="1287030"/>
                </a:lnTo>
                <a:lnTo>
                  <a:pt x="4120896" y="1291602"/>
                </a:lnTo>
                <a:lnTo>
                  <a:pt x="4558258" y="129832"/>
                </a:lnTo>
                <a:lnTo>
                  <a:pt x="4559808" y="131991"/>
                </a:lnTo>
                <a:lnTo>
                  <a:pt x="4580382" y="160794"/>
                </a:lnTo>
                <a:close/>
              </a:path>
              <a:path w="6858000" h="1529715">
                <a:moveTo>
                  <a:pt x="6858000" y="76200"/>
                </a:moveTo>
                <a:lnTo>
                  <a:pt x="6818427" y="84480"/>
                </a:lnTo>
                <a:lnTo>
                  <a:pt x="6818427" y="108356"/>
                </a:lnTo>
                <a:lnTo>
                  <a:pt x="6817411" y="107149"/>
                </a:lnTo>
                <a:lnTo>
                  <a:pt x="6818376" y="107442"/>
                </a:lnTo>
                <a:lnTo>
                  <a:pt x="6818427" y="108356"/>
                </a:lnTo>
                <a:lnTo>
                  <a:pt x="6818427" y="84480"/>
                </a:lnTo>
                <a:lnTo>
                  <a:pt x="6774180" y="93726"/>
                </a:lnTo>
                <a:lnTo>
                  <a:pt x="6810934" y="105143"/>
                </a:lnTo>
                <a:lnTo>
                  <a:pt x="5025390" y="1512582"/>
                </a:lnTo>
                <a:lnTo>
                  <a:pt x="5033010" y="1522488"/>
                </a:lnTo>
                <a:lnTo>
                  <a:pt x="6818897" y="115366"/>
                </a:lnTo>
                <a:lnTo>
                  <a:pt x="6821424" y="153162"/>
                </a:lnTo>
                <a:lnTo>
                  <a:pt x="6822186" y="151561"/>
                </a:lnTo>
                <a:lnTo>
                  <a:pt x="6858000" y="76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6950" y="992377"/>
            <a:ext cx="65430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Thread </a:t>
            </a:r>
            <a:r>
              <a:rPr sz="3200" spc="-10" dirty="0"/>
              <a:t>Creation: Parallel</a:t>
            </a:r>
            <a:r>
              <a:rPr sz="3200" spc="25" dirty="0"/>
              <a:t> </a:t>
            </a:r>
            <a:r>
              <a:rPr sz="3200" spc="-10" dirty="0"/>
              <a:t>Regions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89101" y="1984501"/>
            <a:ext cx="8636000" cy="13836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marR="241300" indent="-285750">
              <a:lnSpc>
                <a:spcPts val="3160"/>
              </a:lnSpc>
              <a:spcBef>
                <a:spcPts val="3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You create threads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 OpenMP* with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parallel  construct.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4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example,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4 thread Parallel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region: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9400" y="3505199"/>
            <a:ext cx="5638800" cy="2647950"/>
          </a:xfrm>
          <a:custGeom>
            <a:avLst/>
            <a:gdLst/>
            <a:ahLst/>
            <a:cxnLst/>
            <a:rect l="l" t="t" r="r" b="b"/>
            <a:pathLst>
              <a:path w="5638800" h="2647950">
                <a:moveTo>
                  <a:pt x="5638800" y="0"/>
                </a:moveTo>
                <a:lnTo>
                  <a:pt x="0" y="0"/>
                </a:lnTo>
                <a:lnTo>
                  <a:pt x="0" y="1981200"/>
                </a:lnTo>
                <a:lnTo>
                  <a:pt x="0" y="2057400"/>
                </a:lnTo>
                <a:lnTo>
                  <a:pt x="0" y="2647950"/>
                </a:lnTo>
                <a:lnTo>
                  <a:pt x="4114800" y="2647950"/>
                </a:lnTo>
                <a:lnTo>
                  <a:pt x="4114800" y="2057400"/>
                </a:lnTo>
                <a:lnTo>
                  <a:pt x="5638800" y="2057400"/>
                </a:lnTo>
                <a:lnTo>
                  <a:pt x="5638800" y="1981200"/>
                </a:lnTo>
                <a:lnTo>
                  <a:pt x="5638800" y="0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98901" y="3529076"/>
            <a:ext cx="3603625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double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A[1000];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omp_set_num_threads(4);  #pragma omp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3302" y="4989067"/>
            <a:ext cx="435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 ID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omp_get_thread_num();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3302" y="5354066"/>
            <a:ext cx="1584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pooh(ID,A);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8901" y="5719826"/>
            <a:ext cx="12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301" y="6251700"/>
            <a:ext cx="7530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 calls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pooh(ID,A)</a:t>
            </a:r>
            <a:r>
              <a:rPr sz="28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ourier New"/>
                <a:cs typeface="Courier New"/>
              </a:rPr>
              <a:t>ID</a:t>
            </a:r>
            <a:r>
              <a:rPr sz="2800" b="1" spc="-9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sz="2800" b="1" spc="-9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8324" y="3949860"/>
            <a:ext cx="1368425" cy="217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10"/>
              </a:lnSpc>
            </a:pPr>
            <a:r>
              <a:rPr sz="2000" spc="-5" dirty="0">
                <a:latin typeface="Arial"/>
                <a:cs typeface="Arial"/>
              </a:rPr>
              <a:t>Each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</a:t>
            </a:r>
            <a:endParaRPr sz="2000">
              <a:latin typeface="Arial"/>
              <a:cs typeface="Arial"/>
            </a:endParaRPr>
          </a:p>
          <a:p>
            <a:pPr marL="35560" marR="27940" algn="ctr">
              <a:lnSpc>
                <a:spcPct val="100000"/>
              </a:lnSpc>
              <a:tabLst>
                <a:tab pos="1190625" algn="l"/>
              </a:tabLst>
            </a:pPr>
            <a:r>
              <a:rPr sz="2000" spc="-10" dirty="0">
                <a:latin typeface="Arial"/>
                <a:cs typeface="Arial"/>
              </a:rPr>
              <a:t>execute</a:t>
            </a:r>
            <a:r>
              <a:rPr sz="2000" spc="-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a  copy 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41275" marR="33655" algn="ctr">
              <a:lnSpc>
                <a:spcPct val="101400"/>
              </a:lnSpc>
              <a:spcBef>
                <a:spcPts val="345"/>
              </a:spcBef>
            </a:pPr>
            <a:r>
              <a:rPr sz="2000" spc="-5" dirty="0">
                <a:latin typeface="Arial"/>
                <a:cs typeface="Arial"/>
              </a:rPr>
              <a:t>code within  </a:t>
            </a:r>
            <a:r>
              <a:rPr sz="2000" spc="-10" dirty="0">
                <a:latin typeface="Arial"/>
                <a:cs typeface="Arial"/>
              </a:rPr>
              <a:t>the   structured  </a:t>
            </a:r>
            <a:r>
              <a:rPr sz="2000" spc="-5" dirty="0">
                <a:latin typeface="Arial"/>
                <a:cs typeface="Arial"/>
              </a:rPr>
              <a:t>block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8200" y="3810000"/>
            <a:ext cx="1752600" cy="2362200"/>
            <a:chOff x="838200" y="3810000"/>
            <a:chExt cx="1752600" cy="2362200"/>
          </a:xfrm>
        </p:grpSpPr>
        <p:sp>
          <p:nvSpPr>
            <p:cNvPr id="13" name="object 13"/>
            <p:cNvSpPr/>
            <p:nvPr/>
          </p:nvSpPr>
          <p:spPr>
            <a:xfrm>
              <a:off x="914400" y="3886199"/>
              <a:ext cx="1676400" cy="2286000"/>
            </a:xfrm>
            <a:custGeom>
              <a:avLst/>
              <a:gdLst/>
              <a:ahLst/>
              <a:cxnLst/>
              <a:rect l="l" t="t" r="r" b="b"/>
              <a:pathLst>
                <a:path w="1676400" h="2286000">
                  <a:moveTo>
                    <a:pt x="1676400" y="0"/>
                  </a:moveTo>
                  <a:lnTo>
                    <a:pt x="0" y="0"/>
                  </a:lnTo>
                  <a:lnTo>
                    <a:pt x="0" y="2209800"/>
                  </a:lnTo>
                  <a:lnTo>
                    <a:pt x="0" y="2286000"/>
                  </a:lnTo>
                  <a:lnTo>
                    <a:pt x="1676400" y="2286000"/>
                  </a:lnTo>
                  <a:lnTo>
                    <a:pt x="1676400" y="22098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8200" y="3810000"/>
              <a:ext cx="1676400" cy="2286000"/>
            </a:xfrm>
            <a:custGeom>
              <a:avLst/>
              <a:gdLst/>
              <a:ahLst/>
              <a:cxnLst/>
              <a:rect l="l" t="t" r="r" b="b"/>
              <a:pathLst>
                <a:path w="1676400" h="2286000">
                  <a:moveTo>
                    <a:pt x="1676400" y="2286000"/>
                  </a:moveTo>
                  <a:lnTo>
                    <a:pt x="1676400" y="0"/>
                  </a:lnTo>
                  <a:lnTo>
                    <a:pt x="0" y="0"/>
                  </a:lnTo>
                  <a:lnTo>
                    <a:pt x="0" y="2286000"/>
                  </a:lnTo>
                  <a:lnTo>
                    <a:pt x="1676400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14400" y="3886200"/>
            <a:ext cx="1600200" cy="2209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R="68580" algn="ctr">
              <a:lnSpc>
                <a:spcPts val="2110"/>
              </a:lnSpc>
            </a:pPr>
            <a:r>
              <a:rPr sz="2000" spc="-5" dirty="0">
                <a:latin typeface="Arial"/>
                <a:cs typeface="Arial"/>
              </a:rPr>
              <a:t>Each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</a:t>
            </a:r>
            <a:endParaRPr sz="2000">
              <a:latin typeface="Arial"/>
              <a:cs typeface="Arial"/>
            </a:endParaRPr>
          </a:p>
          <a:p>
            <a:pPr marL="113030" marR="182245" algn="ctr">
              <a:lnSpc>
                <a:spcPct val="100000"/>
              </a:lnSpc>
              <a:tabLst>
                <a:tab pos="1268730" algn="l"/>
              </a:tabLst>
            </a:pPr>
            <a:r>
              <a:rPr sz="2000" spc="-10" dirty="0">
                <a:latin typeface="Arial"/>
                <a:cs typeface="Arial"/>
              </a:rPr>
              <a:t>execute</a:t>
            </a:r>
            <a:r>
              <a:rPr sz="2000" spc="-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a  copy 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119380" marR="188595" algn="ctr">
              <a:lnSpc>
                <a:spcPct val="101400"/>
              </a:lnSpc>
              <a:spcBef>
                <a:spcPts val="345"/>
              </a:spcBef>
            </a:pPr>
            <a:r>
              <a:rPr sz="2000" spc="-5" dirty="0">
                <a:latin typeface="Arial"/>
                <a:cs typeface="Arial"/>
              </a:rPr>
              <a:t>code within  </a:t>
            </a:r>
            <a:r>
              <a:rPr sz="2000" spc="-10" dirty="0">
                <a:latin typeface="Arial"/>
                <a:cs typeface="Arial"/>
              </a:rPr>
              <a:t>the   structured  </a:t>
            </a:r>
            <a:r>
              <a:rPr sz="2000" spc="-5" dirty="0">
                <a:latin typeface="Arial"/>
                <a:cs typeface="Arial"/>
              </a:rPr>
              <a:t>block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31206" y="3645086"/>
            <a:ext cx="2185670" cy="8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10" dirty="0">
                <a:latin typeface="Arial"/>
                <a:cs typeface="Arial"/>
              </a:rPr>
              <a:t>Runtime function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  <a:p>
            <a:pPr marR="12128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request a </a:t>
            </a:r>
            <a:r>
              <a:rPr sz="2000" spc="-10" dirty="0">
                <a:latin typeface="Arial"/>
                <a:cs typeface="Arial"/>
              </a:rPr>
              <a:t>certain  number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162800" y="3505200"/>
            <a:ext cx="2439035" cy="1083310"/>
            <a:chOff x="7162800" y="3505200"/>
            <a:chExt cx="2439035" cy="1083310"/>
          </a:xfrm>
        </p:grpSpPr>
        <p:sp>
          <p:nvSpPr>
            <p:cNvPr id="18" name="object 18"/>
            <p:cNvSpPr/>
            <p:nvPr/>
          </p:nvSpPr>
          <p:spPr>
            <a:xfrm>
              <a:off x="7239000" y="4511802"/>
              <a:ext cx="2362835" cy="76200"/>
            </a:xfrm>
            <a:custGeom>
              <a:avLst/>
              <a:gdLst/>
              <a:ahLst/>
              <a:cxnLst/>
              <a:rect l="l" t="t" r="r" b="b"/>
              <a:pathLst>
                <a:path w="2362834" h="76200">
                  <a:moveTo>
                    <a:pt x="0" y="76200"/>
                  </a:moveTo>
                  <a:lnTo>
                    <a:pt x="2362580" y="76200"/>
                  </a:lnTo>
                  <a:lnTo>
                    <a:pt x="236258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62800" y="3505200"/>
              <a:ext cx="2438400" cy="1007110"/>
            </a:xfrm>
            <a:custGeom>
              <a:avLst/>
              <a:gdLst/>
              <a:ahLst/>
              <a:cxnLst/>
              <a:rect l="l" t="t" r="r" b="b"/>
              <a:pathLst>
                <a:path w="2438400" h="1007110">
                  <a:moveTo>
                    <a:pt x="2438400" y="1006601"/>
                  </a:moveTo>
                  <a:lnTo>
                    <a:pt x="2438400" y="0"/>
                  </a:lnTo>
                  <a:lnTo>
                    <a:pt x="0" y="0"/>
                  </a:lnTo>
                  <a:lnTo>
                    <a:pt x="0" y="1006601"/>
                  </a:lnTo>
                  <a:lnTo>
                    <a:pt x="2438400" y="1006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42302" y="3532123"/>
            <a:ext cx="2211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Runtime function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42302" y="3836923"/>
            <a:ext cx="191388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request 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certain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42302" y="4141723"/>
            <a:ext cx="20815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29400" y="3943350"/>
            <a:ext cx="536575" cy="121920"/>
          </a:xfrm>
          <a:custGeom>
            <a:avLst/>
            <a:gdLst/>
            <a:ahLst/>
            <a:cxnLst/>
            <a:rect l="l" t="t" r="r" b="b"/>
            <a:pathLst>
              <a:path w="536575" h="121920">
                <a:moveTo>
                  <a:pt x="72847" y="65880"/>
                </a:moveTo>
                <a:lnTo>
                  <a:pt x="70104" y="46482"/>
                </a:lnTo>
                <a:lnTo>
                  <a:pt x="0" y="95250"/>
                </a:lnTo>
                <a:lnTo>
                  <a:pt x="54102" y="113113"/>
                </a:lnTo>
                <a:lnTo>
                  <a:pt x="54102" y="68580"/>
                </a:lnTo>
                <a:lnTo>
                  <a:pt x="72847" y="65880"/>
                </a:lnTo>
                <a:close/>
              </a:path>
              <a:path w="536575" h="121920">
                <a:moveTo>
                  <a:pt x="78133" y="103259"/>
                </a:moveTo>
                <a:lnTo>
                  <a:pt x="72847" y="65880"/>
                </a:lnTo>
                <a:lnTo>
                  <a:pt x="54102" y="68580"/>
                </a:lnTo>
                <a:lnTo>
                  <a:pt x="59436" y="105918"/>
                </a:lnTo>
                <a:lnTo>
                  <a:pt x="78133" y="103259"/>
                </a:lnTo>
                <a:close/>
              </a:path>
              <a:path w="536575" h="121920">
                <a:moveTo>
                  <a:pt x="80772" y="121920"/>
                </a:moveTo>
                <a:lnTo>
                  <a:pt x="78133" y="103259"/>
                </a:lnTo>
                <a:lnTo>
                  <a:pt x="59436" y="105918"/>
                </a:lnTo>
                <a:lnTo>
                  <a:pt x="54102" y="68580"/>
                </a:lnTo>
                <a:lnTo>
                  <a:pt x="54102" y="113113"/>
                </a:lnTo>
                <a:lnTo>
                  <a:pt x="80772" y="121920"/>
                </a:lnTo>
                <a:close/>
              </a:path>
              <a:path w="536575" h="121920">
                <a:moveTo>
                  <a:pt x="536448" y="38100"/>
                </a:moveTo>
                <a:lnTo>
                  <a:pt x="530352" y="0"/>
                </a:lnTo>
                <a:lnTo>
                  <a:pt x="72847" y="65880"/>
                </a:lnTo>
                <a:lnTo>
                  <a:pt x="78133" y="103259"/>
                </a:lnTo>
                <a:lnTo>
                  <a:pt x="536448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102602" y="5626260"/>
            <a:ext cx="2324735" cy="588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5" dirty="0">
                <a:latin typeface="Arial"/>
                <a:cs typeface="Arial"/>
              </a:rPr>
              <a:t>Runtime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returning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thread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34200" y="5486400"/>
            <a:ext cx="2667635" cy="778510"/>
            <a:chOff x="6934200" y="5486400"/>
            <a:chExt cx="2667635" cy="778510"/>
          </a:xfrm>
        </p:grpSpPr>
        <p:sp>
          <p:nvSpPr>
            <p:cNvPr id="26" name="object 26"/>
            <p:cNvSpPr/>
            <p:nvPr/>
          </p:nvSpPr>
          <p:spPr>
            <a:xfrm>
              <a:off x="7010400" y="6188201"/>
              <a:ext cx="2591435" cy="76200"/>
            </a:xfrm>
            <a:custGeom>
              <a:avLst/>
              <a:gdLst/>
              <a:ahLst/>
              <a:cxnLst/>
              <a:rect l="l" t="t" r="r" b="b"/>
              <a:pathLst>
                <a:path w="2591434" h="76200">
                  <a:moveTo>
                    <a:pt x="0" y="76200"/>
                  </a:moveTo>
                  <a:lnTo>
                    <a:pt x="2591180" y="76200"/>
                  </a:lnTo>
                  <a:lnTo>
                    <a:pt x="259118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34200" y="5486400"/>
              <a:ext cx="2667000" cy="702310"/>
            </a:xfrm>
            <a:custGeom>
              <a:avLst/>
              <a:gdLst/>
              <a:ahLst/>
              <a:cxnLst/>
              <a:rect l="l" t="t" r="r" b="b"/>
              <a:pathLst>
                <a:path w="2667000" h="702310">
                  <a:moveTo>
                    <a:pt x="2667000" y="701801"/>
                  </a:moveTo>
                  <a:lnTo>
                    <a:pt x="2667000" y="0"/>
                  </a:lnTo>
                  <a:lnTo>
                    <a:pt x="0" y="0"/>
                  </a:lnTo>
                  <a:lnTo>
                    <a:pt x="0" y="701801"/>
                  </a:lnTo>
                  <a:lnTo>
                    <a:pt x="2667000" y="701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013702" y="5513323"/>
            <a:ext cx="192976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Runtime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13702" y="5818123"/>
            <a:ext cx="2350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returning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thread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00800" y="5486400"/>
            <a:ext cx="462915" cy="312420"/>
          </a:xfrm>
          <a:custGeom>
            <a:avLst/>
            <a:gdLst/>
            <a:ahLst/>
            <a:cxnLst/>
            <a:rect l="l" t="t" r="r" b="b"/>
            <a:pathLst>
              <a:path w="462915" h="312420">
                <a:moveTo>
                  <a:pt x="84581" y="10667"/>
                </a:moveTo>
                <a:lnTo>
                  <a:pt x="0" y="0"/>
                </a:lnTo>
                <a:lnTo>
                  <a:pt x="41909" y="73913"/>
                </a:lnTo>
                <a:lnTo>
                  <a:pt x="47243" y="66008"/>
                </a:lnTo>
                <a:lnTo>
                  <a:pt x="47243" y="43433"/>
                </a:lnTo>
                <a:lnTo>
                  <a:pt x="57911" y="27431"/>
                </a:lnTo>
                <a:lnTo>
                  <a:pt x="68506" y="34494"/>
                </a:lnTo>
                <a:lnTo>
                  <a:pt x="84581" y="10667"/>
                </a:lnTo>
                <a:close/>
              </a:path>
              <a:path w="462915" h="312420">
                <a:moveTo>
                  <a:pt x="68506" y="34494"/>
                </a:moveTo>
                <a:lnTo>
                  <a:pt x="57911" y="27431"/>
                </a:lnTo>
                <a:lnTo>
                  <a:pt x="47243" y="43433"/>
                </a:lnTo>
                <a:lnTo>
                  <a:pt x="57758" y="50423"/>
                </a:lnTo>
                <a:lnTo>
                  <a:pt x="68506" y="34494"/>
                </a:lnTo>
                <a:close/>
              </a:path>
              <a:path w="462915" h="312420">
                <a:moveTo>
                  <a:pt x="57758" y="50423"/>
                </a:moveTo>
                <a:lnTo>
                  <a:pt x="47243" y="43433"/>
                </a:lnTo>
                <a:lnTo>
                  <a:pt x="47243" y="66008"/>
                </a:lnTo>
                <a:lnTo>
                  <a:pt x="57758" y="50423"/>
                </a:lnTo>
                <a:close/>
              </a:path>
              <a:path w="462915" h="312420">
                <a:moveTo>
                  <a:pt x="462533" y="297179"/>
                </a:moveTo>
                <a:lnTo>
                  <a:pt x="68506" y="34494"/>
                </a:lnTo>
                <a:lnTo>
                  <a:pt x="57758" y="50423"/>
                </a:lnTo>
                <a:lnTo>
                  <a:pt x="451865" y="312419"/>
                </a:lnTo>
                <a:lnTo>
                  <a:pt x="462533" y="297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31083" y="7093711"/>
            <a:ext cx="45472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*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“OpenMP”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property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OpenMP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Architecture Review</a:t>
            </a: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Board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6950" y="957326"/>
            <a:ext cx="7367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Thread </a:t>
            </a:r>
            <a:r>
              <a:rPr sz="3600" spc="-5" dirty="0"/>
              <a:t>Creation: </a:t>
            </a:r>
            <a:r>
              <a:rPr sz="3600" dirty="0"/>
              <a:t>Parallel</a:t>
            </a:r>
            <a:r>
              <a:rPr sz="3600" spc="-90" dirty="0"/>
              <a:t> </a:t>
            </a:r>
            <a:r>
              <a:rPr sz="3600" spc="-5" dirty="0"/>
              <a:t>Regions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2819400" y="3505199"/>
            <a:ext cx="5638800" cy="2647950"/>
          </a:xfrm>
          <a:custGeom>
            <a:avLst/>
            <a:gdLst/>
            <a:ahLst/>
            <a:cxnLst/>
            <a:rect l="l" t="t" r="r" b="b"/>
            <a:pathLst>
              <a:path w="5638800" h="2647950">
                <a:moveTo>
                  <a:pt x="5638800" y="0"/>
                </a:moveTo>
                <a:lnTo>
                  <a:pt x="0" y="0"/>
                </a:lnTo>
                <a:lnTo>
                  <a:pt x="0" y="473202"/>
                </a:lnTo>
                <a:lnTo>
                  <a:pt x="0" y="549402"/>
                </a:lnTo>
                <a:lnTo>
                  <a:pt x="0" y="1981200"/>
                </a:lnTo>
                <a:lnTo>
                  <a:pt x="0" y="2057400"/>
                </a:lnTo>
                <a:lnTo>
                  <a:pt x="0" y="2647950"/>
                </a:lnTo>
                <a:lnTo>
                  <a:pt x="4114800" y="2647950"/>
                </a:lnTo>
                <a:lnTo>
                  <a:pt x="4114800" y="2057400"/>
                </a:lnTo>
                <a:lnTo>
                  <a:pt x="5638800" y="2057400"/>
                </a:lnTo>
                <a:lnTo>
                  <a:pt x="5638800" y="1981200"/>
                </a:lnTo>
                <a:lnTo>
                  <a:pt x="5638800" y="549402"/>
                </a:lnTo>
                <a:lnTo>
                  <a:pt x="5638800" y="473202"/>
                </a:lnTo>
                <a:lnTo>
                  <a:pt x="5638800" y="0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98901" y="3529076"/>
            <a:ext cx="2162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double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A[1000];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8901" y="4259071"/>
            <a:ext cx="526859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#pragma omp parallel</a:t>
            </a:r>
            <a:r>
              <a:rPr sz="24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num_threads(4)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926465">
              <a:lnSpc>
                <a:spcPts val="2875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 ID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omp_get_thread_num();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3302" y="5354066"/>
            <a:ext cx="1584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pooh(ID,A);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8901" y="5719826"/>
            <a:ext cx="12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301" y="6251700"/>
            <a:ext cx="7530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 calls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pooh(ID,A)</a:t>
            </a:r>
            <a:r>
              <a:rPr sz="28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ourier New"/>
                <a:cs typeface="Courier New"/>
              </a:rPr>
              <a:t>ID</a:t>
            </a:r>
            <a:r>
              <a:rPr sz="2800" b="1" spc="-9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sz="2800" b="1" spc="-9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8324" y="3949860"/>
            <a:ext cx="1368425" cy="217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10"/>
              </a:lnSpc>
            </a:pPr>
            <a:r>
              <a:rPr sz="2000" spc="-5" dirty="0">
                <a:latin typeface="Arial"/>
                <a:cs typeface="Arial"/>
              </a:rPr>
              <a:t>Each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</a:t>
            </a:r>
            <a:endParaRPr sz="2000">
              <a:latin typeface="Arial"/>
              <a:cs typeface="Arial"/>
            </a:endParaRPr>
          </a:p>
          <a:p>
            <a:pPr marL="35560" marR="27940" algn="ctr">
              <a:lnSpc>
                <a:spcPct val="100000"/>
              </a:lnSpc>
              <a:tabLst>
                <a:tab pos="1190625" algn="l"/>
              </a:tabLst>
            </a:pPr>
            <a:r>
              <a:rPr sz="2000" spc="-10" dirty="0">
                <a:latin typeface="Arial"/>
                <a:cs typeface="Arial"/>
              </a:rPr>
              <a:t>execute</a:t>
            </a:r>
            <a:r>
              <a:rPr sz="2000" spc="-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a  copy 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41275" marR="33655" algn="ctr">
              <a:lnSpc>
                <a:spcPct val="101400"/>
              </a:lnSpc>
              <a:spcBef>
                <a:spcPts val="345"/>
              </a:spcBef>
            </a:pPr>
            <a:r>
              <a:rPr sz="2000" spc="-5" dirty="0">
                <a:latin typeface="Arial"/>
                <a:cs typeface="Arial"/>
              </a:rPr>
              <a:t>code within  </a:t>
            </a:r>
            <a:r>
              <a:rPr sz="2000" spc="-10" dirty="0">
                <a:latin typeface="Arial"/>
                <a:cs typeface="Arial"/>
              </a:rPr>
              <a:t>the   structured  </a:t>
            </a:r>
            <a:r>
              <a:rPr sz="2000" spc="-5" dirty="0">
                <a:latin typeface="Arial"/>
                <a:cs typeface="Arial"/>
              </a:rPr>
              <a:t>block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8200" y="3810000"/>
            <a:ext cx="1752600" cy="2362200"/>
            <a:chOff x="838200" y="3810000"/>
            <a:chExt cx="1752600" cy="2362200"/>
          </a:xfrm>
        </p:grpSpPr>
        <p:sp>
          <p:nvSpPr>
            <p:cNvPr id="12" name="object 12"/>
            <p:cNvSpPr/>
            <p:nvPr/>
          </p:nvSpPr>
          <p:spPr>
            <a:xfrm>
              <a:off x="914400" y="3886199"/>
              <a:ext cx="1676400" cy="2286000"/>
            </a:xfrm>
            <a:custGeom>
              <a:avLst/>
              <a:gdLst/>
              <a:ahLst/>
              <a:cxnLst/>
              <a:rect l="l" t="t" r="r" b="b"/>
              <a:pathLst>
                <a:path w="1676400" h="2286000">
                  <a:moveTo>
                    <a:pt x="1676400" y="0"/>
                  </a:moveTo>
                  <a:lnTo>
                    <a:pt x="0" y="0"/>
                  </a:lnTo>
                  <a:lnTo>
                    <a:pt x="0" y="2209800"/>
                  </a:lnTo>
                  <a:lnTo>
                    <a:pt x="0" y="2286000"/>
                  </a:lnTo>
                  <a:lnTo>
                    <a:pt x="1676400" y="2286000"/>
                  </a:lnTo>
                  <a:lnTo>
                    <a:pt x="1676400" y="22098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8200" y="3810000"/>
              <a:ext cx="1676400" cy="2286000"/>
            </a:xfrm>
            <a:custGeom>
              <a:avLst/>
              <a:gdLst/>
              <a:ahLst/>
              <a:cxnLst/>
              <a:rect l="l" t="t" r="r" b="b"/>
              <a:pathLst>
                <a:path w="1676400" h="2286000">
                  <a:moveTo>
                    <a:pt x="1676400" y="2286000"/>
                  </a:moveTo>
                  <a:lnTo>
                    <a:pt x="1676400" y="0"/>
                  </a:lnTo>
                  <a:lnTo>
                    <a:pt x="0" y="0"/>
                  </a:lnTo>
                  <a:lnTo>
                    <a:pt x="0" y="2286000"/>
                  </a:lnTo>
                  <a:lnTo>
                    <a:pt x="1676400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4400" y="3886200"/>
            <a:ext cx="1600200" cy="2209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R="68580" algn="ctr">
              <a:lnSpc>
                <a:spcPts val="2110"/>
              </a:lnSpc>
            </a:pPr>
            <a:r>
              <a:rPr sz="2000" spc="-5" dirty="0">
                <a:latin typeface="Arial"/>
                <a:cs typeface="Arial"/>
              </a:rPr>
              <a:t>Each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</a:t>
            </a:r>
            <a:endParaRPr sz="2000">
              <a:latin typeface="Arial"/>
              <a:cs typeface="Arial"/>
            </a:endParaRPr>
          </a:p>
          <a:p>
            <a:pPr marL="113030" marR="182245" algn="ctr">
              <a:lnSpc>
                <a:spcPct val="100000"/>
              </a:lnSpc>
              <a:tabLst>
                <a:tab pos="1268730" algn="l"/>
              </a:tabLst>
            </a:pPr>
            <a:r>
              <a:rPr sz="2000" spc="-10" dirty="0">
                <a:latin typeface="Arial"/>
                <a:cs typeface="Arial"/>
              </a:rPr>
              <a:t>execute</a:t>
            </a:r>
            <a:r>
              <a:rPr sz="2000" spc="-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a  copy 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119380" marR="188595" algn="ctr">
              <a:lnSpc>
                <a:spcPct val="101400"/>
              </a:lnSpc>
              <a:spcBef>
                <a:spcPts val="345"/>
              </a:spcBef>
            </a:pPr>
            <a:r>
              <a:rPr sz="2000" spc="-5" dirty="0">
                <a:latin typeface="Arial"/>
                <a:cs typeface="Arial"/>
              </a:rPr>
              <a:t>code within  </a:t>
            </a:r>
            <a:r>
              <a:rPr sz="2000" spc="-10" dirty="0">
                <a:latin typeface="Arial"/>
                <a:cs typeface="Arial"/>
              </a:rPr>
              <a:t>the   structured  </a:t>
            </a:r>
            <a:r>
              <a:rPr sz="2000" spc="-5" dirty="0">
                <a:latin typeface="Arial"/>
                <a:cs typeface="Arial"/>
              </a:rPr>
              <a:t>block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6807" y="3416486"/>
            <a:ext cx="2974340" cy="588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10" dirty="0">
                <a:latin typeface="Arial"/>
                <a:cs typeface="Arial"/>
              </a:rPr>
              <a:t>clause </a:t>
            </a:r>
            <a:r>
              <a:rPr sz="2000" spc="-5" dirty="0">
                <a:latin typeface="Arial"/>
                <a:cs typeface="Arial"/>
              </a:rPr>
              <a:t>to </a:t>
            </a:r>
            <a:r>
              <a:rPr sz="2000" spc="-10" dirty="0">
                <a:latin typeface="Arial"/>
                <a:cs typeface="Arial"/>
              </a:rPr>
              <a:t>request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certain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0" dirty="0">
                <a:latin typeface="Arial"/>
                <a:cs typeface="Arial"/>
              </a:rPr>
              <a:t> threads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48400" y="3276600"/>
            <a:ext cx="3353435" cy="778510"/>
            <a:chOff x="6248400" y="3276600"/>
            <a:chExt cx="3353435" cy="778510"/>
          </a:xfrm>
        </p:grpSpPr>
        <p:sp>
          <p:nvSpPr>
            <p:cNvPr id="17" name="object 17"/>
            <p:cNvSpPr/>
            <p:nvPr/>
          </p:nvSpPr>
          <p:spPr>
            <a:xfrm>
              <a:off x="6324600" y="3978401"/>
              <a:ext cx="3277235" cy="76200"/>
            </a:xfrm>
            <a:custGeom>
              <a:avLst/>
              <a:gdLst/>
              <a:ahLst/>
              <a:cxnLst/>
              <a:rect l="l" t="t" r="r" b="b"/>
              <a:pathLst>
                <a:path w="3277234" h="76200">
                  <a:moveTo>
                    <a:pt x="0" y="76200"/>
                  </a:moveTo>
                  <a:lnTo>
                    <a:pt x="3276980" y="76200"/>
                  </a:lnTo>
                  <a:lnTo>
                    <a:pt x="327698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48400" y="3276600"/>
              <a:ext cx="3352800" cy="702310"/>
            </a:xfrm>
            <a:custGeom>
              <a:avLst/>
              <a:gdLst/>
              <a:ahLst/>
              <a:cxnLst/>
              <a:rect l="l" t="t" r="r" b="b"/>
              <a:pathLst>
                <a:path w="3352800" h="702310">
                  <a:moveTo>
                    <a:pt x="3352800" y="701801"/>
                  </a:moveTo>
                  <a:lnTo>
                    <a:pt x="3352800" y="0"/>
                  </a:lnTo>
                  <a:lnTo>
                    <a:pt x="0" y="0"/>
                  </a:lnTo>
                  <a:lnTo>
                    <a:pt x="0" y="701801"/>
                  </a:lnTo>
                  <a:lnTo>
                    <a:pt x="3352800" y="701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89101" y="1768093"/>
            <a:ext cx="8638540" cy="18656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marR="243840" indent="-285750">
              <a:lnSpc>
                <a:spcPts val="3160"/>
              </a:lnSpc>
              <a:spcBef>
                <a:spcPts val="3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You create threads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 OpenMP* with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parallel  construct.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4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example,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4 thread Parallel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region:</a:t>
            </a:r>
            <a:endParaRPr sz="2800">
              <a:latin typeface="Arial"/>
              <a:cs typeface="Arial"/>
            </a:endParaRPr>
          </a:p>
          <a:p>
            <a:pPr marL="5651500">
              <a:lnSpc>
                <a:spcPct val="100000"/>
              </a:lnSpc>
              <a:spcBef>
                <a:spcPts val="1385"/>
              </a:spcBef>
            </a:pPr>
            <a:r>
              <a:rPr sz="2000" spc="-10" dirty="0">
                <a:latin typeface="Arial"/>
                <a:cs typeface="Arial"/>
              </a:rPr>
              <a:t>clause </a:t>
            </a:r>
            <a:r>
              <a:rPr sz="2000" spc="-5" dirty="0">
                <a:latin typeface="Arial"/>
                <a:cs typeface="Arial"/>
              </a:rPr>
              <a:t>to </a:t>
            </a:r>
            <a:r>
              <a:rPr sz="2000" spc="-10" dirty="0">
                <a:latin typeface="Arial"/>
                <a:cs typeface="Arial"/>
              </a:rPr>
              <a:t>request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certain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27902" y="3608323"/>
            <a:ext cx="20815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91400" y="3947159"/>
            <a:ext cx="393700" cy="320040"/>
          </a:xfrm>
          <a:custGeom>
            <a:avLst/>
            <a:gdLst/>
            <a:ahLst/>
            <a:cxnLst/>
            <a:rect l="l" t="t" r="r" b="b"/>
            <a:pathLst>
              <a:path w="393700" h="320039">
                <a:moveTo>
                  <a:pt x="47844" y="257644"/>
                </a:moveTo>
                <a:lnTo>
                  <a:pt x="35814" y="242315"/>
                </a:lnTo>
                <a:lnTo>
                  <a:pt x="0" y="320039"/>
                </a:lnTo>
                <a:lnTo>
                  <a:pt x="32766" y="313126"/>
                </a:lnTo>
                <a:lnTo>
                  <a:pt x="32766" y="269747"/>
                </a:lnTo>
                <a:lnTo>
                  <a:pt x="47844" y="257644"/>
                </a:lnTo>
                <a:close/>
              </a:path>
              <a:path w="393700" h="320039">
                <a:moveTo>
                  <a:pt x="71295" y="287526"/>
                </a:moveTo>
                <a:lnTo>
                  <a:pt x="47844" y="257644"/>
                </a:lnTo>
                <a:lnTo>
                  <a:pt x="32766" y="269747"/>
                </a:lnTo>
                <a:lnTo>
                  <a:pt x="56388" y="299465"/>
                </a:lnTo>
                <a:lnTo>
                  <a:pt x="71295" y="287526"/>
                </a:lnTo>
                <a:close/>
              </a:path>
              <a:path w="393700" h="320039">
                <a:moveTo>
                  <a:pt x="83058" y="302513"/>
                </a:moveTo>
                <a:lnTo>
                  <a:pt x="71295" y="287526"/>
                </a:lnTo>
                <a:lnTo>
                  <a:pt x="56388" y="299465"/>
                </a:lnTo>
                <a:lnTo>
                  <a:pt x="32766" y="269747"/>
                </a:lnTo>
                <a:lnTo>
                  <a:pt x="32766" y="313126"/>
                </a:lnTo>
                <a:lnTo>
                  <a:pt x="83058" y="302513"/>
                </a:lnTo>
                <a:close/>
              </a:path>
              <a:path w="393700" h="320039">
                <a:moveTo>
                  <a:pt x="393192" y="29717"/>
                </a:moveTo>
                <a:lnTo>
                  <a:pt x="368808" y="0"/>
                </a:lnTo>
                <a:lnTo>
                  <a:pt x="47844" y="257644"/>
                </a:lnTo>
                <a:lnTo>
                  <a:pt x="71295" y="287526"/>
                </a:lnTo>
                <a:lnTo>
                  <a:pt x="393192" y="297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02602" y="5626260"/>
            <a:ext cx="2324735" cy="588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5" dirty="0">
                <a:latin typeface="Arial"/>
                <a:cs typeface="Arial"/>
              </a:rPr>
              <a:t>Runtime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returning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thread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34200" y="5486400"/>
            <a:ext cx="2667635" cy="778510"/>
            <a:chOff x="6934200" y="5486400"/>
            <a:chExt cx="2667635" cy="778510"/>
          </a:xfrm>
        </p:grpSpPr>
        <p:sp>
          <p:nvSpPr>
            <p:cNvPr id="24" name="object 24"/>
            <p:cNvSpPr/>
            <p:nvPr/>
          </p:nvSpPr>
          <p:spPr>
            <a:xfrm>
              <a:off x="7010400" y="6188201"/>
              <a:ext cx="2591435" cy="76200"/>
            </a:xfrm>
            <a:custGeom>
              <a:avLst/>
              <a:gdLst/>
              <a:ahLst/>
              <a:cxnLst/>
              <a:rect l="l" t="t" r="r" b="b"/>
              <a:pathLst>
                <a:path w="2591434" h="76200">
                  <a:moveTo>
                    <a:pt x="0" y="76200"/>
                  </a:moveTo>
                  <a:lnTo>
                    <a:pt x="2591180" y="76200"/>
                  </a:lnTo>
                  <a:lnTo>
                    <a:pt x="259118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34200" y="5486400"/>
              <a:ext cx="2667000" cy="702310"/>
            </a:xfrm>
            <a:custGeom>
              <a:avLst/>
              <a:gdLst/>
              <a:ahLst/>
              <a:cxnLst/>
              <a:rect l="l" t="t" r="r" b="b"/>
              <a:pathLst>
                <a:path w="2667000" h="702310">
                  <a:moveTo>
                    <a:pt x="2667000" y="701801"/>
                  </a:moveTo>
                  <a:lnTo>
                    <a:pt x="2667000" y="0"/>
                  </a:lnTo>
                  <a:lnTo>
                    <a:pt x="0" y="0"/>
                  </a:lnTo>
                  <a:lnTo>
                    <a:pt x="0" y="701801"/>
                  </a:lnTo>
                  <a:lnTo>
                    <a:pt x="2667000" y="701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013702" y="5513323"/>
            <a:ext cx="192976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Runtime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13702" y="5818123"/>
            <a:ext cx="2350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returning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thread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00800" y="5486400"/>
            <a:ext cx="462915" cy="312420"/>
          </a:xfrm>
          <a:custGeom>
            <a:avLst/>
            <a:gdLst/>
            <a:ahLst/>
            <a:cxnLst/>
            <a:rect l="l" t="t" r="r" b="b"/>
            <a:pathLst>
              <a:path w="462915" h="312420">
                <a:moveTo>
                  <a:pt x="84581" y="10667"/>
                </a:moveTo>
                <a:lnTo>
                  <a:pt x="0" y="0"/>
                </a:lnTo>
                <a:lnTo>
                  <a:pt x="41909" y="73913"/>
                </a:lnTo>
                <a:lnTo>
                  <a:pt x="47243" y="66008"/>
                </a:lnTo>
                <a:lnTo>
                  <a:pt x="47243" y="43433"/>
                </a:lnTo>
                <a:lnTo>
                  <a:pt x="57911" y="27431"/>
                </a:lnTo>
                <a:lnTo>
                  <a:pt x="68506" y="34494"/>
                </a:lnTo>
                <a:lnTo>
                  <a:pt x="84581" y="10667"/>
                </a:lnTo>
                <a:close/>
              </a:path>
              <a:path w="462915" h="312420">
                <a:moveTo>
                  <a:pt x="68506" y="34494"/>
                </a:moveTo>
                <a:lnTo>
                  <a:pt x="57911" y="27431"/>
                </a:lnTo>
                <a:lnTo>
                  <a:pt x="47243" y="43433"/>
                </a:lnTo>
                <a:lnTo>
                  <a:pt x="57758" y="50423"/>
                </a:lnTo>
                <a:lnTo>
                  <a:pt x="68506" y="34494"/>
                </a:lnTo>
                <a:close/>
              </a:path>
              <a:path w="462915" h="312420">
                <a:moveTo>
                  <a:pt x="57758" y="50423"/>
                </a:moveTo>
                <a:lnTo>
                  <a:pt x="47243" y="43433"/>
                </a:lnTo>
                <a:lnTo>
                  <a:pt x="47243" y="66008"/>
                </a:lnTo>
                <a:lnTo>
                  <a:pt x="57758" y="50423"/>
                </a:lnTo>
                <a:close/>
              </a:path>
              <a:path w="462915" h="312420">
                <a:moveTo>
                  <a:pt x="462533" y="297179"/>
                </a:moveTo>
                <a:lnTo>
                  <a:pt x="68506" y="34494"/>
                </a:lnTo>
                <a:lnTo>
                  <a:pt x="57758" y="50423"/>
                </a:lnTo>
                <a:lnTo>
                  <a:pt x="451865" y="312419"/>
                </a:lnTo>
                <a:lnTo>
                  <a:pt x="462533" y="297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831083" y="7105766"/>
            <a:ext cx="4547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*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“OpenMP”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property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OpenMP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Architecture Review</a:t>
            </a: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Board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425" y="827785"/>
            <a:ext cx="82791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Thread </a:t>
            </a:r>
            <a:r>
              <a:rPr sz="3200" spc="-10" dirty="0"/>
              <a:t>Creation: Parallel Regions</a:t>
            </a:r>
            <a:r>
              <a:rPr sz="3200" spc="50" dirty="0"/>
              <a:t> </a:t>
            </a:r>
            <a:r>
              <a:rPr sz="3200" spc="-10" dirty="0"/>
              <a:t>example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7577" y="2214626"/>
            <a:ext cx="3985895" cy="7340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 marR="5080" indent="-285750">
              <a:lnSpc>
                <a:spcPts val="2700"/>
              </a:lnSpc>
              <a:spcBef>
                <a:spcPts val="34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Each thread executes the  same code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redundantly.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0600" y="2057400"/>
            <a:ext cx="4648200" cy="2680335"/>
          </a:xfrm>
          <a:prstGeom prst="rect">
            <a:avLst/>
          </a:prstGeom>
          <a:solidFill>
            <a:srgbClr val="002086"/>
          </a:solidFill>
        </p:spPr>
        <p:txBody>
          <a:bodyPr vert="horz" wrap="square" lIns="0" tIns="6985" rIns="0" bIns="0" rtlCol="0">
            <a:spAutoFit/>
          </a:bodyPr>
          <a:lstStyle/>
          <a:p>
            <a:pPr marL="433070" marR="1232535">
              <a:lnSpc>
                <a:spcPct val="110000"/>
              </a:lnSpc>
              <a:spcBef>
                <a:spcPts val="5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double A[1000]; 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omp_set_num_threads(4);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#pragma omp parallel</a:t>
            </a:r>
            <a:endParaRPr sz="200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713740" marR="321310" indent="6350">
              <a:lnSpc>
                <a:spcPct val="100000"/>
              </a:lnSpc>
              <a:spcBef>
                <a:spcPts val="47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int ID =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omp_get_thread_num();  pooh(ID, A);</a:t>
            </a:r>
            <a:endParaRPr sz="200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printf(“all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done\n”);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3448" y="4101846"/>
            <a:ext cx="0" cy="302260"/>
          </a:xfrm>
          <a:custGeom>
            <a:avLst/>
            <a:gdLst/>
            <a:ahLst/>
            <a:cxnLst/>
            <a:rect l="l" t="t" r="r" b="b"/>
            <a:pathLst>
              <a:path h="302260">
                <a:moveTo>
                  <a:pt x="0" y="0"/>
                </a:moveTo>
                <a:lnTo>
                  <a:pt x="0" y="301752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4576" y="4391659"/>
            <a:ext cx="29298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omp_set_num_threads(4)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99129" y="4813553"/>
            <a:ext cx="4368800" cy="529590"/>
            <a:chOff x="3199129" y="4813553"/>
            <a:chExt cx="4368800" cy="529590"/>
          </a:xfrm>
        </p:grpSpPr>
        <p:sp>
          <p:nvSpPr>
            <p:cNvPr id="8" name="object 8"/>
            <p:cNvSpPr/>
            <p:nvPr/>
          </p:nvSpPr>
          <p:spPr>
            <a:xfrm>
              <a:off x="3211829" y="4813553"/>
              <a:ext cx="0" cy="529590"/>
            </a:xfrm>
            <a:custGeom>
              <a:avLst/>
              <a:gdLst/>
              <a:ahLst/>
              <a:cxnLst/>
              <a:rect l="l" t="t" r="r" b="b"/>
              <a:pathLst>
                <a:path h="529589">
                  <a:moveTo>
                    <a:pt x="0" y="0"/>
                  </a:moveTo>
                  <a:lnTo>
                    <a:pt x="0" y="52959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14877" y="5038343"/>
              <a:ext cx="4340860" cy="0"/>
            </a:xfrm>
            <a:custGeom>
              <a:avLst/>
              <a:gdLst/>
              <a:ahLst/>
              <a:cxnLst/>
              <a:rect l="l" t="t" r="r" b="b"/>
              <a:pathLst>
                <a:path w="4340859">
                  <a:moveTo>
                    <a:pt x="0" y="0"/>
                  </a:moveTo>
                  <a:lnTo>
                    <a:pt x="434035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12029" y="5042153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h="300989">
                  <a:moveTo>
                    <a:pt x="0" y="0"/>
                  </a:moveTo>
                  <a:lnTo>
                    <a:pt x="0" y="30099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59829" y="5042153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h="300989">
                  <a:moveTo>
                    <a:pt x="0" y="0"/>
                  </a:moveTo>
                  <a:lnTo>
                    <a:pt x="0" y="30099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55229" y="5042153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h="300989">
                  <a:moveTo>
                    <a:pt x="0" y="0"/>
                  </a:moveTo>
                  <a:lnTo>
                    <a:pt x="0" y="30099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57547" y="5407405"/>
            <a:ext cx="11398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pooh(1,A)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7983" y="5407405"/>
            <a:ext cx="11398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pooh(2,A)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2218" y="5407405"/>
            <a:ext cx="11398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pooh(3,A)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6176" y="5765546"/>
            <a:ext cx="4368800" cy="708660"/>
            <a:chOff x="3186176" y="5765546"/>
            <a:chExt cx="4368800" cy="708660"/>
          </a:xfrm>
        </p:grpSpPr>
        <p:sp>
          <p:nvSpPr>
            <p:cNvPr id="17" name="object 17"/>
            <p:cNvSpPr/>
            <p:nvPr/>
          </p:nvSpPr>
          <p:spPr>
            <a:xfrm>
              <a:off x="3198876" y="5778246"/>
              <a:ext cx="0" cy="683260"/>
            </a:xfrm>
            <a:custGeom>
              <a:avLst/>
              <a:gdLst/>
              <a:ahLst/>
              <a:cxnLst/>
              <a:rect l="l" t="t" r="r" b="b"/>
              <a:pathLst>
                <a:path h="683260">
                  <a:moveTo>
                    <a:pt x="0" y="0"/>
                  </a:moveTo>
                  <a:lnTo>
                    <a:pt x="0" y="682752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1924" y="6156198"/>
              <a:ext cx="4340860" cy="0"/>
            </a:xfrm>
            <a:custGeom>
              <a:avLst/>
              <a:gdLst/>
              <a:ahLst/>
              <a:cxnLst/>
              <a:rect l="l" t="t" r="r" b="b"/>
              <a:pathLst>
                <a:path w="4340859">
                  <a:moveTo>
                    <a:pt x="0" y="0"/>
                  </a:moveTo>
                  <a:lnTo>
                    <a:pt x="4340352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99076" y="5778246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h="378460">
                  <a:moveTo>
                    <a:pt x="0" y="0"/>
                  </a:moveTo>
                  <a:lnTo>
                    <a:pt x="0" y="377952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46876" y="5778246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h="378460">
                  <a:moveTo>
                    <a:pt x="0" y="0"/>
                  </a:moveTo>
                  <a:lnTo>
                    <a:pt x="0" y="377952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13101" y="6427723"/>
            <a:ext cx="20967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printf(“all done\n”);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542276" y="5778246"/>
            <a:ext cx="0" cy="378460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0"/>
                </a:moveTo>
                <a:lnTo>
                  <a:pt x="0" y="377952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683255" y="5407405"/>
            <a:ext cx="11398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pooh(0,A)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2913" y="3641841"/>
            <a:ext cx="18046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double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A[1000];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03448" y="3352800"/>
            <a:ext cx="0" cy="302260"/>
          </a:xfrm>
          <a:custGeom>
            <a:avLst/>
            <a:gdLst/>
            <a:ahLst/>
            <a:cxnLst/>
            <a:rect l="l" t="t" r="r" b="b"/>
            <a:pathLst>
              <a:path h="302260">
                <a:moveTo>
                  <a:pt x="0" y="0"/>
                </a:moveTo>
                <a:lnTo>
                  <a:pt x="0" y="301752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05255" y="5027232"/>
            <a:ext cx="1231900" cy="1353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single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copy </a:t>
            </a:r>
            <a:r>
              <a:rPr sz="1800" b="1" dirty="0">
                <a:latin typeface="Arial"/>
                <a:cs typeface="Arial"/>
              </a:rPr>
              <a:t>of A  is </a:t>
            </a:r>
            <a:r>
              <a:rPr sz="1800" b="1" spc="-5" dirty="0">
                <a:latin typeface="Arial"/>
                <a:cs typeface="Arial"/>
              </a:rPr>
              <a:t>shared  between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all  </a:t>
            </a:r>
            <a:r>
              <a:rPr sz="1800" b="1" dirty="0">
                <a:latin typeface="Arial"/>
                <a:cs typeface="Arial"/>
              </a:rPr>
              <a:t>threads.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36854" y="4889753"/>
            <a:ext cx="1524000" cy="1541780"/>
            <a:chOff x="736854" y="4889753"/>
            <a:chExt cx="1524000" cy="1541780"/>
          </a:xfrm>
        </p:grpSpPr>
        <p:sp>
          <p:nvSpPr>
            <p:cNvPr id="28" name="object 28"/>
            <p:cNvSpPr/>
            <p:nvPr/>
          </p:nvSpPr>
          <p:spPr>
            <a:xfrm>
              <a:off x="813054" y="4965953"/>
              <a:ext cx="1447800" cy="1465580"/>
            </a:xfrm>
            <a:custGeom>
              <a:avLst/>
              <a:gdLst/>
              <a:ahLst/>
              <a:cxnLst/>
              <a:rect l="l" t="t" r="r" b="b"/>
              <a:pathLst>
                <a:path w="1447800" h="1465579">
                  <a:moveTo>
                    <a:pt x="1447800" y="0"/>
                  </a:moveTo>
                  <a:lnTo>
                    <a:pt x="0" y="0"/>
                  </a:lnTo>
                  <a:lnTo>
                    <a:pt x="0" y="1389126"/>
                  </a:lnTo>
                  <a:lnTo>
                    <a:pt x="0" y="1465326"/>
                  </a:lnTo>
                  <a:lnTo>
                    <a:pt x="1447800" y="1465326"/>
                  </a:lnTo>
                  <a:lnTo>
                    <a:pt x="1447800" y="1389126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6854" y="4889753"/>
              <a:ext cx="1447800" cy="1465580"/>
            </a:xfrm>
            <a:custGeom>
              <a:avLst/>
              <a:gdLst/>
              <a:ahLst/>
              <a:cxnLst/>
              <a:rect l="l" t="t" r="r" b="b"/>
              <a:pathLst>
                <a:path w="1447800" h="1465579">
                  <a:moveTo>
                    <a:pt x="1447800" y="1465326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1465326"/>
                  </a:lnTo>
                  <a:lnTo>
                    <a:pt x="1447800" y="1465326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16355" y="4916678"/>
            <a:ext cx="125730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 single  </a:t>
            </a:r>
            <a:r>
              <a:rPr sz="1800" b="1" spc="-5" dirty="0">
                <a:latin typeface="Arial"/>
                <a:cs typeface="Arial"/>
              </a:rPr>
              <a:t>copy </a:t>
            </a:r>
            <a:r>
              <a:rPr sz="1800" b="1" dirty="0">
                <a:latin typeface="Arial"/>
                <a:cs typeface="Arial"/>
              </a:rPr>
              <a:t>of A  is </a:t>
            </a:r>
            <a:r>
              <a:rPr sz="1800" b="1" spc="-5" dirty="0">
                <a:latin typeface="Arial"/>
                <a:cs typeface="Arial"/>
              </a:rPr>
              <a:t>shared  between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all  </a:t>
            </a:r>
            <a:r>
              <a:rPr sz="1800" b="1" dirty="0">
                <a:latin typeface="Arial"/>
                <a:cs typeface="Arial"/>
              </a:rPr>
              <a:t>threads.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92802" y="6538276"/>
            <a:ext cx="4178300" cy="575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dirty="0">
                <a:latin typeface="Arial"/>
                <a:cs typeface="Arial"/>
              </a:rPr>
              <a:t>Threads wait here </a:t>
            </a:r>
            <a:r>
              <a:rPr sz="1800" b="1" spc="-5" dirty="0">
                <a:latin typeface="Arial"/>
                <a:cs typeface="Arial"/>
              </a:rPr>
              <a:t>for all threads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finish </a:t>
            </a:r>
            <a:r>
              <a:rPr sz="1800" b="1" dirty="0">
                <a:latin typeface="Arial"/>
                <a:cs typeface="Arial"/>
              </a:rPr>
              <a:t>before proceeding </a:t>
            </a:r>
            <a:r>
              <a:rPr sz="1800" b="1" spc="-5" dirty="0">
                <a:latin typeface="Arial"/>
                <a:cs typeface="Arial"/>
              </a:rPr>
              <a:t>(i.e.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i="1" spc="-110" dirty="0">
                <a:latin typeface="Arial"/>
                <a:cs typeface="Arial"/>
              </a:rPr>
              <a:t>barrier</a:t>
            </a:r>
            <a:r>
              <a:rPr sz="2100" spc="-165" baseline="-17857" dirty="0">
                <a:solidFill>
                  <a:srgbClr val="FFFFFF"/>
                </a:solidFill>
                <a:latin typeface="Arial"/>
                <a:cs typeface="Arial"/>
              </a:rPr>
              <a:t>17  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286000" y="5620511"/>
            <a:ext cx="304800" cy="100965"/>
          </a:xfrm>
          <a:custGeom>
            <a:avLst/>
            <a:gdLst/>
            <a:ahLst/>
            <a:cxnLst/>
            <a:rect l="l" t="t" r="r" b="b"/>
            <a:pathLst>
              <a:path w="304800" h="100964">
                <a:moveTo>
                  <a:pt x="255270" y="30480"/>
                </a:moveTo>
                <a:lnTo>
                  <a:pt x="249689" y="25407"/>
                </a:lnTo>
                <a:lnTo>
                  <a:pt x="0" y="88392"/>
                </a:lnTo>
                <a:lnTo>
                  <a:pt x="3048" y="100584"/>
                </a:lnTo>
                <a:lnTo>
                  <a:pt x="252775" y="37589"/>
                </a:lnTo>
                <a:lnTo>
                  <a:pt x="255270" y="30480"/>
                </a:lnTo>
                <a:close/>
              </a:path>
              <a:path w="304800" h="100964">
                <a:moveTo>
                  <a:pt x="304800" y="18288"/>
                </a:moveTo>
                <a:lnTo>
                  <a:pt x="221742" y="0"/>
                </a:lnTo>
                <a:lnTo>
                  <a:pt x="249689" y="25407"/>
                </a:lnTo>
                <a:lnTo>
                  <a:pt x="253746" y="24384"/>
                </a:lnTo>
                <a:lnTo>
                  <a:pt x="256794" y="36576"/>
                </a:lnTo>
                <a:lnTo>
                  <a:pt x="256794" y="59516"/>
                </a:lnTo>
                <a:lnTo>
                  <a:pt x="304800" y="18288"/>
                </a:lnTo>
                <a:close/>
              </a:path>
              <a:path w="304800" h="100964">
                <a:moveTo>
                  <a:pt x="256794" y="59516"/>
                </a:moveTo>
                <a:lnTo>
                  <a:pt x="256794" y="36576"/>
                </a:lnTo>
                <a:lnTo>
                  <a:pt x="252775" y="37589"/>
                </a:lnTo>
                <a:lnTo>
                  <a:pt x="240029" y="73914"/>
                </a:lnTo>
                <a:lnTo>
                  <a:pt x="256794" y="59516"/>
                </a:lnTo>
                <a:close/>
              </a:path>
              <a:path w="304800" h="100964">
                <a:moveTo>
                  <a:pt x="255270" y="30480"/>
                </a:moveTo>
                <a:lnTo>
                  <a:pt x="253746" y="24384"/>
                </a:lnTo>
                <a:lnTo>
                  <a:pt x="249689" y="25407"/>
                </a:lnTo>
                <a:lnTo>
                  <a:pt x="255270" y="30480"/>
                </a:lnTo>
                <a:close/>
              </a:path>
              <a:path w="304800" h="100964">
                <a:moveTo>
                  <a:pt x="256794" y="36576"/>
                </a:moveTo>
                <a:lnTo>
                  <a:pt x="255270" y="30480"/>
                </a:lnTo>
                <a:lnTo>
                  <a:pt x="252775" y="37589"/>
                </a:lnTo>
                <a:lnTo>
                  <a:pt x="256794" y="365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4724400" y="6400800"/>
            <a:ext cx="4648200" cy="718185"/>
            <a:chOff x="4724400" y="6400800"/>
            <a:chExt cx="4648200" cy="718185"/>
          </a:xfrm>
        </p:grpSpPr>
        <p:sp>
          <p:nvSpPr>
            <p:cNvPr id="34" name="object 34"/>
            <p:cNvSpPr/>
            <p:nvPr/>
          </p:nvSpPr>
          <p:spPr>
            <a:xfrm>
              <a:off x="4800600" y="6476999"/>
              <a:ext cx="4572000" cy="641985"/>
            </a:xfrm>
            <a:custGeom>
              <a:avLst/>
              <a:gdLst/>
              <a:ahLst/>
              <a:cxnLst/>
              <a:rect l="l" t="t" r="r" b="b"/>
              <a:pathLst>
                <a:path w="4572000" h="641984">
                  <a:moveTo>
                    <a:pt x="4572000" y="0"/>
                  </a:moveTo>
                  <a:lnTo>
                    <a:pt x="0" y="0"/>
                  </a:lnTo>
                  <a:lnTo>
                    <a:pt x="0" y="565404"/>
                  </a:lnTo>
                  <a:lnTo>
                    <a:pt x="0" y="641604"/>
                  </a:lnTo>
                  <a:lnTo>
                    <a:pt x="4572000" y="641604"/>
                  </a:lnTo>
                  <a:lnTo>
                    <a:pt x="4572000" y="565404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24400" y="6400800"/>
              <a:ext cx="4572000" cy="641985"/>
            </a:xfrm>
            <a:custGeom>
              <a:avLst/>
              <a:gdLst/>
              <a:ahLst/>
              <a:cxnLst/>
              <a:rect l="l" t="t" r="r" b="b"/>
              <a:pathLst>
                <a:path w="4572000" h="641984">
                  <a:moveTo>
                    <a:pt x="4571999" y="641604"/>
                  </a:moveTo>
                  <a:lnTo>
                    <a:pt x="4571999" y="0"/>
                  </a:lnTo>
                  <a:lnTo>
                    <a:pt x="0" y="0"/>
                  </a:lnTo>
                  <a:lnTo>
                    <a:pt x="0" y="641604"/>
                  </a:lnTo>
                  <a:lnTo>
                    <a:pt x="4571999" y="64160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03902" y="6427722"/>
            <a:ext cx="4203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Threads wait here </a:t>
            </a:r>
            <a:r>
              <a:rPr sz="1800" b="1" spc="-5" dirty="0">
                <a:latin typeface="Arial"/>
                <a:cs typeface="Arial"/>
              </a:rPr>
              <a:t>for all threads to  finish </a:t>
            </a:r>
            <a:r>
              <a:rPr sz="1800" b="1" dirty="0">
                <a:latin typeface="Arial"/>
                <a:cs typeface="Arial"/>
              </a:rPr>
              <a:t>before proceeding </a:t>
            </a:r>
            <a:r>
              <a:rPr sz="1800" b="1" spc="-5" dirty="0">
                <a:latin typeface="Arial"/>
                <a:cs typeface="Arial"/>
              </a:rPr>
              <a:t>(i.e.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barrier</a:t>
            </a:r>
            <a:r>
              <a:rPr sz="1800" b="1" spc="-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276600" y="6163817"/>
            <a:ext cx="1374140" cy="471805"/>
          </a:xfrm>
          <a:custGeom>
            <a:avLst/>
            <a:gdLst/>
            <a:ahLst/>
            <a:cxnLst/>
            <a:rect l="l" t="t" r="r" b="b"/>
            <a:pathLst>
              <a:path w="1374139" h="471804">
                <a:moveTo>
                  <a:pt x="56387" y="0"/>
                </a:moveTo>
                <a:lnTo>
                  <a:pt x="0" y="8381"/>
                </a:lnTo>
                <a:lnTo>
                  <a:pt x="34289" y="42671"/>
                </a:lnTo>
                <a:lnTo>
                  <a:pt x="34289" y="26669"/>
                </a:lnTo>
                <a:lnTo>
                  <a:pt x="38100" y="14477"/>
                </a:lnTo>
                <a:lnTo>
                  <a:pt x="50303" y="18543"/>
                </a:lnTo>
                <a:lnTo>
                  <a:pt x="56387" y="0"/>
                </a:lnTo>
                <a:close/>
              </a:path>
              <a:path w="1374139" h="471804">
                <a:moveTo>
                  <a:pt x="50303" y="18543"/>
                </a:moveTo>
                <a:lnTo>
                  <a:pt x="38100" y="14477"/>
                </a:lnTo>
                <a:lnTo>
                  <a:pt x="34289" y="26669"/>
                </a:lnTo>
                <a:lnTo>
                  <a:pt x="46321" y="30680"/>
                </a:lnTo>
                <a:lnTo>
                  <a:pt x="50303" y="18543"/>
                </a:lnTo>
                <a:close/>
              </a:path>
              <a:path w="1374139" h="471804">
                <a:moveTo>
                  <a:pt x="46321" y="30680"/>
                </a:moveTo>
                <a:lnTo>
                  <a:pt x="34289" y="26669"/>
                </a:lnTo>
                <a:lnTo>
                  <a:pt x="34289" y="42671"/>
                </a:lnTo>
                <a:lnTo>
                  <a:pt x="40385" y="48767"/>
                </a:lnTo>
                <a:lnTo>
                  <a:pt x="46321" y="30680"/>
                </a:lnTo>
                <a:close/>
              </a:path>
              <a:path w="1374139" h="471804">
                <a:moveTo>
                  <a:pt x="1373886" y="459485"/>
                </a:moveTo>
                <a:lnTo>
                  <a:pt x="50303" y="18543"/>
                </a:lnTo>
                <a:lnTo>
                  <a:pt x="46321" y="30680"/>
                </a:lnTo>
                <a:lnTo>
                  <a:pt x="1369314" y="471677"/>
                </a:lnTo>
                <a:lnTo>
                  <a:pt x="1373886" y="4594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831083" y="7105766"/>
            <a:ext cx="4547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*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“OpenMP”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property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the OpenMP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Architecture Review</a:t>
            </a: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Board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33137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6858000"/>
                </a:move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close/>
              </a:path>
            </a:pathLst>
          </a:custGeom>
          <a:solidFill>
            <a:srgbClr val="002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5802" y="609092"/>
            <a:ext cx="4197985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75"/>
              </a:lnSpc>
              <a:spcBef>
                <a:spcPts val="100"/>
              </a:spcBef>
            </a:pPr>
            <a:r>
              <a:rPr sz="3600" b="1" spc="-5" dirty="0">
                <a:solidFill>
                  <a:srgbClr val="F5C300"/>
                </a:solidFill>
                <a:latin typeface="Arial"/>
                <a:cs typeface="Arial"/>
              </a:rPr>
              <a:t>Ex</a:t>
            </a:r>
            <a:r>
              <a:rPr lang="en-CA" sz="3600" b="1" spc="-5" dirty="0">
                <a:solidFill>
                  <a:srgbClr val="F5C300"/>
                </a:solidFill>
                <a:latin typeface="Arial"/>
                <a:cs typeface="Arial"/>
              </a:rPr>
              <a:t>ample</a:t>
            </a:r>
            <a:r>
              <a:rPr sz="3600" b="1" spc="-5" dirty="0">
                <a:solidFill>
                  <a:srgbClr val="F5C3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5C300"/>
                </a:solidFill>
                <a:latin typeface="Arial"/>
                <a:cs typeface="Arial"/>
              </a:rPr>
              <a:t>2</a:t>
            </a:r>
            <a:r>
              <a:rPr sz="3600" b="1" spc="-5" dirty="0">
                <a:solidFill>
                  <a:srgbClr val="F5C300"/>
                </a:solidFill>
                <a:latin typeface="Arial"/>
                <a:cs typeface="Arial"/>
              </a:rPr>
              <a:t>:</a:t>
            </a:r>
            <a:endParaRPr sz="3600" dirty="0">
              <a:latin typeface="Arial"/>
              <a:cs typeface="Arial"/>
            </a:endParaRPr>
          </a:p>
          <a:p>
            <a:pPr marL="12700">
              <a:lnSpc>
                <a:spcPts val="3595"/>
              </a:lnSpc>
            </a:pPr>
            <a:r>
              <a:rPr sz="3200" b="1" spc="-10" dirty="0">
                <a:solidFill>
                  <a:srgbClr val="51DC00"/>
                </a:solidFill>
                <a:latin typeface="Arial"/>
                <a:cs typeface="Arial"/>
              </a:rPr>
              <a:t>Numerical</a:t>
            </a:r>
            <a:r>
              <a:rPr sz="3200" b="1" spc="-20" dirty="0">
                <a:solidFill>
                  <a:srgbClr val="51DC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1DC00"/>
                </a:solidFill>
                <a:latin typeface="Arial"/>
                <a:cs typeface="Arial"/>
              </a:rPr>
              <a:t>Integration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23102" y="2279396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  <a:latin typeface="Symbol"/>
                <a:cs typeface="Symbol"/>
              </a:rPr>
              <a:t></a:t>
            </a:r>
            <a:endParaRPr sz="48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2316" y="2297683"/>
            <a:ext cx="378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4.0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5381" y="2693933"/>
            <a:ext cx="7537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(1+x</a:t>
            </a:r>
            <a:r>
              <a:rPr sz="1950" spc="-7" baseline="2564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00800" y="26670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94702" y="2466848"/>
            <a:ext cx="777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dx =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23102" y="2999486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73902" y="4825238"/>
            <a:ext cx="1894839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sz="4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F(x</a:t>
            </a:r>
            <a:r>
              <a:rPr sz="1950" baseline="-21367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lang="en-CA" sz="2000" dirty="0">
                <a:solidFill>
                  <a:srgbClr val="FFFFFF"/>
                </a:solidFill>
                <a:latin typeface="Symbol"/>
                <a:cs typeface="Arial"/>
              </a:rPr>
              <a:t>d</a:t>
            </a:r>
            <a:r>
              <a:rPr sz="200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2800" b="1" spc="-5" dirty="0">
                <a:solidFill>
                  <a:srgbClr val="FFFFFF"/>
                </a:solidFill>
                <a:latin typeface="Symbol"/>
                <a:cs typeface="Symbol"/>
              </a:rPr>
              <a:t>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50" dirty="0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endParaRPr sz="2800" dirty="0">
              <a:latin typeface="Symbol"/>
              <a:cs typeface="Symbol"/>
            </a:endParaRPr>
          </a:p>
          <a:p>
            <a:pPr marL="80645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 =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7898" y="4675894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4902" y="1547876"/>
            <a:ext cx="4092575" cy="77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Mathematically, we know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that:</a:t>
            </a:r>
            <a:endParaRPr sz="2400">
              <a:latin typeface="Arial"/>
              <a:cs typeface="Arial"/>
            </a:endParaRPr>
          </a:p>
          <a:p>
            <a:pPr marL="850900">
              <a:lnSpc>
                <a:spcPct val="100000"/>
              </a:lnSpc>
              <a:spcBef>
                <a:spcPts val="134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4902" y="3376676"/>
            <a:ext cx="332803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We can approximate the  integral as a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sum of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rectangles: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4902" y="5815076"/>
            <a:ext cx="3583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Where each rectangle has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3297" y="6362952"/>
            <a:ext cx="711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4902" y="6185408"/>
            <a:ext cx="3678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width </a:t>
            </a:r>
            <a:r>
              <a:rPr lang="en-CA" sz="2400" spc="20" dirty="0">
                <a:solidFill>
                  <a:srgbClr val="FFFFFF"/>
                </a:solidFill>
                <a:latin typeface="Symbol"/>
                <a:cs typeface="Arial"/>
              </a:rPr>
              <a:t>d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 height F(x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spc="-3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902" y="6545071"/>
            <a:ext cx="3075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middle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interval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2000" y="2057400"/>
            <a:ext cx="4038600" cy="4876800"/>
            <a:chOff x="762000" y="2057400"/>
            <a:chExt cx="4038600" cy="4876800"/>
          </a:xfrm>
        </p:grpSpPr>
        <p:sp>
          <p:nvSpPr>
            <p:cNvPr id="19" name="object 19"/>
            <p:cNvSpPr/>
            <p:nvPr/>
          </p:nvSpPr>
          <p:spPr>
            <a:xfrm>
              <a:off x="762000" y="2057400"/>
              <a:ext cx="4038600" cy="4876800"/>
            </a:xfrm>
            <a:custGeom>
              <a:avLst/>
              <a:gdLst/>
              <a:ahLst/>
              <a:cxnLst/>
              <a:rect l="l" t="t" r="r" b="b"/>
              <a:pathLst>
                <a:path w="4038600" h="4876800">
                  <a:moveTo>
                    <a:pt x="4038600" y="4876800"/>
                  </a:moveTo>
                  <a:lnTo>
                    <a:pt x="4038600" y="0"/>
                  </a:lnTo>
                  <a:lnTo>
                    <a:pt x="0" y="0"/>
                  </a:lnTo>
                  <a:lnTo>
                    <a:pt x="0" y="4876800"/>
                  </a:lnTo>
                  <a:lnTo>
                    <a:pt x="4038600" y="487680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6000" y="2362200"/>
              <a:ext cx="228600" cy="3657600"/>
            </a:xfrm>
            <a:custGeom>
              <a:avLst/>
              <a:gdLst/>
              <a:ahLst/>
              <a:cxnLst/>
              <a:rect l="l" t="t" r="r" b="b"/>
              <a:pathLst>
                <a:path w="228600" h="3657600">
                  <a:moveTo>
                    <a:pt x="228600" y="36576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3657600"/>
                  </a:lnTo>
                  <a:lnTo>
                    <a:pt x="228600" y="36576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6000" y="2362200"/>
              <a:ext cx="228600" cy="3657600"/>
            </a:xfrm>
            <a:custGeom>
              <a:avLst/>
              <a:gdLst/>
              <a:ahLst/>
              <a:cxnLst/>
              <a:rect l="l" t="t" r="r" b="b"/>
              <a:pathLst>
                <a:path w="228600" h="3657600">
                  <a:moveTo>
                    <a:pt x="0" y="0"/>
                  </a:moveTo>
                  <a:lnTo>
                    <a:pt x="0" y="3657600"/>
                  </a:lnTo>
                  <a:lnTo>
                    <a:pt x="228600" y="36576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600" y="2438400"/>
              <a:ext cx="228600" cy="3581400"/>
            </a:xfrm>
            <a:custGeom>
              <a:avLst/>
              <a:gdLst/>
              <a:ahLst/>
              <a:cxnLst/>
              <a:rect l="l" t="t" r="r" b="b"/>
              <a:pathLst>
                <a:path w="228600" h="3581400">
                  <a:moveTo>
                    <a:pt x="228600" y="35814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3581400"/>
                  </a:lnTo>
                  <a:lnTo>
                    <a:pt x="228600" y="35814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14600" y="2438400"/>
              <a:ext cx="228600" cy="3581400"/>
            </a:xfrm>
            <a:custGeom>
              <a:avLst/>
              <a:gdLst/>
              <a:ahLst/>
              <a:cxnLst/>
              <a:rect l="l" t="t" r="r" b="b"/>
              <a:pathLst>
                <a:path w="228600" h="3581400">
                  <a:moveTo>
                    <a:pt x="0" y="0"/>
                  </a:moveTo>
                  <a:lnTo>
                    <a:pt x="0" y="3581400"/>
                  </a:lnTo>
                  <a:lnTo>
                    <a:pt x="228600" y="35814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0" y="259080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228600" y="34290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228600" y="34290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0" y="259080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0" y="0"/>
                  </a:moveTo>
                  <a:lnTo>
                    <a:pt x="0" y="3429000"/>
                  </a:lnTo>
                  <a:lnTo>
                    <a:pt x="228600" y="34290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71800" y="2743200"/>
              <a:ext cx="228600" cy="3276600"/>
            </a:xfrm>
            <a:custGeom>
              <a:avLst/>
              <a:gdLst/>
              <a:ahLst/>
              <a:cxnLst/>
              <a:rect l="l" t="t" r="r" b="b"/>
              <a:pathLst>
                <a:path w="228600" h="3276600">
                  <a:moveTo>
                    <a:pt x="228600" y="32766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3276600"/>
                  </a:lnTo>
                  <a:lnTo>
                    <a:pt x="228600" y="32766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71800" y="2743200"/>
              <a:ext cx="228600" cy="3276600"/>
            </a:xfrm>
            <a:custGeom>
              <a:avLst/>
              <a:gdLst/>
              <a:ahLst/>
              <a:cxnLst/>
              <a:rect l="l" t="t" r="r" b="b"/>
              <a:pathLst>
                <a:path w="228600" h="3276600">
                  <a:moveTo>
                    <a:pt x="0" y="0"/>
                  </a:moveTo>
                  <a:lnTo>
                    <a:pt x="0" y="3276600"/>
                  </a:lnTo>
                  <a:lnTo>
                    <a:pt x="228600" y="32766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00400" y="2895600"/>
              <a:ext cx="228600" cy="3124200"/>
            </a:xfrm>
            <a:custGeom>
              <a:avLst/>
              <a:gdLst/>
              <a:ahLst/>
              <a:cxnLst/>
              <a:rect l="l" t="t" r="r" b="b"/>
              <a:pathLst>
                <a:path w="228600" h="3124200">
                  <a:moveTo>
                    <a:pt x="228600" y="31242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3124200"/>
                  </a:lnTo>
                  <a:lnTo>
                    <a:pt x="228600" y="31242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00400" y="2895600"/>
              <a:ext cx="228600" cy="3124200"/>
            </a:xfrm>
            <a:custGeom>
              <a:avLst/>
              <a:gdLst/>
              <a:ahLst/>
              <a:cxnLst/>
              <a:rect l="l" t="t" r="r" b="b"/>
              <a:pathLst>
                <a:path w="228600" h="3124200">
                  <a:moveTo>
                    <a:pt x="0" y="0"/>
                  </a:moveTo>
                  <a:lnTo>
                    <a:pt x="0" y="3124200"/>
                  </a:lnTo>
                  <a:lnTo>
                    <a:pt x="228600" y="31242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29000" y="3124200"/>
              <a:ext cx="228600" cy="2895600"/>
            </a:xfrm>
            <a:custGeom>
              <a:avLst/>
              <a:gdLst/>
              <a:ahLst/>
              <a:cxnLst/>
              <a:rect l="l" t="t" r="r" b="b"/>
              <a:pathLst>
                <a:path w="228600" h="2895600">
                  <a:moveTo>
                    <a:pt x="228600" y="28956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2895600"/>
                  </a:lnTo>
                  <a:lnTo>
                    <a:pt x="228600" y="28956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29000" y="3124200"/>
              <a:ext cx="228600" cy="2895600"/>
            </a:xfrm>
            <a:custGeom>
              <a:avLst/>
              <a:gdLst/>
              <a:ahLst/>
              <a:cxnLst/>
              <a:rect l="l" t="t" r="r" b="b"/>
              <a:pathLst>
                <a:path w="228600" h="2895600">
                  <a:moveTo>
                    <a:pt x="0" y="0"/>
                  </a:moveTo>
                  <a:lnTo>
                    <a:pt x="0" y="2895600"/>
                  </a:lnTo>
                  <a:lnTo>
                    <a:pt x="228600" y="28956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57600" y="3505200"/>
              <a:ext cx="228600" cy="2514600"/>
            </a:xfrm>
            <a:custGeom>
              <a:avLst/>
              <a:gdLst/>
              <a:ahLst/>
              <a:cxnLst/>
              <a:rect l="l" t="t" r="r" b="b"/>
              <a:pathLst>
                <a:path w="228600" h="2514600">
                  <a:moveTo>
                    <a:pt x="228600" y="25146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2514600"/>
                  </a:lnTo>
                  <a:lnTo>
                    <a:pt x="228600" y="25146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57600" y="3505200"/>
              <a:ext cx="228600" cy="2514600"/>
            </a:xfrm>
            <a:custGeom>
              <a:avLst/>
              <a:gdLst/>
              <a:ahLst/>
              <a:cxnLst/>
              <a:rect l="l" t="t" r="r" b="b"/>
              <a:pathLst>
                <a:path w="228600" h="2514600">
                  <a:moveTo>
                    <a:pt x="0" y="0"/>
                  </a:moveTo>
                  <a:lnTo>
                    <a:pt x="0" y="2514600"/>
                  </a:lnTo>
                  <a:lnTo>
                    <a:pt x="228600" y="25146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86200" y="3962400"/>
              <a:ext cx="228600" cy="2057400"/>
            </a:xfrm>
            <a:custGeom>
              <a:avLst/>
              <a:gdLst/>
              <a:ahLst/>
              <a:cxnLst/>
              <a:rect l="l" t="t" r="r" b="b"/>
              <a:pathLst>
                <a:path w="228600" h="2057400">
                  <a:moveTo>
                    <a:pt x="228600" y="2057400"/>
                  </a:moveTo>
                  <a:lnTo>
                    <a:pt x="228600" y="0"/>
                  </a:lnTo>
                  <a:lnTo>
                    <a:pt x="0" y="0"/>
                  </a:lnTo>
                  <a:lnTo>
                    <a:pt x="0" y="2057400"/>
                  </a:lnTo>
                  <a:lnTo>
                    <a:pt x="228600" y="20574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86200" y="3962400"/>
              <a:ext cx="228600" cy="2057400"/>
            </a:xfrm>
            <a:custGeom>
              <a:avLst/>
              <a:gdLst/>
              <a:ahLst/>
              <a:cxnLst/>
              <a:rect l="l" t="t" r="r" b="b"/>
              <a:pathLst>
                <a:path w="228600" h="2057400">
                  <a:moveTo>
                    <a:pt x="0" y="0"/>
                  </a:moveTo>
                  <a:lnTo>
                    <a:pt x="0" y="2057400"/>
                  </a:lnTo>
                  <a:lnTo>
                    <a:pt x="228600" y="20574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86000" y="2133600"/>
              <a:ext cx="0" cy="3886200"/>
            </a:xfrm>
            <a:custGeom>
              <a:avLst/>
              <a:gdLst/>
              <a:ahLst/>
              <a:cxnLst/>
              <a:rect l="l" t="t" r="r" b="b"/>
              <a:pathLst>
                <a:path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09800" y="23622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09800" y="4203954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09800" y="6019800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14800" y="59436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86000" y="2362200"/>
              <a:ext cx="1981200" cy="2438400"/>
            </a:xfrm>
            <a:custGeom>
              <a:avLst/>
              <a:gdLst/>
              <a:ahLst/>
              <a:cxnLst/>
              <a:rect l="l" t="t" r="r" b="b"/>
              <a:pathLst>
                <a:path w="1981200" h="2438400">
                  <a:moveTo>
                    <a:pt x="0" y="0"/>
                  </a:moveTo>
                  <a:lnTo>
                    <a:pt x="49270" y="9490"/>
                  </a:lnTo>
                  <a:lnTo>
                    <a:pt x="98473" y="19287"/>
                  </a:lnTo>
                  <a:lnTo>
                    <a:pt x="147636" y="29791"/>
                  </a:lnTo>
                  <a:lnTo>
                    <a:pt x="196787" y="41401"/>
                  </a:lnTo>
                  <a:lnTo>
                    <a:pt x="245950" y="54517"/>
                  </a:lnTo>
                  <a:lnTo>
                    <a:pt x="295153" y="69539"/>
                  </a:lnTo>
                  <a:lnTo>
                    <a:pt x="344424" y="86867"/>
                  </a:lnTo>
                  <a:lnTo>
                    <a:pt x="388133" y="104460"/>
                  </a:lnTo>
                  <a:lnTo>
                    <a:pt x="432637" y="124313"/>
                  </a:lnTo>
                  <a:lnTo>
                    <a:pt x="477445" y="145897"/>
                  </a:lnTo>
                  <a:lnTo>
                    <a:pt x="522065" y="168687"/>
                  </a:lnTo>
                  <a:lnTo>
                    <a:pt x="566006" y="192156"/>
                  </a:lnTo>
                  <a:lnTo>
                    <a:pt x="608778" y="215776"/>
                  </a:lnTo>
                  <a:lnTo>
                    <a:pt x="649889" y="239022"/>
                  </a:lnTo>
                  <a:lnTo>
                    <a:pt x="688848" y="261365"/>
                  </a:lnTo>
                  <a:lnTo>
                    <a:pt x="735975" y="288311"/>
                  </a:lnTo>
                  <a:lnTo>
                    <a:pt x="778340" y="312843"/>
                  </a:lnTo>
                  <a:lnTo>
                    <a:pt x="818292" y="337375"/>
                  </a:lnTo>
                  <a:lnTo>
                    <a:pt x="858181" y="364320"/>
                  </a:lnTo>
                  <a:lnTo>
                    <a:pt x="900355" y="396091"/>
                  </a:lnTo>
                  <a:lnTo>
                    <a:pt x="947166" y="435101"/>
                  </a:lnTo>
                  <a:lnTo>
                    <a:pt x="978557" y="462629"/>
                  </a:lnTo>
                  <a:lnTo>
                    <a:pt x="1012033" y="492465"/>
                  </a:lnTo>
                  <a:lnTo>
                    <a:pt x="1047073" y="524358"/>
                  </a:lnTo>
                  <a:lnTo>
                    <a:pt x="1083155" y="558058"/>
                  </a:lnTo>
                  <a:lnTo>
                    <a:pt x="1119759" y="593312"/>
                  </a:lnTo>
                  <a:lnTo>
                    <a:pt x="1156362" y="629869"/>
                  </a:lnTo>
                  <a:lnTo>
                    <a:pt x="1192444" y="667477"/>
                  </a:lnTo>
                  <a:lnTo>
                    <a:pt x="1227484" y="705886"/>
                  </a:lnTo>
                  <a:lnTo>
                    <a:pt x="1260960" y="744843"/>
                  </a:lnTo>
                  <a:lnTo>
                    <a:pt x="1292352" y="784097"/>
                  </a:lnTo>
                  <a:lnTo>
                    <a:pt x="1321701" y="823623"/>
                  </a:lnTo>
                  <a:lnTo>
                    <a:pt x="1349575" y="864022"/>
                  </a:lnTo>
                  <a:lnTo>
                    <a:pt x="1376232" y="905299"/>
                  </a:lnTo>
                  <a:lnTo>
                    <a:pt x="1401933" y="947458"/>
                  </a:lnTo>
                  <a:lnTo>
                    <a:pt x="1426940" y="990504"/>
                  </a:lnTo>
                  <a:lnTo>
                    <a:pt x="1451512" y="1034442"/>
                  </a:lnTo>
                  <a:lnTo>
                    <a:pt x="1475910" y="1079276"/>
                  </a:lnTo>
                  <a:lnTo>
                    <a:pt x="1500396" y="1125010"/>
                  </a:lnTo>
                  <a:lnTo>
                    <a:pt x="1525229" y="1171650"/>
                  </a:lnTo>
                  <a:lnTo>
                    <a:pt x="1550670" y="1219199"/>
                  </a:lnTo>
                  <a:lnTo>
                    <a:pt x="1572472" y="1259055"/>
                  </a:lnTo>
                  <a:lnTo>
                    <a:pt x="1594728" y="1299090"/>
                  </a:lnTo>
                  <a:lnTo>
                    <a:pt x="1617285" y="1339453"/>
                  </a:lnTo>
                  <a:lnTo>
                    <a:pt x="1639993" y="1380292"/>
                  </a:lnTo>
                  <a:lnTo>
                    <a:pt x="1662701" y="1421756"/>
                  </a:lnTo>
                  <a:lnTo>
                    <a:pt x="1685258" y="1463992"/>
                  </a:lnTo>
                  <a:lnTo>
                    <a:pt x="1707513" y="1507149"/>
                  </a:lnTo>
                  <a:lnTo>
                    <a:pt x="1729316" y="1551375"/>
                  </a:lnTo>
                  <a:lnTo>
                    <a:pt x="1750516" y="1596818"/>
                  </a:lnTo>
                  <a:lnTo>
                    <a:pt x="1770962" y="1643626"/>
                  </a:lnTo>
                  <a:lnTo>
                    <a:pt x="1790502" y="1691948"/>
                  </a:lnTo>
                  <a:lnTo>
                    <a:pt x="1808988" y="1741932"/>
                  </a:lnTo>
                  <a:lnTo>
                    <a:pt x="1824115" y="1788094"/>
                  </a:lnTo>
                  <a:lnTo>
                    <a:pt x="1838801" y="1839014"/>
                  </a:lnTo>
                  <a:lnTo>
                    <a:pt x="1853047" y="1893640"/>
                  </a:lnTo>
                  <a:lnTo>
                    <a:pt x="1866855" y="1950919"/>
                  </a:lnTo>
                  <a:lnTo>
                    <a:pt x="1880226" y="2009802"/>
                  </a:lnTo>
                  <a:lnTo>
                    <a:pt x="1893163" y="2069236"/>
                  </a:lnTo>
                  <a:lnTo>
                    <a:pt x="1905666" y="2128170"/>
                  </a:lnTo>
                  <a:lnTo>
                    <a:pt x="1917738" y="2185553"/>
                  </a:lnTo>
                  <a:lnTo>
                    <a:pt x="1929380" y="2240334"/>
                  </a:lnTo>
                  <a:lnTo>
                    <a:pt x="1940594" y="2291460"/>
                  </a:lnTo>
                  <a:lnTo>
                    <a:pt x="1951381" y="2337881"/>
                  </a:lnTo>
                  <a:lnTo>
                    <a:pt x="1961743" y="2378546"/>
                  </a:lnTo>
                  <a:lnTo>
                    <a:pt x="1971682" y="2412402"/>
                  </a:lnTo>
                  <a:lnTo>
                    <a:pt x="1981200" y="243840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336514" y="3513823"/>
            <a:ext cx="327660" cy="1894839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3000" b="1" spc="-37" baseline="4166" dirty="0">
                <a:solidFill>
                  <a:srgbClr val="FFFFFF"/>
                </a:solidFill>
                <a:latin typeface="Arial"/>
                <a:cs typeface="Arial"/>
              </a:rPr>
              <a:t>F(</a:t>
            </a:r>
            <a:r>
              <a:rPr sz="3000" b="1" spc="-37" baseline="2777" dirty="0">
                <a:solidFill>
                  <a:srgbClr val="FFFFFF"/>
                </a:solidFill>
                <a:latin typeface="Arial"/>
                <a:cs typeface="Arial"/>
              </a:rPr>
              <a:t>x) </a:t>
            </a:r>
            <a:r>
              <a:rPr sz="3000" b="1" spc="-7" baseline="2777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3000" b="1" spc="-120" baseline="2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-30" baseline="2777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="1" spc="-30" baseline="1388" dirty="0">
                <a:solidFill>
                  <a:srgbClr val="FFFFFF"/>
                </a:solidFill>
                <a:latin typeface="Arial"/>
                <a:cs typeface="Arial"/>
              </a:rPr>
              <a:t>.0/(1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+x</a:t>
            </a:r>
            <a:r>
              <a:rPr sz="1950" b="1" spc="-30" baseline="2564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44801" y="2237486"/>
            <a:ext cx="25907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4.0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21004" y="4066280"/>
            <a:ext cx="25907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2.0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978407" y="6047481"/>
            <a:ext cx="25907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1.0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40201" y="6199122"/>
            <a:ext cx="1822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073401" y="6123684"/>
            <a:ext cx="25907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0.0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57326"/>
            <a:ext cx="756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Serial PI</a:t>
            </a:r>
            <a:r>
              <a:rPr sz="3600" spc="-95" dirty="0"/>
              <a:t> </a:t>
            </a:r>
            <a:r>
              <a:rPr sz="3600" spc="-5" dirty="0"/>
              <a:t>Program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3101" y="2081276"/>
            <a:ext cx="5841365" cy="477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3728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static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long num_steps =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100000;  double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step;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void main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  <a:tabLst>
                <a:tab pos="1095375" algn="l"/>
                <a:tab pos="201104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{	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int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i;	double x, pi, sum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0.0;</a:t>
            </a:r>
            <a:endParaRPr sz="2400">
              <a:latin typeface="Arial"/>
              <a:cs typeface="Arial"/>
            </a:endParaRPr>
          </a:p>
          <a:p>
            <a:pPr marL="1096010" marR="262255">
              <a:lnSpc>
                <a:spcPts val="5750"/>
              </a:lnSpc>
              <a:spcBef>
                <a:spcPts val="66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step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1.0/(double) num_steps;  for (i=0;i&lt; num_steps;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i++){</a:t>
            </a:r>
            <a:endParaRPr sz="2400">
              <a:latin typeface="Arial"/>
              <a:cs typeface="Arial"/>
            </a:endParaRPr>
          </a:p>
          <a:p>
            <a:pPr marL="2010410">
              <a:lnSpc>
                <a:spcPts val="2205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x =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(i+0.5)*step;</a:t>
            </a:r>
            <a:endParaRPr sz="2400">
              <a:latin typeface="Arial"/>
              <a:cs typeface="Arial"/>
            </a:endParaRPr>
          </a:p>
          <a:p>
            <a:pPr marL="201041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sum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sum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4.0/(1.0+x*x);</a:t>
            </a:r>
            <a:endParaRPr sz="2400">
              <a:latin typeface="Arial"/>
              <a:cs typeface="Arial"/>
            </a:endParaRPr>
          </a:p>
          <a:p>
            <a:pPr marL="1096010">
              <a:lnSpc>
                <a:spcPts val="2875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096010">
              <a:lnSpc>
                <a:spcPts val="287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pi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step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*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sum;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25406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Exercise</a:t>
            </a:r>
            <a:r>
              <a:rPr spc="-85" dirty="0"/>
              <a:t> </a:t>
            </a:r>
            <a:r>
              <a:rPr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797" y="1974595"/>
            <a:ext cx="8336915" cy="26943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98450" marR="890269" indent="-285750">
              <a:lnSpc>
                <a:spcPts val="3130"/>
              </a:lnSpc>
              <a:spcBef>
                <a:spcPts val="3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parallel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version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pi program  using a parallel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construct.</a:t>
            </a:r>
            <a:endParaRPr sz="2800">
              <a:latin typeface="Arial"/>
              <a:cs typeface="Arial"/>
            </a:endParaRPr>
          </a:p>
          <a:p>
            <a:pPr marL="298450" marR="572135" indent="-285750">
              <a:lnSpc>
                <a:spcPts val="3130"/>
              </a:lnSpc>
              <a:spcBef>
                <a:spcPts val="100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Pay close attention to shared versus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private  variables.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ts val="3130"/>
              </a:lnSpc>
              <a:spcBef>
                <a:spcPts val="10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addition to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parallel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construct, you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will need  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runtime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routines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0997" y="4642358"/>
            <a:ext cx="4368800" cy="137350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spc="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5" dirty="0">
                <a:solidFill>
                  <a:srgbClr val="FFFFFF"/>
                </a:solidFill>
                <a:latin typeface="Arial"/>
                <a:cs typeface="Arial"/>
              </a:rPr>
              <a:t>int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 omp_get_num_threads();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spc="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5" dirty="0">
                <a:solidFill>
                  <a:srgbClr val="FFFFFF"/>
                </a:solidFill>
                <a:latin typeface="Arial"/>
                <a:cs typeface="Arial"/>
              </a:rPr>
              <a:t>int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omp_get_thread_num();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double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omp_get_wtime();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5850" y="6661404"/>
            <a:ext cx="3369310" cy="654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422275" marR="316230" indent="-99060">
              <a:lnSpc>
                <a:spcPct val="100000"/>
              </a:lnSpc>
              <a:spcBef>
                <a:spcPts val="395"/>
              </a:spcBef>
            </a:pPr>
            <a:r>
              <a:rPr sz="1800" b="1" spc="-5" dirty="0">
                <a:latin typeface="Tahoma"/>
                <a:cs typeface="Tahoma"/>
              </a:rPr>
              <a:t>Time in Seconds since </a:t>
            </a:r>
            <a:r>
              <a:rPr sz="1800" b="1" dirty="0">
                <a:latin typeface="Tahoma"/>
                <a:cs typeface="Tahoma"/>
              </a:rPr>
              <a:t>a  </a:t>
            </a:r>
            <a:r>
              <a:rPr sz="1800" b="1" spc="-5" dirty="0">
                <a:latin typeface="Tahoma"/>
                <a:cs typeface="Tahoma"/>
              </a:rPr>
              <a:t>fixed point </a:t>
            </a:r>
            <a:r>
              <a:rPr sz="1800" b="1" spc="-10" dirty="0">
                <a:latin typeface="Tahoma"/>
                <a:cs typeface="Tahoma"/>
              </a:rPr>
              <a:t>in </a:t>
            </a:r>
            <a:r>
              <a:rPr sz="1800" b="1" dirty="0">
                <a:latin typeface="Tahoma"/>
                <a:cs typeface="Tahoma"/>
              </a:rPr>
              <a:t>the </a:t>
            </a:r>
            <a:r>
              <a:rPr sz="1800" b="1" spc="-5" dirty="0">
                <a:latin typeface="Tahoma"/>
                <a:cs typeface="Tahoma"/>
              </a:rPr>
              <a:t>past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31129" y="6078473"/>
            <a:ext cx="1077595" cy="542925"/>
          </a:xfrm>
          <a:custGeom>
            <a:avLst/>
            <a:gdLst/>
            <a:ahLst/>
            <a:cxnLst/>
            <a:rect l="l" t="t" r="r" b="b"/>
            <a:pathLst>
              <a:path w="1077595" h="542925">
                <a:moveTo>
                  <a:pt x="56388" y="0"/>
                </a:moveTo>
                <a:lnTo>
                  <a:pt x="0" y="0"/>
                </a:lnTo>
                <a:lnTo>
                  <a:pt x="31242" y="42602"/>
                </a:lnTo>
                <a:lnTo>
                  <a:pt x="31242" y="22860"/>
                </a:lnTo>
                <a:lnTo>
                  <a:pt x="36576" y="11430"/>
                </a:lnTo>
                <a:lnTo>
                  <a:pt x="47856" y="17062"/>
                </a:lnTo>
                <a:lnTo>
                  <a:pt x="56388" y="0"/>
                </a:lnTo>
                <a:close/>
              </a:path>
              <a:path w="1077595" h="542925">
                <a:moveTo>
                  <a:pt x="47856" y="17062"/>
                </a:moveTo>
                <a:lnTo>
                  <a:pt x="36576" y="11430"/>
                </a:lnTo>
                <a:lnTo>
                  <a:pt x="31242" y="22860"/>
                </a:lnTo>
                <a:lnTo>
                  <a:pt x="42216" y="28343"/>
                </a:lnTo>
                <a:lnTo>
                  <a:pt x="47856" y="17062"/>
                </a:lnTo>
                <a:close/>
              </a:path>
              <a:path w="1077595" h="542925">
                <a:moveTo>
                  <a:pt x="42216" y="28343"/>
                </a:moveTo>
                <a:lnTo>
                  <a:pt x="31242" y="22860"/>
                </a:lnTo>
                <a:lnTo>
                  <a:pt x="31242" y="42602"/>
                </a:lnTo>
                <a:lnTo>
                  <a:pt x="33528" y="45720"/>
                </a:lnTo>
                <a:lnTo>
                  <a:pt x="42216" y="28343"/>
                </a:lnTo>
                <a:close/>
              </a:path>
              <a:path w="1077595" h="542925">
                <a:moveTo>
                  <a:pt x="1077468" y="531114"/>
                </a:moveTo>
                <a:lnTo>
                  <a:pt x="47856" y="17062"/>
                </a:lnTo>
                <a:lnTo>
                  <a:pt x="42216" y="28343"/>
                </a:lnTo>
                <a:lnTo>
                  <a:pt x="1071372" y="542544"/>
                </a:lnTo>
                <a:lnTo>
                  <a:pt x="1077468" y="5311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84620" y="5826252"/>
            <a:ext cx="2338705" cy="3797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395"/>
              </a:spcBef>
            </a:pPr>
            <a:r>
              <a:rPr sz="1800" b="1" spc="-5" dirty="0">
                <a:latin typeface="Tahoma"/>
                <a:cs typeface="Tahoma"/>
              </a:rPr>
              <a:t>Thread ID or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rank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66994" y="5615178"/>
            <a:ext cx="786765" cy="440690"/>
          </a:xfrm>
          <a:custGeom>
            <a:avLst/>
            <a:gdLst/>
            <a:ahLst/>
            <a:cxnLst/>
            <a:rect l="l" t="t" r="r" b="b"/>
            <a:pathLst>
              <a:path w="786764" h="440689">
                <a:moveTo>
                  <a:pt x="57150" y="2286"/>
                </a:moveTo>
                <a:lnTo>
                  <a:pt x="0" y="0"/>
                </a:lnTo>
                <a:lnTo>
                  <a:pt x="30479" y="43239"/>
                </a:lnTo>
                <a:lnTo>
                  <a:pt x="30479" y="23622"/>
                </a:lnTo>
                <a:lnTo>
                  <a:pt x="36575" y="12954"/>
                </a:lnTo>
                <a:lnTo>
                  <a:pt x="47821" y="19193"/>
                </a:lnTo>
                <a:lnTo>
                  <a:pt x="57150" y="2286"/>
                </a:lnTo>
                <a:close/>
              </a:path>
              <a:path w="786764" h="440689">
                <a:moveTo>
                  <a:pt x="47821" y="19193"/>
                </a:moveTo>
                <a:lnTo>
                  <a:pt x="36575" y="12954"/>
                </a:lnTo>
                <a:lnTo>
                  <a:pt x="30479" y="23622"/>
                </a:lnTo>
                <a:lnTo>
                  <a:pt x="41881" y="29960"/>
                </a:lnTo>
                <a:lnTo>
                  <a:pt x="47821" y="19193"/>
                </a:lnTo>
                <a:close/>
              </a:path>
              <a:path w="786764" h="440689">
                <a:moveTo>
                  <a:pt x="41881" y="29960"/>
                </a:moveTo>
                <a:lnTo>
                  <a:pt x="30479" y="23622"/>
                </a:lnTo>
                <a:lnTo>
                  <a:pt x="30479" y="43239"/>
                </a:lnTo>
                <a:lnTo>
                  <a:pt x="32765" y="46482"/>
                </a:lnTo>
                <a:lnTo>
                  <a:pt x="41881" y="29960"/>
                </a:lnTo>
                <a:close/>
              </a:path>
              <a:path w="786764" h="440689">
                <a:moveTo>
                  <a:pt x="786383" y="429006"/>
                </a:moveTo>
                <a:lnTo>
                  <a:pt x="47821" y="19193"/>
                </a:lnTo>
                <a:lnTo>
                  <a:pt x="41881" y="29960"/>
                </a:lnTo>
                <a:lnTo>
                  <a:pt x="780288" y="440436"/>
                </a:lnTo>
                <a:lnTo>
                  <a:pt x="786383" y="4290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32803" y="4773929"/>
            <a:ext cx="2933700" cy="654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950594" marR="239395" indent="-702945">
              <a:lnSpc>
                <a:spcPct val="100000"/>
              </a:lnSpc>
              <a:spcBef>
                <a:spcPts val="395"/>
              </a:spcBef>
            </a:pPr>
            <a:r>
              <a:rPr sz="1800" b="1" dirty="0">
                <a:latin typeface="Tahoma"/>
                <a:cs typeface="Tahoma"/>
              </a:rPr>
              <a:t>Number </a:t>
            </a:r>
            <a:r>
              <a:rPr sz="1800" b="1" spc="-5" dirty="0">
                <a:latin typeface="Tahoma"/>
                <a:cs typeface="Tahoma"/>
              </a:rPr>
              <a:t>of threads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in  </a:t>
            </a:r>
            <a:r>
              <a:rPr sz="1800" b="1" spc="-5" dirty="0">
                <a:latin typeface="Tahoma"/>
                <a:cs typeface="Tahoma"/>
              </a:rPr>
              <a:t>the</a:t>
            </a:r>
            <a:r>
              <a:rPr sz="1800" b="1" spc="-1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team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54446" y="5017008"/>
            <a:ext cx="554355" cy="110489"/>
          </a:xfrm>
          <a:custGeom>
            <a:avLst/>
            <a:gdLst/>
            <a:ahLst/>
            <a:cxnLst/>
            <a:rect l="l" t="t" r="r" b="b"/>
            <a:pathLst>
              <a:path w="554354" h="110489">
                <a:moveTo>
                  <a:pt x="54101" y="0"/>
                </a:moveTo>
                <a:lnTo>
                  <a:pt x="0" y="16763"/>
                </a:lnTo>
                <a:lnTo>
                  <a:pt x="36575" y="43146"/>
                </a:lnTo>
                <a:lnTo>
                  <a:pt x="36575" y="28955"/>
                </a:lnTo>
                <a:lnTo>
                  <a:pt x="38861" y="16763"/>
                </a:lnTo>
                <a:lnTo>
                  <a:pt x="51264" y="18727"/>
                </a:lnTo>
                <a:lnTo>
                  <a:pt x="54101" y="0"/>
                </a:lnTo>
                <a:close/>
              </a:path>
              <a:path w="554354" h="110489">
                <a:moveTo>
                  <a:pt x="51264" y="18727"/>
                </a:moveTo>
                <a:lnTo>
                  <a:pt x="38861" y="16763"/>
                </a:lnTo>
                <a:lnTo>
                  <a:pt x="36575" y="28955"/>
                </a:lnTo>
                <a:lnTo>
                  <a:pt x="49407" y="30986"/>
                </a:lnTo>
                <a:lnTo>
                  <a:pt x="51264" y="18727"/>
                </a:lnTo>
                <a:close/>
              </a:path>
              <a:path w="554354" h="110489">
                <a:moveTo>
                  <a:pt x="49407" y="30986"/>
                </a:moveTo>
                <a:lnTo>
                  <a:pt x="36575" y="28955"/>
                </a:lnTo>
                <a:lnTo>
                  <a:pt x="36575" y="43146"/>
                </a:lnTo>
                <a:lnTo>
                  <a:pt x="46481" y="50291"/>
                </a:lnTo>
                <a:lnTo>
                  <a:pt x="49407" y="30986"/>
                </a:lnTo>
                <a:close/>
              </a:path>
              <a:path w="554354" h="110489">
                <a:moveTo>
                  <a:pt x="553974" y="98297"/>
                </a:moveTo>
                <a:lnTo>
                  <a:pt x="51264" y="18727"/>
                </a:lnTo>
                <a:lnTo>
                  <a:pt x="49407" y="30986"/>
                </a:lnTo>
                <a:lnTo>
                  <a:pt x="551688" y="110489"/>
                </a:lnTo>
                <a:lnTo>
                  <a:pt x="553974" y="982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092945" y="6934200"/>
            <a:ext cx="178307" cy="1653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44024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7275" algn="l"/>
              </a:tabLst>
            </a:pPr>
            <a:r>
              <a:rPr dirty="0"/>
              <a:t>The	</a:t>
            </a:r>
            <a:r>
              <a:rPr spc="-5" dirty="0"/>
              <a:t>SPMD</a:t>
            </a:r>
            <a:r>
              <a:rPr spc="-80" dirty="0"/>
              <a:t> </a:t>
            </a:r>
            <a:r>
              <a:rPr dirty="0"/>
              <a:t>pattern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46251" y="1939543"/>
            <a:ext cx="8442960" cy="47269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8450" marR="984885" indent="-285750">
              <a:lnSpc>
                <a:spcPct val="82900"/>
              </a:lnSpc>
              <a:spcBef>
                <a:spcPts val="6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most common approach for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parallel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algorithms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SPMD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ingle 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P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rogram 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ultiple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pattern.</a:t>
            </a:r>
            <a:endParaRPr sz="2800">
              <a:latin typeface="Arial"/>
              <a:cs typeface="Arial"/>
            </a:endParaRPr>
          </a:p>
          <a:p>
            <a:pPr marL="298450" marR="165100" indent="-285750">
              <a:lnSpc>
                <a:spcPct val="83000"/>
              </a:lnSpc>
              <a:spcBef>
                <a:spcPts val="10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Each thread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runs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same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program (Single  Program), but using the thread ID, they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operate  on different data (Multiple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Data)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or take slightly  different paths through the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code.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434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 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means: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60"/>
              </a:spcBef>
            </a:pPr>
            <a:r>
              <a:rPr sz="1800" spc="1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1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parallel region “near the top of the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code”.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Pick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up thread ID and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num_threads.</a:t>
            </a:r>
            <a:endParaRPr sz="2400">
              <a:latin typeface="Arial"/>
              <a:cs typeface="Arial"/>
            </a:endParaRPr>
          </a:p>
          <a:p>
            <a:pPr marL="698500" marR="5080" indent="-228600">
              <a:lnSpc>
                <a:spcPts val="2390"/>
              </a:lnSpc>
              <a:spcBef>
                <a:spcPts val="855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Use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them to split up loops and select different blocks  of data to work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on.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8838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1042" y="6885685"/>
            <a:ext cx="321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118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3606" y="1732272"/>
            <a:ext cx="141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double</a:t>
            </a:r>
            <a:r>
              <a:rPr sz="18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step;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702" y="1457197"/>
            <a:ext cx="372808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#include</a:t>
            </a:r>
            <a:r>
              <a:rPr sz="1800" spc="-10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&lt;omp.h&gt;</a:t>
            </a:r>
            <a:endParaRPr sz="180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static long num_steps =</a:t>
            </a:r>
            <a:r>
              <a:rPr sz="18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100000;  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#define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NUM_THREADS</a:t>
            </a:r>
            <a:r>
              <a:rPr sz="1800" spc="-15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702" y="2281666"/>
            <a:ext cx="1338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void main</a:t>
            </a:r>
            <a:r>
              <a:rPr sz="18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()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702" y="2555986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7605" y="2555986"/>
            <a:ext cx="536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  <a:tabLst>
                <a:tab pos="1788795" algn="l"/>
              </a:tabLst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int</a:t>
            </a:r>
            <a:r>
              <a:rPr sz="18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i,</a:t>
            </a:r>
            <a:r>
              <a:rPr sz="18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nthreads;	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double pi,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sum[NUM_THREADS];  step =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1.0/(double)</a:t>
            </a:r>
            <a:r>
              <a:rPr sz="18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num_steps;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7651" y="3105380"/>
            <a:ext cx="4416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omp_set_num_threads(NUM_THREADS);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8801" y="3379701"/>
            <a:ext cx="247840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#pragma 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omp</a:t>
            </a:r>
            <a:r>
              <a:rPr sz="1800" spc="-75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parallel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endParaRPr sz="1800">
              <a:latin typeface="Lucida Sans Unicode"/>
              <a:cs typeface="Lucida Sans Unicode"/>
            </a:endParaRPr>
          </a:p>
          <a:p>
            <a:pPr marL="70802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int i,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id,nthrds;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8789" y="4203415"/>
            <a:ext cx="382397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double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x;</a:t>
            </a:r>
            <a:endParaRPr sz="1800">
              <a:latin typeface="Lucida Sans Unicode"/>
              <a:cs typeface="Lucida Sans Unicode"/>
            </a:endParaRPr>
          </a:p>
          <a:p>
            <a:pPr marL="12700" marR="5080" indent="6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id = omp_get_thread_num();  nthrds =</a:t>
            </a:r>
            <a:r>
              <a:rPr sz="1800" spc="-95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omp_get_num_threads();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9544" y="5027884"/>
            <a:ext cx="5689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6215" algn="l"/>
              </a:tabLst>
            </a:pP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if (id</a:t>
            </a:r>
            <a:r>
              <a:rPr sz="1800" spc="5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== 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0)	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nthreads =</a:t>
            </a:r>
            <a:r>
              <a:rPr sz="1800" spc="-10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nthrds;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for (i=id, sum[id]=0.0;i&lt; num_steps; i=i+nthrds)</a:t>
            </a:r>
            <a:r>
              <a:rPr sz="18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2051" y="5577278"/>
            <a:ext cx="3001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x =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(i+0.5)*step;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sum[id]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+=</a:t>
            </a:r>
            <a:r>
              <a:rPr sz="18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4.0/(1.0+x*x);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77651" y="6125918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1953" y="6400993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77650" y="6675312"/>
            <a:ext cx="609954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for(i=0, pi=0.0;i&lt;</a:t>
            </a:r>
            <a:r>
              <a:rPr sz="1800" spc="-5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nthreads;i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++)</a:t>
            </a:r>
            <a:r>
              <a:rPr lang="en-CA"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pi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+= sum[i] *</a:t>
            </a:r>
            <a:r>
              <a:rPr sz="18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step;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7702" y="6950387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273555" y="744727"/>
            <a:ext cx="74942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Exercise </a:t>
            </a:r>
            <a:r>
              <a:rPr sz="3200" spc="-5" dirty="0"/>
              <a:t>2: A </a:t>
            </a:r>
            <a:r>
              <a:rPr sz="3200" spc="-10" dirty="0"/>
              <a:t>simple SPMD </a:t>
            </a:r>
            <a:r>
              <a:rPr sz="3200" spc="-5" dirty="0"/>
              <a:t>pi</a:t>
            </a:r>
            <a:r>
              <a:rPr sz="3200" spc="35" dirty="0"/>
              <a:t> </a:t>
            </a:r>
            <a:r>
              <a:rPr sz="3200" spc="-5" dirty="0"/>
              <a:t>program</a:t>
            </a:r>
            <a:endParaRPr sz="3200"/>
          </a:p>
        </p:txBody>
      </p:sp>
      <p:sp>
        <p:nvSpPr>
          <p:cNvPr id="18" name="object 18"/>
          <p:cNvSpPr txBox="1"/>
          <p:nvPr/>
        </p:nvSpPr>
        <p:spPr>
          <a:xfrm>
            <a:off x="7287006" y="1466763"/>
            <a:ext cx="1938655" cy="85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9800"/>
              </a:lnSpc>
            </a:pPr>
            <a:r>
              <a:rPr sz="1400" b="1" spc="-5" dirty="0">
                <a:latin typeface="Tahoma"/>
                <a:cs typeface="Tahoma"/>
              </a:rPr>
              <a:t>Promote scalar </a:t>
            </a:r>
            <a:r>
              <a:rPr sz="1400" b="1" dirty="0">
                <a:latin typeface="Tahoma"/>
                <a:cs typeface="Tahoma"/>
              </a:rPr>
              <a:t>to </a:t>
            </a:r>
            <a:r>
              <a:rPr sz="1400" b="1" spc="-5" dirty="0">
                <a:latin typeface="Tahoma"/>
                <a:cs typeface="Tahoma"/>
              </a:rPr>
              <a:t>an  </a:t>
            </a:r>
            <a:r>
              <a:rPr sz="1400" b="1" dirty="0">
                <a:latin typeface="Tahoma"/>
                <a:cs typeface="Tahoma"/>
              </a:rPr>
              <a:t>array </a:t>
            </a:r>
            <a:r>
              <a:rPr sz="1400" b="1" spc="-5" dirty="0">
                <a:latin typeface="Tahoma"/>
                <a:cs typeface="Tahoma"/>
              </a:rPr>
              <a:t>dimensioned </a:t>
            </a:r>
            <a:r>
              <a:rPr sz="1400" b="1" dirty="0">
                <a:latin typeface="Tahoma"/>
                <a:cs typeface="Tahoma"/>
              </a:rPr>
              <a:t>by  </a:t>
            </a:r>
            <a:r>
              <a:rPr sz="1400" b="1" spc="-5" dirty="0">
                <a:latin typeface="Tahoma"/>
                <a:cs typeface="Tahoma"/>
              </a:rPr>
              <a:t>number of </a:t>
            </a:r>
            <a:r>
              <a:rPr sz="1400" b="1" dirty="0">
                <a:latin typeface="Tahoma"/>
                <a:cs typeface="Tahoma"/>
              </a:rPr>
              <a:t>threads to  </a:t>
            </a:r>
            <a:r>
              <a:rPr sz="1400" b="1" spc="-5" dirty="0">
                <a:latin typeface="Tahoma"/>
                <a:cs typeface="Tahoma"/>
              </a:rPr>
              <a:t>avoid </a:t>
            </a:r>
            <a:r>
              <a:rPr sz="1400" b="1" dirty="0">
                <a:latin typeface="Tahoma"/>
                <a:cs typeface="Tahoma"/>
              </a:rPr>
              <a:t>race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5" dirty="0">
                <a:latin typeface="Tahoma"/>
                <a:cs typeface="Tahoma"/>
              </a:rPr>
              <a:t>condition.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111745" y="1339596"/>
            <a:ext cx="2362200" cy="1031875"/>
            <a:chOff x="7111745" y="1339596"/>
            <a:chExt cx="2362200" cy="1031875"/>
          </a:xfrm>
        </p:grpSpPr>
        <p:sp>
          <p:nvSpPr>
            <p:cNvPr id="20" name="object 20"/>
            <p:cNvSpPr/>
            <p:nvPr/>
          </p:nvSpPr>
          <p:spPr>
            <a:xfrm>
              <a:off x="7187945" y="1415796"/>
              <a:ext cx="2286000" cy="9555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1745" y="1339596"/>
              <a:ext cx="2286000" cy="956310"/>
            </a:xfrm>
            <a:custGeom>
              <a:avLst/>
              <a:gdLst/>
              <a:ahLst/>
              <a:cxnLst/>
              <a:rect l="l" t="t" r="r" b="b"/>
              <a:pathLst>
                <a:path w="2286000" h="956310">
                  <a:moveTo>
                    <a:pt x="2286000" y="956309"/>
                  </a:moveTo>
                  <a:lnTo>
                    <a:pt x="2286000" y="0"/>
                  </a:lnTo>
                  <a:lnTo>
                    <a:pt x="0" y="0"/>
                  </a:lnTo>
                  <a:lnTo>
                    <a:pt x="0" y="956310"/>
                  </a:lnTo>
                  <a:lnTo>
                    <a:pt x="2286000" y="956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11745" y="1339596"/>
            <a:ext cx="2286000" cy="9556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8425" marR="240665">
              <a:lnSpc>
                <a:spcPct val="100000"/>
              </a:lnSpc>
              <a:spcBef>
                <a:spcPts val="400"/>
              </a:spcBef>
            </a:pPr>
            <a:r>
              <a:rPr sz="1400" b="1" spc="-5" dirty="0">
                <a:latin typeface="Tahoma"/>
                <a:cs typeface="Tahoma"/>
              </a:rPr>
              <a:t>Promote scalar </a:t>
            </a:r>
            <a:r>
              <a:rPr sz="1400" b="1" dirty="0">
                <a:latin typeface="Tahoma"/>
                <a:cs typeface="Tahoma"/>
              </a:rPr>
              <a:t>to </a:t>
            </a:r>
            <a:r>
              <a:rPr sz="1400" b="1" spc="-5" dirty="0">
                <a:latin typeface="Tahoma"/>
                <a:cs typeface="Tahoma"/>
              </a:rPr>
              <a:t>an  </a:t>
            </a:r>
            <a:r>
              <a:rPr sz="1400" b="1" dirty="0">
                <a:latin typeface="Tahoma"/>
                <a:cs typeface="Tahoma"/>
              </a:rPr>
              <a:t>array </a:t>
            </a:r>
            <a:r>
              <a:rPr sz="1400" b="1" spc="-5" dirty="0">
                <a:latin typeface="Tahoma"/>
                <a:cs typeface="Tahoma"/>
              </a:rPr>
              <a:t>dimensioned </a:t>
            </a:r>
            <a:r>
              <a:rPr sz="1400" b="1" dirty="0">
                <a:latin typeface="Tahoma"/>
                <a:cs typeface="Tahoma"/>
              </a:rPr>
              <a:t>by  </a:t>
            </a:r>
            <a:r>
              <a:rPr sz="1400" b="1" spc="-5" dirty="0">
                <a:latin typeface="Tahoma"/>
                <a:cs typeface="Tahoma"/>
              </a:rPr>
              <a:t>number of </a:t>
            </a:r>
            <a:r>
              <a:rPr sz="1400" b="1" dirty="0">
                <a:latin typeface="Tahoma"/>
                <a:cs typeface="Tahoma"/>
              </a:rPr>
              <a:t>threads to  </a:t>
            </a:r>
            <a:r>
              <a:rPr sz="1400" b="1" spc="-5" dirty="0">
                <a:latin typeface="Tahoma"/>
                <a:cs typeface="Tahoma"/>
              </a:rPr>
              <a:t>avoid </a:t>
            </a:r>
            <a:r>
              <a:rPr sz="1400" b="1" dirty="0">
                <a:latin typeface="Tahoma"/>
                <a:cs typeface="Tahoma"/>
              </a:rPr>
              <a:t>race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5" dirty="0">
                <a:latin typeface="Tahoma"/>
                <a:cs typeface="Tahoma"/>
              </a:rPr>
              <a:t>condition.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93507" y="2237232"/>
            <a:ext cx="769620" cy="398145"/>
          </a:xfrm>
          <a:custGeom>
            <a:avLst/>
            <a:gdLst/>
            <a:ahLst/>
            <a:cxnLst/>
            <a:rect l="l" t="t" r="r" b="b"/>
            <a:pathLst>
              <a:path w="769620" h="398144">
                <a:moveTo>
                  <a:pt x="126492" y="255269"/>
                </a:moveTo>
                <a:lnTo>
                  <a:pt x="123658" y="248531"/>
                </a:lnTo>
                <a:lnTo>
                  <a:pt x="118110" y="243077"/>
                </a:lnTo>
                <a:lnTo>
                  <a:pt x="111275" y="240053"/>
                </a:lnTo>
                <a:lnTo>
                  <a:pt x="104013" y="240029"/>
                </a:lnTo>
                <a:lnTo>
                  <a:pt x="97321" y="242863"/>
                </a:lnTo>
                <a:lnTo>
                  <a:pt x="92202" y="248411"/>
                </a:lnTo>
                <a:lnTo>
                  <a:pt x="0" y="384809"/>
                </a:lnTo>
                <a:lnTo>
                  <a:pt x="25146" y="386789"/>
                </a:lnTo>
                <a:lnTo>
                  <a:pt x="25146" y="351281"/>
                </a:lnTo>
                <a:lnTo>
                  <a:pt x="89422" y="320254"/>
                </a:lnTo>
                <a:lnTo>
                  <a:pt x="123444" y="269747"/>
                </a:lnTo>
                <a:lnTo>
                  <a:pt x="126468" y="262580"/>
                </a:lnTo>
                <a:lnTo>
                  <a:pt x="126492" y="255269"/>
                </a:lnTo>
                <a:close/>
              </a:path>
              <a:path w="769620" h="398144">
                <a:moveTo>
                  <a:pt x="89422" y="320254"/>
                </a:moveTo>
                <a:lnTo>
                  <a:pt x="25146" y="351281"/>
                </a:lnTo>
                <a:lnTo>
                  <a:pt x="35052" y="371544"/>
                </a:lnTo>
                <a:lnTo>
                  <a:pt x="35052" y="349757"/>
                </a:lnTo>
                <a:lnTo>
                  <a:pt x="67886" y="352225"/>
                </a:lnTo>
                <a:lnTo>
                  <a:pt x="89422" y="320254"/>
                </a:lnTo>
                <a:close/>
              </a:path>
              <a:path w="769620" h="398144">
                <a:moveTo>
                  <a:pt x="184404" y="380237"/>
                </a:moveTo>
                <a:lnTo>
                  <a:pt x="105184" y="355028"/>
                </a:lnTo>
                <a:lnTo>
                  <a:pt x="41910" y="385571"/>
                </a:lnTo>
                <a:lnTo>
                  <a:pt x="25146" y="351281"/>
                </a:lnTo>
                <a:lnTo>
                  <a:pt x="25146" y="386789"/>
                </a:lnTo>
                <a:lnTo>
                  <a:pt x="164592" y="397763"/>
                </a:lnTo>
                <a:lnTo>
                  <a:pt x="171759" y="396847"/>
                </a:lnTo>
                <a:lnTo>
                  <a:pt x="177927" y="393287"/>
                </a:lnTo>
                <a:lnTo>
                  <a:pt x="182379" y="387584"/>
                </a:lnTo>
                <a:lnTo>
                  <a:pt x="184404" y="380237"/>
                </a:lnTo>
                <a:close/>
              </a:path>
              <a:path w="769620" h="398144">
                <a:moveTo>
                  <a:pt x="67886" y="352225"/>
                </a:moveTo>
                <a:lnTo>
                  <a:pt x="35052" y="349757"/>
                </a:lnTo>
                <a:lnTo>
                  <a:pt x="49530" y="379475"/>
                </a:lnTo>
                <a:lnTo>
                  <a:pt x="67886" y="352225"/>
                </a:lnTo>
                <a:close/>
              </a:path>
              <a:path w="769620" h="398144">
                <a:moveTo>
                  <a:pt x="105184" y="355028"/>
                </a:moveTo>
                <a:lnTo>
                  <a:pt x="67886" y="352225"/>
                </a:lnTo>
                <a:lnTo>
                  <a:pt x="49530" y="379475"/>
                </a:lnTo>
                <a:lnTo>
                  <a:pt x="35052" y="349757"/>
                </a:lnTo>
                <a:lnTo>
                  <a:pt x="35052" y="371544"/>
                </a:lnTo>
                <a:lnTo>
                  <a:pt x="41910" y="385571"/>
                </a:lnTo>
                <a:lnTo>
                  <a:pt x="105184" y="355028"/>
                </a:lnTo>
                <a:close/>
              </a:path>
              <a:path w="769620" h="398144">
                <a:moveTo>
                  <a:pt x="769620" y="34289"/>
                </a:moveTo>
                <a:lnTo>
                  <a:pt x="752856" y="0"/>
                </a:lnTo>
                <a:lnTo>
                  <a:pt x="89422" y="320254"/>
                </a:lnTo>
                <a:lnTo>
                  <a:pt x="67886" y="352225"/>
                </a:lnTo>
                <a:lnTo>
                  <a:pt x="105184" y="355028"/>
                </a:lnTo>
                <a:lnTo>
                  <a:pt x="769620" y="342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69252" y="5810163"/>
            <a:ext cx="2416175" cy="85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9800"/>
              </a:lnSpc>
            </a:pPr>
            <a:r>
              <a:rPr sz="1400" b="1" dirty="0">
                <a:latin typeface="Tahoma"/>
                <a:cs typeface="Tahoma"/>
              </a:rPr>
              <a:t>This </a:t>
            </a:r>
            <a:r>
              <a:rPr sz="1400" b="1" spc="-5" dirty="0">
                <a:latin typeface="Tahoma"/>
                <a:cs typeface="Tahoma"/>
              </a:rPr>
              <a:t>is a common </a:t>
            </a:r>
            <a:r>
              <a:rPr sz="1400" b="1" dirty="0">
                <a:latin typeface="Tahoma"/>
                <a:cs typeface="Tahoma"/>
              </a:rPr>
              <a:t>trick </a:t>
            </a:r>
            <a:r>
              <a:rPr sz="1400" b="1" spc="-5" dirty="0">
                <a:latin typeface="Tahoma"/>
                <a:cs typeface="Tahoma"/>
              </a:rPr>
              <a:t>in  SPMD programs to </a:t>
            </a:r>
            <a:r>
              <a:rPr sz="1400" b="1" dirty="0">
                <a:latin typeface="Tahoma"/>
                <a:cs typeface="Tahoma"/>
              </a:rPr>
              <a:t>create  </a:t>
            </a:r>
            <a:r>
              <a:rPr sz="1400" b="1" spc="-5" dirty="0">
                <a:latin typeface="Tahoma"/>
                <a:cs typeface="Tahoma"/>
              </a:rPr>
              <a:t>a </a:t>
            </a:r>
            <a:r>
              <a:rPr sz="1400" b="1" dirty="0">
                <a:latin typeface="Tahoma"/>
                <a:cs typeface="Tahoma"/>
              </a:rPr>
              <a:t>cyclic distribution of</a:t>
            </a:r>
            <a:r>
              <a:rPr sz="1400" b="1" spc="-6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loop  </a:t>
            </a:r>
            <a:r>
              <a:rPr sz="1400" b="1" spc="-5" dirty="0">
                <a:latin typeface="Tahoma"/>
                <a:cs typeface="Tahoma"/>
              </a:rPr>
              <a:t>iterations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794754" y="5682996"/>
            <a:ext cx="2692400" cy="1031875"/>
            <a:chOff x="6794754" y="5682996"/>
            <a:chExt cx="2692400" cy="1031875"/>
          </a:xfrm>
        </p:grpSpPr>
        <p:sp>
          <p:nvSpPr>
            <p:cNvPr id="26" name="object 26"/>
            <p:cNvSpPr/>
            <p:nvPr/>
          </p:nvSpPr>
          <p:spPr>
            <a:xfrm>
              <a:off x="6870954" y="5759196"/>
              <a:ext cx="2615946" cy="9555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94754" y="5682996"/>
              <a:ext cx="2616200" cy="956310"/>
            </a:xfrm>
            <a:custGeom>
              <a:avLst/>
              <a:gdLst/>
              <a:ahLst/>
              <a:cxnLst/>
              <a:rect l="l" t="t" r="r" b="b"/>
              <a:pathLst>
                <a:path w="2616200" h="956309">
                  <a:moveTo>
                    <a:pt x="2615946" y="956310"/>
                  </a:moveTo>
                  <a:lnTo>
                    <a:pt x="2615946" y="0"/>
                  </a:lnTo>
                  <a:lnTo>
                    <a:pt x="0" y="0"/>
                  </a:lnTo>
                  <a:lnTo>
                    <a:pt x="0" y="956310"/>
                  </a:lnTo>
                  <a:lnTo>
                    <a:pt x="2615946" y="9563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94754" y="5682996"/>
            <a:ext cx="2616200" cy="9556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7790" marR="93980">
              <a:lnSpc>
                <a:spcPct val="100000"/>
              </a:lnSpc>
              <a:spcBef>
                <a:spcPts val="400"/>
              </a:spcBef>
            </a:pPr>
            <a:r>
              <a:rPr sz="1400" b="1" dirty="0">
                <a:latin typeface="Tahoma"/>
                <a:cs typeface="Tahoma"/>
              </a:rPr>
              <a:t>This </a:t>
            </a:r>
            <a:r>
              <a:rPr sz="1400" b="1" spc="-5" dirty="0">
                <a:latin typeface="Tahoma"/>
                <a:cs typeface="Tahoma"/>
              </a:rPr>
              <a:t>is a common </a:t>
            </a:r>
            <a:r>
              <a:rPr sz="1400" b="1" dirty="0">
                <a:latin typeface="Tahoma"/>
                <a:cs typeface="Tahoma"/>
              </a:rPr>
              <a:t>trick </a:t>
            </a:r>
            <a:r>
              <a:rPr sz="1400" b="1" spc="-5" dirty="0">
                <a:latin typeface="Tahoma"/>
                <a:cs typeface="Tahoma"/>
              </a:rPr>
              <a:t>in  SPMD programs to </a:t>
            </a:r>
            <a:r>
              <a:rPr sz="1400" b="1" dirty="0">
                <a:latin typeface="Tahoma"/>
                <a:cs typeface="Tahoma"/>
              </a:rPr>
              <a:t>create  </a:t>
            </a:r>
            <a:r>
              <a:rPr sz="1400" b="1" spc="-5" dirty="0">
                <a:latin typeface="Tahoma"/>
                <a:cs typeface="Tahoma"/>
              </a:rPr>
              <a:t>a </a:t>
            </a:r>
            <a:r>
              <a:rPr sz="1400" b="1" dirty="0">
                <a:latin typeface="Tahoma"/>
                <a:cs typeface="Tahoma"/>
              </a:rPr>
              <a:t>cyclic distribution of</a:t>
            </a:r>
            <a:r>
              <a:rPr sz="1400" b="1" spc="-6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loop  </a:t>
            </a:r>
            <a:r>
              <a:rPr sz="1400" b="1" spc="-5" dirty="0">
                <a:latin typeface="Tahoma"/>
                <a:cs typeface="Tahoma"/>
              </a:rPr>
              <a:t>iterations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17108" y="5615178"/>
            <a:ext cx="1023619" cy="491490"/>
          </a:xfrm>
          <a:custGeom>
            <a:avLst/>
            <a:gdLst/>
            <a:ahLst/>
            <a:cxnLst/>
            <a:rect l="l" t="t" r="r" b="b"/>
            <a:pathLst>
              <a:path w="1023620" h="491489">
                <a:moveTo>
                  <a:pt x="184403" y="16763"/>
                </a:moveTo>
                <a:lnTo>
                  <a:pt x="182368" y="9858"/>
                </a:lnTo>
                <a:lnTo>
                  <a:pt x="177831" y="4381"/>
                </a:lnTo>
                <a:lnTo>
                  <a:pt x="171438" y="904"/>
                </a:lnTo>
                <a:lnTo>
                  <a:pt x="163829" y="0"/>
                </a:lnTo>
                <a:lnTo>
                  <a:pt x="0" y="17525"/>
                </a:lnTo>
                <a:lnTo>
                  <a:pt x="26669" y="55077"/>
                </a:lnTo>
                <a:lnTo>
                  <a:pt x="26669" y="50291"/>
                </a:lnTo>
                <a:lnTo>
                  <a:pt x="41909" y="15239"/>
                </a:lnTo>
                <a:lnTo>
                  <a:pt x="106811" y="44465"/>
                </a:lnTo>
                <a:lnTo>
                  <a:pt x="167639" y="38099"/>
                </a:lnTo>
                <a:lnTo>
                  <a:pt x="174974" y="35623"/>
                </a:lnTo>
                <a:lnTo>
                  <a:pt x="180593" y="30860"/>
                </a:lnTo>
                <a:lnTo>
                  <a:pt x="183927" y="24383"/>
                </a:lnTo>
                <a:lnTo>
                  <a:pt x="184403" y="16763"/>
                </a:lnTo>
                <a:close/>
              </a:path>
              <a:path w="1023620" h="491489">
                <a:moveTo>
                  <a:pt x="106811" y="44465"/>
                </a:moveTo>
                <a:lnTo>
                  <a:pt x="41909" y="15239"/>
                </a:lnTo>
                <a:lnTo>
                  <a:pt x="26669" y="50291"/>
                </a:lnTo>
                <a:lnTo>
                  <a:pt x="36575" y="54748"/>
                </a:lnTo>
                <a:lnTo>
                  <a:pt x="36575" y="51815"/>
                </a:lnTo>
                <a:lnTo>
                  <a:pt x="49529" y="22097"/>
                </a:lnTo>
                <a:lnTo>
                  <a:pt x="68429" y="48482"/>
                </a:lnTo>
                <a:lnTo>
                  <a:pt x="106811" y="44465"/>
                </a:lnTo>
                <a:close/>
              </a:path>
              <a:path w="1023620" h="491489">
                <a:moveTo>
                  <a:pt x="129920" y="143732"/>
                </a:moveTo>
                <a:lnTo>
                  <a:pt x="129635" y="136386"/>
                </a:lnTo>
                <a:lnTo>
                  <a:pt x="126491" y="129539"/>
                </a:lnTo>
                <a:lnTo>
                  <a:pt x="90198" y="78872"/>
                </a:lnTo>
                <a:lnTo>
                  <a:pt x="26669" y="50291"/>
                </a:lnTo>
                <a:lnTo>
                  <a:pt x="26669" y="55077"/>
                </a:lnTo>
                <a:lnTo>
                  <a:pt x="95250" y="151637"/>
                </a:lnTo>
                <a:lnTo>
                  <a:pt x="100810" y="156745"/>
                </a:lnTo>
                <a:lnTo>
                  <a:pt x="107727" y="159353"/>
                </a:lnTo>
                <a:lnTo>
                  <a:pt x="115073" y="159246"/>
                </a:lnTo>
                <a:lnTo>
                  <a:pt x="121919" y="156209"/>
                </a:lnTo>
                <a:lnTo>
                  <a:pt x="127349" y="150649"/>
                </a:lnTo>
                <a:lnTo>
                  <a:pt x="129920" y="143732"/>
                </a:lnTo>
                <a:close/>
              </a:path>
              <a:path w="1023620" h="491489">
                <a:moveTo>
                  <a:pt x="68429" y="48482"/>
                </a:moveTo>
                <a:lnTo>
                  <a:pt x="49529" y="22097"/>
                </a:lnTo>
                <a:lnTo>
                  <a:pt x="36575" y="51815"/>
                </a:lnTo>
                <a:lnTo>
                  <a:pt x="68429" y="48482"/>
                </a:lnTo>
                <a:close/>
              </a:path>
              <a:path w="1023620" h="491489">
                <a:moveTo>
                  <a:pt x="90198" y="78872"/>
                </a:moveTo>
                <a:lnTo>
                  <a:pt x="68429" y="48482"/>
                </a:lnTo>
                <a:lnTo>
                  <a:pt x="36575" y="51815"/>
                </a:lnTo>
                <a:lnTo>
                  <a:pt x="36575" y="54748"/>
                </a:lnTo>
                <a:lnTo>
                  <a:pt x="90198" y="78872"/>
                </a:lnTo>
                <a:close/>
              </a:path>
              <a:path w="1023620" h="491489">
                <a:moveTo>
                  <a:pt x="1023366" y="457199"/>
                </a:moveTo>
                <a:lnTo>
                  <a:pt x="106811" y="44465"/>
                </a:lnTo>
                <a:lnTo>
                  <a:pt x="68429" y="48482"/>
                </a:lnTo>
                <a:lnTo>
                  <a:pt x="90198" y="78872"/>
                </a:lnTo>
                <a:lnTo>
                  <a:pt x="1007363" y="491489"/>
                </a:lnTo>
                <a:lnTo>
                  <a:pt x="1023366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512050" y="3905163"/>
            <a:ext cx="2759710" cy="10648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99600"/>
              </a:lnSpc>
              <a:spcBef>
                <a:spcPts val="5"/>
              </a:spcBef>
            </a:pPr>
            <a:r>
              <a:rPr sz="1400" b="1" dirty="0">
                <a:latin typeface="Tahoma"/>
                <a:cs typeface="Tahoma"/>
              </a:rPr>
              <a:t>Only </a:t>
            </a:r>
            <a:r>
              <a:rPr sz="1400" b="1" spc="-5" dirty="0">
                <a:latin typeface="Tahoma"/>
                <a:cs typeface="Tahoma"/>
              </a:rPr>
              <a:t>one </a:t>
            </a:r>
            <a:r>
              <a:rPr sz="1400" b="1" dirty="0">
                <a:latin typeface="Tahoma"/>
                <a:cs typeface="Tahoma"/>
              </a:rPr>
              <a:t>thread </a:t>
            </a:r>
            <a:r>
              <a:rPr sz="1400" b="1" spc="-5" dirty="0">
                <a:latin typeface="Tahoma"/>
                <a:cs typeface="Tahoma"/>
              </a:rPr>
              <a:t>should copy  </a:t>
            </a:r>
            <a:r>
              <a:rPr sz="1400" b="1" dirty="0">
                <a:latin typeface="Tahoma"/>
                <a:cs typeface="Tahoma"/>
              </a:rPr>
              <a:t>the </a:t>
            </a:r>
            <a:r>
              <a:rPr sz="1400" b="1" spc="-5" dirty="0">
                <a:latin typeface="Tahoma"/>
                <a:cs typeface="Tahoma"/>
              </a:rPr>
              <a:t>number of </a:t>
            </a:r>
            <a:r>
              <a:rPr sz="1400" b="1" dirty="0">
                <a:latin typeface="Tahoma"/>
                <a:cs typeface="Tahoma"/>
              </a:rPr>
              <a:t>threads to the  </a:t>
            </a:r>
            <a:r>
              <a:rPr sz="1400" b="1" spc="-5" dirty="0">
                <a:latin typeface="Tahoma"/>
                <a:cs typeface="Tahoma"/>
              </a:rPr>
              <a:t>global value to make sure  </a:t>
            </a:r>
            <a:r>
              <a:rPr sz="1400" b="1" dirty="0">
                <a:latin typeface="Tahoma"/>
                <a:cs typeface="Tahoma"/>
              </a:rPr>
              <a:t>multiple threads writing to the  </a:t>
            </a:r>
            <a:r>
              <a:rPr sz="1400" b="1" spc="-5" dirty="0">
                <a:latin typeface="Tahoma"/>
                <a:cs typeface="Tahoma"/>
              </a:rPr>
              <a:t>same </a:t>
            </a:r>
            <a:r>
              <a:rPr sz="1400" b="1" dirty="0">
                <a:latin typeface="Tahoma"/>
                <a:cs typeface="Tahoma"/>
              </a:rPr>
              <a:t>address don</a:t>
            </a:r>
            <a:r>
              <a:rPr sz="1400" b="1" dirty="0">
                <a:latin typeface="Arial"/>
                <a:cs typeface="Arial"/>
              </a:rPr>
              <a:t>’</a:t>
            </a:r>
            <a:r>
              <a:rPr sz="1400" b="1" dirty="0">
                <a:latin typeface="Tahoma"/>
                <a:cs typeface="Tahoma"/>
              </a:rPr>
              <a:t>t</a:t>
            </a:r>
            <a:r>
              <a:rPr sz="1400" b="1" spc="5" dirty="0">
                <a:latin typeface="Tahoma"/>
                <a:cs typeface="Tahoma"/>
              </a:rPr>
              <a:t> </a:t>
            </a:r>
            <a:r>
              <a:rPr sz="1400" b="1" spc="-5" dirty="0">
                <a:latin typeface="Tahoma"/>
                <a:cs typeface="Tahoma"/>
              </a:rPr>
              <a:t>conflict.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37553" y="3777996"/>
            <a:ext cx="3124200" cy="1245235"/>
            <a:chOff x="6337553" y="3777996"/>
            <a:chExt cx="3124200" cy="1245235"/>
          </a:xfrm>
        </p:grpSpPr>
        <p:sp>
          <p:nvSpPr>
            <p:cNvPr id="32" name="object 32"/>
            <p:cNvSpPr/>
            <p:nvPr/>
          </p:nvSpPr>
          <p:spPr>
            <a:xfrm>
              <a:off x="6413753" y="3854196"/>
              <a:ext cx="3048000" cy="11689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37553" y="3777996"/>
              <a:ext cx="3048000" cy="1169035"/>
            </a:xfrm>
            <a:custGeom>
              <a:avLst/>
              <a:gdLst/>
              <a:ahLst/>
              <a:cxnLst/>
              <a:rect l="l" t="t" r="r" b="b"/>
              <a:pathLst>
                <a:path w="3048000" h="1169035">
                  <a:moveTo>
                    <a:pt x="3048000" y="1168908"/>
                  </a:moveTo>
                  <a:lnTo>
                    <a:pt x="3048000" y="0"/>
                  </a:lnTo>
                  <a:lnTo>
                    <a:pt x="0" y="0"/>
                  </a:lnTo>
                  <a:lnTo>
                    <a:pt x="0" y="1168908"/>
                  </a:lnTo>
                  <a:lnTo>
                    <a:pt x="3048000" y="1168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337553" y="3777996"/>
            <a:ext cx="3048000" cy="116903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97790" marR="182245">
              <a:lnSpc>
                <a:spcPct val="99600"/>
              </a:lnSpc>
              <a:spcBef>
                <a:spcPts val="405"/>
              </a:spcBef>
            </a:pPr>
            <a:r>
              <a:rPr sz="1400" b="1" dirty="0">
                <a:latin typeface="Tahoma"/>
                <a:cs typeface="Tahoma"/>
              </a:rPr>
              <a:t>Only </a:t>
            </a:r>
            <a:r>
              <a:rPr sz="1400" b="1" spc="-5" dirty="0">
                <a:latin typeface="Tahoma"/>
                <a:cs typeface="Tahoma"/>
              </a:rPr>
              <a:t>one </a:t>
            </a:r>
            <a:r>
              <a:rPr sz="1400" b="1" dirty="0">
                <a:latin typeface="Tahoma"/>
                <a:cs typeface="Tahoma"/>
              </a:rPr>
              <a:t>thread </a:t>
            </a:r>
            <a:r>
              <a:rPr sz="1400" b="1" spc="-5" dirty="0">
                <a:latin typeface="Tahoma"/>
                <a:cs typeface="Tahoma"/>
              </a:rPr>
              <a:t>should copy  </a:t>
            </a:r>
            <a:r>
              <a:rPr sz="1400" b="1" dirty="0">
                <a:latin typeface="Tahoma"/>
                <a:cs typeface="Tahoma"/>
              </a:rPr>
              <a:t>the </a:t>
            </a:r>
            <a:r>
              <a:rPr sz="1400" b="1" spc="-5" dirty="0">
                <a:latin typeface="Tahoma"/>
                <a:cs typeface="Tahoma"/>
              </a:rPr>
              <a:t>number of </a:t>
            </a:r>
            <a:r>
              <a:rPr sz="1400" b="1" dirty="0">
                <a:latin typeface="Tahoma"/>
                <a:cs typeface="Tahoma"/>
              </a:rPr>
              <a:t>threads to the  </a:t>
            </a:r>
            <a:r>
              <a:rPr sz="1400" b="1" spc="-5" dirty="0">
                <a:latin typeface="Tahoma"/>
                <a:cs typeface="Tahoma"/>
              </a:rPr>
              <a:t>global value to make sure  </a:t>
            </a:r>
            <a:r>
              <a:rPr sz="1400" b="1" dirty="0">
                <a:latin typeface="Tahoma"/>
                <a:cs typeface="Tahoma"/>
              </a:rPr>
              <a:t>multiple threads writing to the  </a:t>
            </a:r>
            <a:r>
              <a:rPr sz="1400" b="1" spc="-5" dirty="0">
                <a:latin typeface="Tahoma"/>
                <a:cs typeface="Tahoma"/>
              </a:rPr>
              <a:t>same </a:t>
            </a:r>
            <a:r>
              <a:rPr sz="1400" b="1" dirty="0">
                <a:latin typeface="Tahoma"/>
                <a:cs typeface="Tahoma"/>
              </a:rPr>
              <a:t>address don</a:t>
            </a:r>
            <a:r>
              <a:rPr sz="1400" b="1" dirty="0">
                <a:latin typeface="Arial"/>
                <a:cs typeface="Arial"/>
              </a:rPr>
              <a:t>’</a:t>
            </a:r>
            <a:r>
              <a:rPr sz="1400" b="1" dirty="0">
                <a:latin typeface="Tahoma"/>
                <a:cs typeface="Tahoma"/>
              </a:rPr>
              <a:t>t</a:t>
            </a:r>
            <a:r>
              <a:rPr sz="1400" b="1" spc="5" dirty="0">
                <a:latin typeface="Tahoma"/>
                <a:cs typeface="Tahoma"/>
              </a:rPr>
              <a:t> </a:t>
            </a:r>
            <a:r>
              <a:rPr sz="1400" b="1" spc="-5" dirty="0">
                <a:latin typeface="Tahoma"/>
                <a:cs typeface="Tahoma"/>
              </a:rPr>
              <a:t>conflict.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02808" y="4350258"/>
            <a:ext cx="674370" cy="837565"/>
          </a:xfrm>
          <a:custGeom>
            <a:avLst/>
            <a:gdLst/>
            <a:ahLst/>
            <a:cxnLst/>
            <a:rect l="l" t="t" r="r" b="b"/>
            <a:pathLst>
              <a:path w="674370" h="837564">
                <a:moveTo>
                  <a:pt x="61722" y="679704"/>
                </a:moveTo>
                <a:lnTo>
                  <a:pt x="61257" y="672084"/>
                </a:lnTo>
                <a:lnTo>
                  <a:pt x="58007" y="665607"/>
                </a:lnTo>
                <a:lnTo>
                  <a:pt x="52613" y="660844"/>
                </a:lnTo>
                <a:lnTo>
                  <a:pt x="45720" y="658368"/>
                </a:lnTo>
                <a:lnTo>
                  <a:pt x="37980" y="658725"/>
                </a:lnTo>
                <a:lnTo>
                  <a:pt x="31242" y="661797"/>
                </a:lnTo>
                <a:lnTo>
                  <a:pt x="26217" y="667154"/>
                </a:lnTo>
                <a:lnTo>
                  <a:pt x="23622" y="674370"/>
                </a:lnTo>
                <a:lnTo>
                  <a:pt x="0" y="837438"/>
                </a:lnTo>
                <a:lnTo>
                  <a:pt x="8382" y="834201"/>
                </a:lnTo>
                <a:lnTo>
                  <a:pt x="8382" y="796290"/>
                </a:lnTo>
                <a:lnTo>
                  <a:pt x="52431" y="741161"/>
                </a:lnTo>
                <a:lnTo>
                  <a:pt x="61722" y="679704"/>
                </a:lnTo>
                <a:close/>
              </a:path>
              <a:path w="674370" h="837564">
                <a:moveTo>
                  <a:pt x="52431" y="741161"/>
                </a:moveTo>
                <a:lnTo>
                  <a:pt x="8382" y="796290"/>
                </a:lnTo>
                <a:lnTo>
                  <a:pt x="16764" y="802952"/>
                </a:lnTo>
                <a:lnTo>
                  <a:pt x="16764" y="790194"/>
                </a:lnTo>
                <a:lnTo>
                  <a:pt x="46784" y="778519"/>
                </a:lnTo>
                <a:lnTo>
                  <a:pt x="52431" y="741161"/>
                </a:lnTo>
                <a:close/>
              </a:path>
              <a:path w="674370" h="837564">
                <a:moveTo>
                  <a:pt x="165818" y="761071"/>
                </a:moveTo>
                <a:lnTo>
                  <a:pt x="164592" y="753618"/>
                </a:lnTo>
                <a:lnTo>
                  <a:pt x="160460" y="747117"/>
                </a:lnTo>
                <a:lnTo>
                  <a:pt x="154400" y="742759"/>
                </a:lnTo>
                <a:lnTo>
                  <a:pt x="147339" y="740973"/>
                </a:lnTo>
                <a:lnTo>
                  <a:pt x="140208" y="742188"/>
                </a:lnTo>
                <a:lnTo>
                  <a:pt x="82231" y="764734"/>
                </a:lnTo>
                <a:lnTo>
                  <a:pt x="38100" y="819912"/>
                </a:lnTo>
                <a:lnTo>
                  <a:pt x="8382" y="796290"/>
                </a:lnTo>
                <a:lnTo>
                  <a:pt x="8382" y="834201"/>
                </a:lnTo>
                <a:lnTo>
                  <a:pt x="153924" y="778002"/>
                </a:lnTo>
                <a:lnTo>
                  <a:pt x="159984" y="773977"/>
                </a:lnTo>
                <a:lnTo>
                  <a:pt x="164115" y="768096"/>
                </a:lnTo>
                <a:lnTo>
                  <a:pt x="165818" y="761071"/>
                </a:lnTo>
                <a:close/>
              </a:path>
              <a:path w="674370" h="837564">
                <a:moveTo>
                  <a:pt x="46784" y="778519"/>
                </a:moveTo>
                <a:lnTo>
                  <a:pt x="16764" y="790194"/>
                </a:lnTo>
                <a:lnTo>
                  <a:pt x="41910" y="810768"/>
                </a:lnTo>
                <a:lnTo>
                  <a:pt x="46784" y="778519"/>
                </a:lnTo>
                <a:close/>
              </a:path>
              <a:path w="674370" h="837564">
                <a:moveTo>
                  <a:pt x="82231" y="764734"/>
                </a:moveTo>
                <a:lnTo>
                  <a:pt x="46784" y="778519"/>
                </a:lnTo>
                <a:lnTo>
                  <a:pt x="41910" y="810768"/>
                </a:lnTo>
                <a:lnTo>
                  <a:pt x="16764" y="790194"/>
                </a:lnTo>
                <a:lnTo>
                  <a:pt x="16764" y="802952"/>
                </a:lnTo>
                <a:lnTo>
                  <a:pt x="38100" y="819912"/>
                </a:lnTo>
                <a:lnTo>
                  <a:pt x="82231" y="764734"/>
                </a:lnTo>
                <a:close/>
              </a:path>
              <a:path w="674370" h="837564">
                <a:moveTo>
                  <a:pt x="674370" y="24384"/>
                </a:moveTo>
                <a:lnTo>
                  <a:pt x="644652" y="0"/>
                </a:lnTo>
                <a:lnTo>
                  <a:pt x="52431" y="741161"/>
                </a:lnTo>
                <a:lnTo>
                  <a:pt x="46784" y="778519"/>
                </a:lnTo>
                <a:lnTo>
                  <a:pt x="82231" y="764734"/>
                </a:lnTo>
                <a:lnTo>
                  <a:pt x="674370" y="24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067800" y="6870954"/>
            <a:ext cx="190500" cy="2026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5266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77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3096" y="1875840"/>
            <a:ext cx="6619240" cy="47555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Introduction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single masters 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stuff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 your for and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model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 and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9648" y="3106420"/>
            <a:ext cx="469900" cy="317500"/>
            <a:chOff x="739648" y="3106420"/>
            <a:chExt cx="469900" cy="317500"/>
          </a:xfrm>
        </p:grpSpPr>
        <p:sp>
          <p:nvSpPr>
            <p:cNvPr id="5" name="object 5"/>
            <p:cNvSpPr/>
            <p:nvPr/>
          </p:nvSpPr>
          <p:spPr>
            <a:xfrm>
              <a:off x="745998" y="311277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400"/>
                  </a:moveTo>
                  <a:lnTo>
                    <a:pt x="342900" y="0"/>
                  </a:ln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8" y="311277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42900" y="0"/>
                  </a:move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19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3798"/>
            <a:ext cx="39751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Synchronization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874801"/>
            <a:ext cx="4938395" cy="146177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High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synchronization:</a:t>
            </a:r>
            <a:endParaRPr sz="2800" dirty="0">
              <a:latin typeface="Arial"/>
              <a:cs typeface="Arial"/>
            </a:endParaRPr>
          </a:p>
          <a:p>
            <a:pPr marL="1155700" lvl="1" indent="-228600">
              <a:lnSpc>
                <a:spcPct val="100000"/>
              </a:lnSpc>
              <a:spcBef>
                <a:spcPts val="695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lang="en-CA" sz="2400" b="1" spc="-5" dirty="0">
                <a:solidFill>
                  <a:srgbClr val="FFFF9A"/>
                </a:solidFill>
                <a:latin typeface="Arial"/>
                <a:cs typeface="Arial"/>
              </a:rPr>
              <a:t>C</a:t>
            </a:r>
            <a:r>
              <a:rPr sz="2400" b="1" spc="-5" dirty="0" err="1">
                <a:solidFill>
                  <a:srgbClr val="FFFF9A"/>
                </a:solidFill>
                <a:latin typeface="Arial"/>
                <a:cs typeface="Arial"/>
              </a:rPr>
              <a:t>ritical</a:t>
            </a:r>
            <a:r>
              <a:rPr lang="en-US" sz="2400" b="1" spc="-5" dirty="0">
                <a:solidFill>
                  <a:srgbClr val="FFFF9A"/>
                </a:solidFill>
                <a:latin typeface="Arial"/>
                <a:cs typeface="Arial"/>
              </a:rPr>
              <a:t> Section / </a:t>
            </a:r>
            <a:r>
              <a:rPr lang="en-US" sz="2400" b="1" spc="-5" dirty="0" err="1">
                <a:solidFill>
                  <a:srgbClr val="FFFF9A"/>
                </a:solidFill>
                <a:latin typeface="Arial"/>
                <a:cs typeface="Arial"/>
              </a:rPr>
              <a:t>Mutex</a:t>
            </a:r>
            <a:endParaRPr sz="2400" dirty="0">
              <a:latin typeface="Arial"/>
              <a:cs typeface="Arial"/>
            </a:endParaRPr>
          </a:p>
          <a:p>
            <a:pPr marL="1155700" lvl="1" indent="-228600">
              <a:lnSpc>
                <a:spcPct val="100000"/>
              </a:lnSpc>
              <a:spcBef>
                <a:spcPts val="685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400" b="1" spc="-5" dirty="0">
                <a:solidFill>
                  <a:srgbClr val="FFFF9A"/>
                </a:solidFill>
                <a:latin typeface="Arial"/>
                <a:cs typeface="Arial"/>
              </a:rPr>
              <a:t>atomic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67552" y="1168653"/>
            <a:ext cx="3540125" cy="1943100"/>
            <a:chOff x="6067552" y="1168653"/>
            <a:chExt cx="3540125" cy="1943100"/>
          </a:xfrm>
        </p:grpSpPr>
        <p:sp>
          <p:nvSpPr>
            <p:cNvPr id="6" name="object 6"/>
            <p:cNvSpPr/>
            <p:nvPr/>
          </p:nvSpPr>
          <p:spPr>
            <a:xfrm>
              <a:off x="6073902" y="1175003"/>
              <a:ext cx="3527425" cy="1930400"/>
            </a:xfrm>
            <a:custGeom>
              <a:avLst/>
              <a:gdLst/>
              <a:ahLst/>
              <a:cxnLst/>
              <a:rect l="l" t="t" r="r" b="b"/>
              <a:pathLst>
                <a:path w="3527425" h="1930400">
                  <a:moveTo>
                    <a:pt x="3527298" y="1930145"/>
                  </a:moveTo>
                  <a:lnTo>
                    <a:pt x="3527298" y="0"/>
                  </a:lnTo>
                  <a:lnTo>
                    <a:pt x="0" y="0"/>
                  </a:lnTo>
                  <a:lnTo>
                    <a:pt x="0" y="1930145"/>
                  </a:lnTo>
                  <a:lnTo>
                    <a:pt x="3527298" y="19301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73902" y="1175003"/>
              <a:ext cx="3527425" cy="1930400"/>
            </a:xfrm>
            <a:custGeom>
              <a:avLst/>
              <a:gdLst/>
              <a:ahLst/>
              <a:cxnLst/>
              <a:rect l="l" t="t" r="r" b="b"/>
              <a:pathLst>
                <a:path w="3527425" h="1930400">
                  <a:moveTo>
                    <a:pt x="0" y="0"/>
                  </a:moveTo>
                  <a:lnTo>
                    <a:pt x="0" y="1930145"/>
                  </a:lnTo>
                  <a:lnTo>
                    <a:pt x="3527298" y="1930145"/>
                  </a:lnTo>
                  <a:lnTo>
                    <a:pt x="3527298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06744" y="1211834"/>
            <a:ext cx="3260090" cy="185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Synchronization </a:t>
            </a:r>
            <a:r>
              <a:rPr sz="2400" b="1" dirty="0">
                <a:latin typeface="Tahoma"/>
                <a:cs typeface="Tahoma"/>
              </a:rPr>
              <a:t>is  </a:t>
            </a:r>
            <a:r>
              <a:rPr sz="2400" b="1" spc="-5" dirty="0">
                <a:latin typeface="Tahoma"/>
                <a:cs typeface="Tahoma"/>
              </a:rPr>
              <a:t>used to impose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order  constraints and to  protect access to  shared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data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20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2802" y="6915204"/>
            <a:ext cx="19685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1502" y="789685"/>
            <a:ext cx="47371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Synchronization:</a:t>
            </a:r>
            <a:r>
              <a:rPr sz="3200" spc="-5" dirty="0"/>
              <a:t> </a:t>
            </a:r>
            <a:r>
              <a:rPr sz="3200" spc="-10" dirty="0"/>
              <a:t>critical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3474720" y="2462022"/>
            <a:ext cx="5747385" cy="4664710"/>
          </a:xfrm>
          <a:custGeom>
            <a:avLst/>
            <a:gdLst/>
            <a:ahLst/>
            <a:cxnLst/>
            <a:rect l="l" t="t" r="r" b="b"/>
            <a:pathLst>
              <a:path w="5747384" h="4664709">
                <a:moveTo>
                  <a:pt x="5747004" y="4664202"/>
                </a:moveTo>
                <a:lnTo>
                  <a:pt x="5747004" y="0"/>
                </a:lnTo>
                <a:lnTo>
                  <a:pt x="0" y="0"/>
                </a:lnTo>
                <a:lnTo>
                  <a:pt x="0" y="4664202"/>
                </a:lnTo>
                <a:lnTo>
                  <a:pt x="5747004" y="4664202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5500" y="1542542"/>
            <a:ext cx="7667625" cy="17348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marR="5080" indent="-285750">
              <a:lnSpc>
                <a:spcPts val="3160"/>
              </a:lnSpc>
              <a:spcBef>
                <a:spcPts val="3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Mutual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exclusion: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Only one thread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at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time  can enter a </a:t>
            </a:r>
            <a:r>
              <a:rPr sz="2800" b="1" spc="-5" dirty="0">
                <a:solidFill>
                  <a:srgbClr val="FFFF00"/>
                </a:solidFill>
                <a:latin typeface="Arial"/>
                <a:cs typeface="Arial"/>
              </a:rPr>
              <a:t>critical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region.</a:t>
            </a:r>
            <a:endParaRPr sz="2800">
              <a:latin typeface="Arial"/>
              <a:cs typeface="Arial"/>
            </a:endParaRPr>
          </a:p>
          <a:p>
            <a:pPr marL="2741295">
              <a:lnSpc>
                <a:spcPct val="100000"/>
              </a:lnSpc>
              <a:spcBef>
                <a:spcPts val="86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float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res;</a:t>
            </a:r>
            <a:endParaRPr sz="2000">
              <a:latin typeface="Arial"/>
              <a:cs typeface="Arial"/>
            </a:endParaRPr>
          </a:p>
          <a:p>
            <a:pPr marL="2741295">
              <a:lnSpc>
                <a:spcPct val="100000"/>
              </a:lnSpc>
              <a:spcBef>
                <a:spcPts val="1200"/>
              </a:spcBef>
            </a:pP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#pragma </a:t>
            </a: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omp</a:t>
            </a:r>
            <a:r>
              <a:rPr sz="2000" b="1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parallel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6921" y="3251402"/>
            <a:ext cx="4558665" cy="38354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0"/>
              </a:spcBef>
              <a:tabLst>
                <a:tab pos="449580" algn="l"/>
                <a:tab pos="153162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{	float B;	int i, id,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nthrds;</a:t>
            </a:r>
            <a:endParaRPr sz="2000">
              <a:latin typeface="Arial"/>
              <a:cs typeface="Arial"/>
            </a:endParaRPr>
          </a:p>
          <a:p>
            <a:pPr marL="420370" marR="5080" indent="-1270">
              <a:lnSpc>
                <a:spcPct val="150000"/>
              </a:lnSpc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id = omp_get_thread_num();  nthrds =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omp_get_num_threads();  for(i=id;i&lt;niters;i+nthrds){</a:t>
            </a:r>
            <a:endParaRPr sz="2000">
              <a:latin typeface="Arial"/>
              <a:cs typeface="Arial"/>
            </a:endParaRPr>
          </a:p>
          <a:p>
            <a:pPr marR="1868170" indent="914400">
              <a:lnSpc>
                <a:spcPct val="150000"/>
              </a:lnSpc>
              <a:tabLst>
                <a:tab pos="1457325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B =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big_job(i); 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#pragma </a:t>
            </a: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omp</a:t>
            </a:r>
            <a:r>
              <a:rPr sz="2000" b="1" spc="-15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critical</a:t>
            </a:r>
            <a:endParaRPr sz="2000">
              <a:latin typeface="Arial"/>
              <a:cs typeface="Arial"/>
            </a:endParaRPr>
          </a:p>
          <a:p>
            <a:pPr marL="1048385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consume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(B,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res);</a:t>
            </a:r>
            <a:endParaRPr sz="2000">
              <a:latin typeface="Arial"/>
              <a:cs typeface="Arial"/>
            </a:endParaRPr>
          </a:p>
          <a:p>
            <a:pPr marL="419734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4548294"/>
            <a:ext cx="1863725" cy="1801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0"/>
              </a:lnSpc>
            </a:pPr>
            <a:r>
              <a:rPr sz="2400" b="1" dirty="0">
                <a:latin typeface="Arial"/>
                <a:cs typeface="Arial"/>
              </a:rPr>
              <a:t>Threads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wait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99900"/>
              </a:lnSpc>
            </a:pPr>
            <a:r>
              <a:rPr sz="2400" b="1" spc="-5" dirty="0">
                <a:latin typeface="Arial"/>
                <a:cs typeface="Arial"/>
              </a:rPr>
              <a:t>their turn </a:t>
            </a:r>
            <a:r>
              <a:rPr sz="2400" b="1" dirty="0">
                <a:latin typeface="Arial"/>
                <a:cs typeface="Arial"/>
              </a:rPr>
              <a:t>–  </a:t>
            </a:r>
            <a:r>
              <a:rPr sz="2400" b="1" spc="-5" dirty="0">
                <a:latin typeface="Arial"/>
                <a:cs typeface="Arial"/>
              </a:rPr>
              <a:t>only one at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  </a:t>
            </a:r>
            <a:r>
              <a:rPr sz="2400" b="1" spc="-5" dirty="0">
                <a:latin typeface="Arial"/>
                <a:cs typeface="Arial"/>
              </a:rPr>
              <a:t>time calls  consume()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5998" y="4406646"/>
            <a:ext cx="2362200" cy="1994535"/>
            <a:chOff x="745998" y="4406646"/>
            <a:chExt cx="2362200" cy="1994535"/>
          </a:xfrm>
        </p:grpSpPr>
        <p:sp>
          <p:nvSpPr>
            <p:cNvPr id="9" name="object 9"/>
            <p:cNvSpPr/>
            <p:nvPr/>
          </p:nvSpPr>
          <p:spPr>
            <a:xfrm>
              <a:off x="822198" y="4482858"/>
              <a:ext cx="2286000" cy="1918335"/>
            </a:xfrm>
            <a:custGeom>
              <a:avLst/>
              <a:gdLst/>
              <a:ahLst/>
              <a:cxnLst/>
              <a:rect l="l" t="t" r="r" b="b"/>
              <a:pathLst>
                <a:path w="2286000" h="1918335">
                  <a:moveTo>
                    <a:pt x="2286000" y="0"/>
                  </a:moveTo>
                  <a:lnTo>
                    <a:pt x="0" y="0"/>
                  </a:lnTo>
                  <a:lnTo>
                    <a:pt x="0" y="1841741"/>
                  </a:lnTo>
                  <a:lnTo>
                    <a:pt x="0" y="1917941"/>
                  </a:lnTo>
                  <a:lnTo>
                    <a:pt x="2286000" y="1917941"/>
                  </a:lnTo>
                  <a:lnTo>
                    <a:pt x="2286000" y="1841741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5998" y="4406646"/>
              <a:ext cx="2286000" cy="1918335"/>
            </a:xfrm>
            <a:custGeom>
              <a:avLst/>
              <a:gdLst/>
              <a:ahLst/>
              <a:cxnLst/>
              <a:rect l="l" t="t" r="r" b="b"/>
              <a:pathLst>
                <a:path w="2286000" h="1918335">
                  <a:moveTo>
                    <a:pt x="2286000" y="1917953"/>
                  </a:moveTo>
                  <a:lnTo>
                    <a:pt x="2286000" y="0"/>
                  </a:lnTo>
                  <a:lnTo>
                    <a:pt x="0" y="0"/>
                  </a:lnTo>
                  <a:lnTo>
                    <a:pt x="0" y="1917953"/>
                  </a:lnTo>
                  <a:lnTo>
                    <a:pt x="2286000" y="19179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2197" y="4430521"/>
            <a:ext cx="220980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3225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Threads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wait  </a:t>
            </a:r>
            <a:r>
              <a:rPr sz="2400" b="1" spc="-5" dirty="0">
                <a:latin typeface="Arial"/>
                <a:cs typeface="Arial"/>
              </a:rPr>
              <a:t>their turn </a:t>
            </a:r>
            <a:r>
              <a:rPr sz="2400" b="1" dirty="0">
                <a:latin typeface="Arial"/>
                <a:cs typeface="Arial"/>
              </a:rPr>
              <a:t>–  </a:t>
            </a:r>
            <a:r>
              <a:rPr sz="2400" b="1" spc="-5" dirty="0">
                <a:latin typeface="Arial"/>
                <a:cs typeface="Arial"/>
              </a:rPr>
              <a:t>only one at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  </a:t>
            </a:r>
            <a:r>
              <a:rPr sz="2400" b="1" spc="-5" dirty="0">
                <a:latin typeface="Arial"/>
                <a:cs typeface="Arial"/>
              </a:rPr>
              <a:t>time calls  consume()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21329" y="5388102"/>
            <a:ext cx="367030" cy="426720"/>
          </a:xfrm>
          <a:custGeom>
            <a:avLst/>
            <a:gdLst/>
            <a:ahLst/>
            <a:cxnLst/>
            <a:rect l="l" t="t" r="r" b="b"/>
            <a:pathLst>
              <a:path w="367029" h="426720">
                <a:moveTo>
                  <a:pt x="340557" y="374029"/>
                </a:moveTo>
                <a:lnTo>
                  <a:pt x="21336" y="0"/>
                </a:lnTo>
                <a:lnTo>
                  <a:pt x="0" y="18288"/>
                </a:lnTo>
                <a:lnTo>
                  <a:pt x="318263" y="392802"/>
                </a:lnTo>
                <a:lnTo>
                  <a:pt x="340557" y="374029"/>
                </a:lnTo>
                <a:close/>
              </a:path>
              <a:path w="367029" h="426720">
                <a:moveTo>
                  <a:pt x="349758" y="419535"/>
                </a:moveTo>
                <a:lnTo>
                  <a:pt x="349758" y="384810"/>
                </a:lnTo>
                <a:lnTo>
                  <a:pt x="327660" y="403860"/>
                </a:lnTo>
                <a:lnTo>
                  <a:pt x="318263" y="392802"/>
                </a:lnTo>
                <a:lnTo>
                  <a:pt x="307848" y="401574"/>
                </a:lnTo>
                <a:lnTo>
                  <a:pt x="349758" y="419535"/>
                </a:lnTo>
                <a:close/>
              </a:path>
              <a:path w="367029" h="426720">
                <a:moveTo>
                  <a:pt x="349758" y="384810"/>
                </a:moveTo>
                <a:lnTo>
                  <a:pt x="340557" y="374029"/>
                </a:lnTo>
                <a:lnTo>
                  <a:pt x="318263" y="392802"/>
                </a:lnTo>
                <a:lnTo>
                  <a:pt x="327660" y="403860"/>
                </a:lnTo>
                <a:lnTo>
                  <a:pt x="349758" y="384810"/>
                </a:lnTo>
                <a:close/>
              </a:path>
              <a:path w="367029" h="426720">
                <a:moveTo>
                  <a:pt x="366522" y="426720"/>
                </a:moveTo>
                <a:lnTo>
                  <a:pt x="351282" y="364998"/>
                </a:lnTo>
                <a:lnTo>
                  <a:pt x="340557" y="374029"/>
                </a:lnTo>
                <a:lnTo>
                  <a:pt x="349758" y="384810"/>
                </a:lnTo>
                <a:lnTo>
                  <a:pt x="349758" y="419535"/>
                </a:lnTo>
                <a:lnTo>
                  <a:pt x="366522" y="426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822451"/>
            <a:ext cx="60083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Synchronization:</a:t>
            </a:r>
            <a:r>
              <a:rPr spc="-70" dirty="0"/>
              <a:t> </a:t>
            </a:r>
            <a:r>
              <a:rPr spc="-5" dirty="0"/>
              <a:t>Atomic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22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1636267"/>
            <a:ext cx="8303259" cy="12560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marR="5080" indent="-285750">
              <a:lnSpc>
                <a:spcPts val="3160"/>
              </a:lnSpc>
              <a:spcBef>
                <a:spcPts val="3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00"/>
                </a:solidFill>
                <a:latin typeface="Arial"/>
                <a:cs typeface="Arial"/>
              </a:rPr>
              <a:t>Atomic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provides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mutual exclusion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but only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applies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 the update of a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location (the  update of X in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following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example)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9448" y="3135546"/>
            <a:ext cx="3417570" cy="3809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75"/>
              </a:lnSpc>
              <a:spcBef>
                <a:spcPts val="143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75692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double tmp,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B;</a:t>
            </a:r>
            <a:endParaRPr sz="2400">
              <a:latin typeface="Arial"/>
              <a:cs typeface="Arial"/>
            </a:endParaRPr>
          </a:p>
          <a:p>
            <a:pPr marL="672465">
              <a:lnSpc>
                <a:spcPct val="100000"/>
              </a:lnSpc>
              <a:spcBef>
                <a:spcPts val="1425"/>
              </a:spcBef>
              <a:tabLst>
                <a:tab pos="132270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	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DOIT();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Arial"/>
              <a:cs typeface="Arial"/>
            </a:endParaRPr>
          </a:p>
          <a:p>
            <a:pPr marL="914400" indent="-829944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#pragma omp atomic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+=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big_ugly(B);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200" y="3070098"/>
            <a:ext cx="6566534" cy="3926204"/>
          </a:xfrm>
          <a:prstGeom prst="rect">
            <a:avLst/>
          </a:prstGeom>
          <a:solidFill>
            <a:srgbClr val="001B72"/>
          </a:solidFill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ts val="2875"/>
              </a:lnSpc>
              <a:spcBef>
                <a:spcPts val="143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848994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double tmp,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B;</a:t>
            </a:r>
            <a:endParaRPr sz="2400">
              <a:latin typeface="Arial"/>
              <a:cs typeface="Arial"/>
            </a:endParaRPr>
          </a:p>
          <a:p>
            <a:pPr marL="764540">
              <a:lnSpc>
                <a:spcPct val="100000"/>
              </a:lnSpc>
              <a:spcBef>
                <a:spcPts val="1430"/>
              </a:spcBef>
              <a:tabLst>
                <a:tab pos="141478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	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DOIT();</a:t>
            </a:r>
            <a:endParaRPr sz="2400">
              <a:latin typeface="Arial"/>
              <a:cs typeface="Arial"/>
            </a:endParaRPr>
          </a:p>
          <a:p>
            <a:pPr marL="176530" marR="3112135" indent="588645">
              <a:lnSpc>
                <a:spcPct val="14980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tmp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big_ugly(B);  #pragma omp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atomic</a:t>
            </a:r>
            <a:endParaRPr sz="2400">
              <a:latin typeface="Arial"/>
              <a:cs typeface="Arial"/>
            </a:endParaRPr>
          </a:p>
          <a:p>
            <a:pPr marL="1006475">
              <a:lnSpc>
                <a:spcPts val="2875"/>
              </a:lnSpc>
              <a:tabLst>
                <a:tab pos="181737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+=	tmp;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143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146" y="5092446"/>
            <a:ext cx="3094990" cy="7150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8425" marR="300990">
              <a:lnSpc>
                <a:spcPct val="100000"/>
              </a:lnSpc>
              <a:spcBef>
                <a:spcPts val="400"/>
              </a:spcBef>
            </a:pPr>
            <a:r>
              <a:rPr sz="2000" b="1" dirty="0">
                <a:latin typeface="Tahoma"/>
                <a:cs typeface="Tahoma"/>
              </a:rPr>
              <a:t>Atomic </a:t>
            </a:r>
            <a:r>
              <a:rPr sz="2000" b="1" spc="-5" dirty="0">
                <a:latin typeface="Tahoma"/>
                <a:cs typeface="Tahoma"/>
              </a:rPr>
              <a:t>only protects  the read/update of</a:t>
            </a:r>
            <a:r>
              <a:rPr sz="2000" b="1" spc="-1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X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25406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Exercise</a:t>
            </a:r>
            <a:r>
              <a:rPr spc="-85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74595"/>
            <a:ext cx="8227059" cy="45599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98450" marR="5080" indent="-285750">
              <a:lnSpc>
                <a:spcPts val="3130"/>
              </a:lnSpc>
              <a:spcBef>
                <a:spcPts val="3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 exercise 2, you probably used an array to  create space for each thread to store its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partial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sum.</a:t>
            </a:r>
            <a:endParaRPr sz="2800">
              <a:latin typeface="Arial"/>
              <a:cs typeface="Arial"/>
            </a:endParaRPr>
          </a:p>
          <a:p>
            <a:pPr marL="298450" marR="27940" indent="-285750">
              <a:lnSpc>
                <a:spcPts val="3130"/>
              </a:lnSpc>
              <a:spcBef>
                <a:spcPts val="994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array elements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happen to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share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cache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line,  this leads to false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sharing.</a:t>
            </a:r>
            <a:endParaRPr sz="2800">
              <a:latin typeface="Arial"/>
              <a:cs typeface="Arial"/>
            </a:endParaRPr>
          </a:p>
          <a:p>
            <a:pPr marL="1155700" marR="123189" indent="-228600">
              <a:lnSpc>
                <a:spcPct val="92800"/>
              </a:lnSpc>
              <a:spcBef>
                <a:spcPts val="800"/>
              </a:spcBef>
            </a:pPr>
            <a:r>
              <a:rPr sz="2400" spc="-5" dirty="0">
                <a:solidFill>
                  <a:srgbClr val="F5C300"/>
                </a:solidFill>
                <a:latin typeface="Arial"/>
                <a:cs typeface="Arial"/>
              </a:rPr>
              <a:t>–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Non-shared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data in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the same cache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line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so</a:t>
            </a:r>
            <a:r>
              <a:rPr sz="2400" b="1" spc="-275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each  update invalidates the cache line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…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in essence  “sloshing independent data” back and forth 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between</a:t>
            </a:r>
            <a:r>
              <a:rPr sz="2400" b="1" spc="-1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threads.</a:t>
            </a:r>
            <a:endParaRPr sz="2400">
              <a:latin typeface="Arial"/>
              <a:cs typeface="Arial"/>
            </a:endParaRPr>
          </a:p>
          <a:p>
            <a:pPr marL="298450" marR="448309" indent="-285750">
              <a:lnSpc>
                <a:spcPts val="3130"/>
              </a:lnSpc>
              <a:spcBef>
                <a:spcPts val="10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Modify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your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“pi program”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from exercise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 to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avoid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false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sharing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due to 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sum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array.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67800" y="7010400"/>
            <a:ext cx="165353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23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33020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3515" algn="l"/>
              </a:tabLst>
            </a:pPr>
            <a:r>
              <a:rPr dirty="0"/>
              <a:t>False	</a:t>
            </a:r>
            <a:r>
              <a:rPr spc="-5" dirty="0"/>
              <a:t>sharing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3797" y="1978405"/>
            <a:ext cx="8350250" cy="443801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98450" marR="5080" indent="-285750">
              <a:lnSpc>
                <a:spcPts val="2680"/>
              </a:lnSpc>
              <a:spcBef>
                <a:spcPts val="3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If independent data elements happen to sit on the same  cache line, each update will cause the cache lines to  “slosh back and forth” between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threads.</a:t>
            </a:r>
            <a:endParaRPr sz="24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This is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called “false</a:t>
            </a: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sharing”.</a:t>
            </a:r>
            <a:endParaRPr sz="2000">
              <a:latin typeface="Arial"/>
              <a:cs typeface="Arial"/>
            </a:endParaRPr>
          </a:p>
          <a:p>
            <a:pPr marL="298450" marR="291465" indent="-285750">
              <a:lnSpc>
                <a:spcPts val="2680"/>
              </a:lnSpc>
              <a:spcBef>
                <a:spcPts val="9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you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promote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scalars to an array to support creation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an SPMD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program,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 array elements are  contiguous in memory and hence share cache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lines.</a:t>
            </a:r>
            <a:endParaRPr sz="24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Result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… poor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scalability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6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Solution:</a:t>
            </a:r>
            <a:endParaRPr sz="2400">
              <a:latin typeface="Arial"/>
              <a:cs typeface="Arial"/>
            </a:endParaRPr>
          </a:p>
          <a:p>
            <a:pPr marL="698500" marR="270510" lvl="1" indent="-228600">
              <a:lnSpc>
                <a:spcPts val="224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When updates to an item are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frequent,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work with local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copies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of data instead of an array indexed by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</a:t>
            </a:r>
            <a:r>
              <a:rPr sz="20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ID.</a:t>
            </a:r>
            <a:endParaRPr sz="20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Pad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arrays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so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elements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you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use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are on distinct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cache</a:t>
            </a:r>
            <a:r>
              <a:rPr sz="20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lines.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376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1182878"/>
            <a:ext cx="6452235" cy="167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#include</a:t>
            </a:r>
            <a:r>
              <a:rPr sz="1800" spc="-10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&lt;omp.h&gt;</a:t>
            </a:r>
            <a:endParaRPr sz="1800">
              <a:latin typeface="Lucida Sans Unicode"/>
              <a:cs typeface="Lucida Sans Unicode"/>
            </a:endParaRPr>
          </a:p>
          <a:p>
            <a:pPr marL="12700" marR="690880">
              <a:lnSpc>
                <a:spcPct val="100000"/>
              </a:lnSpc>
              <a:tabLst>
                <a:tab pos="4368165" algn="l"/>
              </a:tabLst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static long num_steps =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100000;	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double</a:t>
            </a:r>
            <a:r>
              <a:rPr sz="18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step;  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#define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NUM_THREADS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void main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()</a:t>
            </a:r>
            <a:endParaRPr sz="1800">
              <a:latin typeface="Lucida Sans Unicode"/>
              <a:cs typeface="Lucida Sans Unicode"/>
            </a:endParaRPr>
          </a:p>
          <a:p>
            <a:pPr marL="1072515" marR="5080" indent="-1060450">
              <a:lnSpc>
                <a:spcPct val="100000"/>
              </a:lnSpc>
              <a:spcBef>
                <a:spcPts val="5"/>
              </a:spcBef>
              <a:tabLst>
                <a:tab pos="1072515" algn="l"/>
                <a:tab pos="1980564" algn="l"/>
                <a:tab pos="2897505" algn="l"/>
              </a:tabLst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{	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double	pi;	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step =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1.0/(double)</a:t>
            </a:r>
            <a:r>
              <a:rPr sz="18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num_steps;  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omp_set_num_threads(NUM_THREADS);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2830306"/>
            <a:ext cx="2476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#pragma </a:t>
            </a:r>
            <a:r>
              <a:rPr sz="1800" spc="-5" dirty="0">
                <a:solidFill>
                  <a:srgbClr val="FFFF65"/>
                </a:solidFill>
                <a:latin typeface="Lucida Sans Unicode"/>
                <a:cs typeface="Lucida Sans Unicode"/>
              </a:rPr>
              <a:t>omp</a:t>
            </a:r>
            <a:r>
              <a:rPr sz="1800" spc="-80" dirty="0">
                <a:solidFill>
                  <a:srgbClr val="FFFF6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parallel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500" y="3105380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2297" y="3379701"/>
            <a:ext cx="364109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100"/>
              </a:spcBef>
              <a:tabLst>
                <a:tab pos="1962150" algn="l"/>
              </a:tabLst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int</a:t>
            </a:r>
            <a:r>
              <a:rPr sz="18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i, id,nthrds;	double x,</a:t>
            </a:r>
            <a:r>
              <a:rPr sz="18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sum; 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id =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omp_get_thread_num();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6587" y="3929095"/>
            <a:ext cx="38239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1270">
              <a:lnSpc>
                <a:spcPct val="100000"/>
              </a:lnSpc>
              <a:spcBef>
                <a:spcPts val="100"/>
              </a:spcBef>
              <a:tabLst>
                <a:tab pos="1468120" algn="l"/>
              </a:tabLst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nthrds =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omp_get_num_threads(); 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if (id</a:t>
            </a:r>
            <a:r>
              <a:rPr sz="18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==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0)	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nthreads = nthrds;  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6586" y="4752809"/>
            <a:ext cx="576655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835" marR="5080" indent="-9144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for (i=id, sum=0.0;</a:t>
            </a:r>
            <a:r>
              <a:rPr lang="en-US"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&lt;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num_steps; </a:t>
            </a:r>
            <a:r>
              <a:rPr lang="en-US"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lang="en-US"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=</a:t>
            </a:r>
            <a:r>
              <a:rPr lang="en-US"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nthreads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)</a:t>
            </a:r>
            <a:endParaRPr lang="en-US" sz="1800" spc="-5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965835" marR="5080" indent="-9144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{  </a:t>
            </a:r>
            <a:endParaRPr lang="en-US" sz="1800" spc="-5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965835" marR="5080" indent="-914400">
              <a:lnSpc>
                <a:spcPct val="100000"/>
              </a:lnSpc>
              <a:spcBef>
                <a:spcPts val="5"/>
              </a:spcBef>
            </a:pPr>
            <a:r>
              <a:rPr lang="en-CA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x =</a:t>
            </a:r>
            <a:r>
              <a:rPr sz="18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(i+0.5)*step;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9849" y="5577278"/>
            <a:ext cx="2640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sum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+=</a:t>
            </a:r>
            <a:r>
              <a:rPr sz="18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4.0/(1.0+x*x);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5449" y="5851598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4189" y="6125918"/>
            <a:ext cx="263906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635" marR="5080" indent="-6235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65"/>
                </a:solidFill>
                <a:latin typeface="Lucida Sans Unicode"/>
                <a:cs typeface="Lucida Sans Unicode"/>
              </a:rPr>
              <a:t>#pragma omp critical  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pi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+= sum *</a:t>
            </a:r>
            <a:r>
              <a:rPr sz="18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step;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500" y="6675312"/>
            <a:ext cx="1003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74902" y="602995"/>
            <a:ext cx="7124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Exercise 3: SPMD Pi </a:t>
            </a:r>
            <a:r>
              <a:rPr sz="2800" dirty="0"/>
              <a:t>without </a:t>
            </a:r>
            <a:r>
              <a:rPr sz="2800" spc="-5" dirty="0"/>
              <a:t>false</a:t>
            </a:r>
            <a:r>
              <a:rPr sz="2800" spc="-20" dirty="0"/>
              <a:t> </a:t>
            </a:r>
            <a:r>
              <a:rPr sz="2800" spc="-5" dirty="0"/>
              <a:t>sharing</a:t>
            </a:r>
            <a:endParaRPr sz="2800"/>
          </a:p>
        </p:txBody>
      </p:sp>
      <p:sp>
        <p:nvSpPr>
          <p:cNvPr id="13" name="object 13"/>
          <p:cNvSpPr txBox="1"/>
          <p:nvPr/>
        </p:nvSpPr>
        <p:spPr>
          <a:xfrm>
            <a:off x="5134355" y="6166244"/>
            <a:ext cx="4079875" cy="104648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indent="-635">
              <a:lnSpc>
                <a:spcPct val="100000"/>
              </a:lnSpc>
              <a:spcBef>
                <a:spcPts val="155"/>
              </a:spcBef>
              <a:tabLst>
                <a:tab pos="694055" algn="l"/>
              </a:tabLst>
            </a:pPr>
            <a:r>
              <a:rPr sz="1600" dirty="0">
                <a:latin typeface="Lucida Sans Unicode"/>
                <a:cs typeface="Lucida Sans Unicode"/>
              </a:rPr>
              <a:t>Sum goes </a:t>
            </a:r>
            <a:r>
              <a:rPr sz="1600" dirty="0">
                <a:latin typeface="Arial"/>
                <a:cs typeface="Arial"/>
              </a:rPr>
              <a:t>“</a:t>
            </a:r>
            <a:r>
              <a:rPr sz="1600" dirty="0">
                <a:latin typeface="Lucida Sans Unicode"/>
                <a:cs typeface="Lucida Sans Unicode"/>
              </a:rPr>
              <a:t>out of scope</a:t>
            </a:r>
            <a:r>
              <a:rPr sz="1600" dirty="0">
                <a:latin typeface="Arial"/>
                <a:cs typeface="Arial"/>
              </a:rPr>
              <a:t>” </a:t>
            </a:r>
            <a:r>
              <a:rPr sz="1600" dirty="0">
                <a:latin typeface="Lucida Sans Unicode"/>
                <a:cs typeface="Lucida Sans Unicode"/>
              </a:rPr>
              <a:t>beyond the  </a:t>
            </a:r>
            <a:r>
              <a:rPr sz="1600" spc="-5" dirty="0">
                <a:latin typeface="Lucida Sans Unicode"/>
                <a:cs typeface="Lucida Sans Unicode"/>
              </a:rPr>
              <a:t>parallel </a:t>
            </a:r>
            <a:r>
              <a:rPr sz="1600" dirty="0">
                <a:latin typeface="Lucida Sans Unicode"/>
                <a:cs typeface="Lucida Sans Unicode"/>
              </a:rPr>
              <a:t>region </a:t>
            </a:r>
            <a:r>
              <a:rPr sz="1600" dirty="0">
                <a:latin typeface="Arial"/>
                <a:cs typeface="Arial"/>
              </a:rPr>
              <a:t>… </a:t>
            </a:r>
            <a:r>
              <a:rPr sz="1600" dirty="0">
                <a:latin typeface="Lucida Sans Unicode"/>
                <a:cs typeface="Lucida Sans Unicode"/>
              </a:rPr>
              <a:t>so you </a:t>
            </a:r>
            <a:r>
              <a:rPr sz="1600" spc="5" dirty="0">
                <a:latin typeface="Lucida Sans Unicode"/>
                <a:cs typeface="Lucida Sans Unicode"/>
              </a:rPr>
              <a:t>must </a:t>
            </a:r>
            <a:r>
              <a:rPr sz="1600" dirty="0">
                <a:latin typeface="Lucida Sans Unicode"/>
                <a:cs typeface="Lucida Sans Unicode"/>
              </a:rPr>
              <a:t>sum it in  </a:t>
            </a:r>
            <a:r>
              <a:rPr sz="1600" spc="-5" dirty="0">
                <a:latin typeface="Lucida Sans Unicode"/>
                <a:cs typeface="Lucida Sans Unicode"/>
              </a:rPr>
              <a:t>here.	</a:t>
            </a:r>
            <a:r>
              <a:rPr sz="1600" dirty="0">
                <a:latin typeface="Lucida Sans Unicode"/>
                <a:cs typeface="Lucida Sans Unicode"/>
              </a:rPr>
              <a:t>Must protect summation into pi in  a critical </a:t>
            </a:r>
            <a:r>
              <a:rPr sz="1600" spc="-5" dirty="0">
                <a:latin typeface="Lucida Sans Unicode"/>
                <a:cs typeface="Lucida Sans Unicode"/>
              </a:rPr>
              <a:t>region </a:t>
            </a:r>
            <a:r>
              <a:rPr sz="1600" dirty="0">
                <a:latin typeface="Lucida Sans Unicode"/>
                <a:cs typeface="Lucida Sans Unicode"/>
              </a:rPr>
              <a:t>so updates don</a:t>
            </a:r>
            <a:r>
              <a:rPr sz="1600" dirty="0">
                <a:latin typeface="Arial"/>
                <a:cs typeface="Arial"/>
              </a:rPr>
              <a:t>’</a:t>
            </a:r>
            <a:r>
              <a:rPr sz="1600" dirty="0">
                <a:latin typeface="Lucida Sans Unicode"/>
                <a:cs typeface="Lucida Sans Unicode"/>
              </a:rPr>
              <a:t>t  </a:t>
            </a:r>
            <a:r>
              <a:rPr sz="1600" spc="-180" dirty="0">
                <a:latin typeface="Lucida Sans Unicode"/>
                <a:cs typeface="Lucida Sans Unicode"/>
              </a:rPr>
              <a:t>co</a:t>
            </a:r>
            <a:r>
              <a:rPr sz="2100" spc="-270" baseline="13888" dirty="0">
                <a:solidFill>
                  <a:srgbClr val="FFFFFF"/>
                </a:solidFill>
                <a:latin typeface="Arial"/>
                <a:cs typeface="Arial"/>
              </a:rPr>
              <a:t>121</a:t>
            </a:r>
            <a:r>
              <a:rPr sz="1600" spc="-180" dirty="0">
                <a:latin typeface="Lucida Sans Unicode"/>
                <a:cs typeface="Lucida Sans Unicode"/>
              </a:rPr>
              <a:t>nflict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65953" y="6092952"/>
            <a:ext cx="4483100" cy="1146175"/>
            <a:chOff x="4965953" y="6092952"/>
            <a:chExt cx="4483100" cy="1146175"/>
          </a:xfrm>
        </p:grpSpPr>
        <p:sp>
          <p:nvSpPr>
            <p:cNvPr id="15" name="object 15"/>
            <p:cNvSpPr/>
            <p:nvPr/>
          </p:nvSpPr>
          <p:spPr>
            <a:xfrm>
              <a:off x="5042154" y="6169152"/>
              <a:ext cx="4406900" cy="1069975"/>
            </a:xfrm>
            <a:custGeom>
              <a:avLst/>
              <a:gdLst/>
              <a:ahLst/>
              <a:cxnLst/>
              <a:rect l="l" t="t" r="r" b="b"/>
              <a:pathLst>
                <a:path w="4406900" h="1069975">
                  <a:moveTo>
                    <a:pt x="4406646" y="0"/>
                  </a:moveTo>
                  <a:lnTo>
                    <a:pt x="0" y="0"/>
                  </a:lnTo>
                  <a:lnTo>
                    <a:pt x="0" y="993648"/>
                  </a:lnTo>
                  <a:lnTo>
                    <a:pt x="0" y="1069848"/>
                  </a:lnTo>
                  <a:lnTo>
                    <a:pt x="4406646" y="1069848"/>
                  </a:lnTo>
                  <a:lnTo>
                    <a:pt x="4406646" y="993648"/>
                  </a:lnTo>
                  <a:lnTo>
                    <a:pt x="4406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5953" y="6092952"/>
              <a:ext cx="4406900" cy="1069975"/>
            </a:xfrm>
            <a:custGeom>
              <a:avLst/>
              <a:gdLst/>
              <a:ahLst/>
              <a:cxnLst/>
              <a:rect l="l" t="t" r="r" b="b"/>
              <a:pathLst>
                <a:path w="4406900" h="1069975">
                  <a:moveTo>
                    <a:pt x="4406645" y="1069848"/>
                  </a:moveTo>
                  <a:lnTo>
                    <a:pt x="4406645" y="0"/>
                  </a:lnTo>
                  <a:lnTo>
                    <a:pt x="0" y="0"/>
                  </a:lnTo>
                  <a:lnTo>
                    <a:pt x="0" y="1069848"/>
                  </a:lnTo>
                  <a:lnTo>
                    <a:pt x="4406645" y="10698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45455" y="6097014"/>
            <a:ext cx="35953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Lucida Sans Unicode"/>
                <a:cs typeface="Lucida Sans Unicode"/>
              </a:rPr>
              <a:t>Sum goes </a:t>
            </a:r>
            <a:r>
              <a:rPr sz="1600" dirty="0">
                <a:latin typeface="Arial"/>
                <a:cs typeface="Arial"/>
              </a:rPr>
              <a:t>“</a:t>
            </a:r>
            <a:r>
              <a:rPr sz="1600" dirty="0">
                <a:latin typeface="Lucida Sans Unicode"/>
                <a:cs typeface="Lucida Sans Unicode"/>
              </a:rPr>
              <a:t>out of scope</a:t>
            </a:r>
            <a:r>
              <a:rPr sz="1600" dirty="0">
                <a:latin typeface="Arial"/>
                <a:cs typeface="Arial"/>
              </a:rPr>
              <a:t>” </a:t>
            </a:r>
            <a:r>
              <a:rPr sz="1600" dirty="0">
                <a:latin typeface="Lucida Sans Unicode"/>
                <a:cs typeface="Lucida Sans Unicode"/>
              </a:rPr>
              <a:t>beyond</a:t>
            </a:r>
            <a:r>
              <a:rPr sz="1600" spc="-1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the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45476" y="6341607"/>
            <a:ext cx="410527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06755" algn="l"/>
              </a:tabLst>
            </a:pPr>
            <a:r>
              <a:rPr sz="1600" spc="-5" dirty="0">
                <a:latin typeface="Lucida Sans Unicode"/>
                <a:cs typeface="Lucida Sans Unicode"/>
              </a:rPr>
              <a:t>parallel </a:t>
            </a:r>
            <a:r>
              <a:rPr sz="1600" dirty="0">
                <a:latin typeface="Lucida Sans Unicode"/>
                <a:cs typeface="Lucida Sans Unicode"/>
              </a:rPr>
              <a:t>region </a:t>
            </a:r>
            <a:r>
              <a:rPr sz="1600" dirty="0">
                <a:latin typeface="Arial"/>
                <a:cs typeface="Arial"/>
              </a:rPr>
              <a:t>… </a:t>
            </a:r>
            <a:r>
              <a:rPr sz="1600" dirty="0">
                <a:latin typeface="Lucida Sans Unicode"/>
                <a:cs typeface="Lucida Sans Unicode"/>
              </a:rPr>
              <a:t>so you </a:t>
            </a:r>
            <a:r>
              <a:rPr sz="1600" spc="5" dirty="0">
                <a:latin typeface="Lucida Sans Unicode"/>
                <a:cs typeface="Lucida Sans Unicode"/>
              </a:rPr>
              <a:t>must </a:t>
            </a:r>
            <a:r>
              <a:rPr sz="1600" dirty="0">
                <a:latin typeface="Lucida Sans Unicode"/>
                <a:cs typeface="Lucida Sans Unicode"/>
              </a:rPr>
              <a:t>sum it in  </a:t>
            </a:r>
            <a:r>
              <a:rPr sz="1600" spc="-5" dirty="0">
                <a:latin typeface="Lucida Sans Unicode"/>
                <a:cs typeface="Lucida Sans Unicode"/>
              </a:rPr>
              <a:t>here.	</a:t>
            </a:r>
            <a:r>
              <a:rPr sz="1600" dirty="0">
                <a:latin typeface="Lucida Sans Unicode"/>
                <a:cs typeface="Lucida Sans Unicode"/>
              </a:rPr>
              <a:t>Must protect summation into pi in  a critical </a:t>
            </a:r>
            <a:r>
              <a:rPr sz="1600" spc="-5" dirty="0">
                <a:latin typeface="Lucida Sans Unicode"/>
                <a:cs typeface="Lucida Sans Unicode"/>
              </a:rPr>
              <a:t>region </a:t>
            </a:r>
            <a:r>
              <a:rPr sz="1600" dirty="0">
                <a:latin typeface="Lucida Sans Unicode"/>
                <a:cs typeface="Lucida Sans Unicode"/>
              </a:rPr>
              <a:t>so updates don</a:t>
            </a:r>
            <a:r>
              <a:rPr sz="1600" dirty="0">
                <a:latin typeface="Arial"/>
                <a:cs typeface="Arial"/>
              </a:rPr>
              <a:t>’</a:t>
            </a:r>
            <a:r>
              <a:rPr sz="1600" dirty="0">
                <a:latin typeface="Lucida Sans Unicode"/>
                <a:cs typeface="Lucida Sans Unicode"/>
              </a:rPr>
              <a:t>t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conflict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0802" y="5178693"/>
            <a:ext cx="1196340" cy="8020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1600" dirty="0">
                <a:latin typeface="Lucida Sans Unicode"/>
                <a:cs typeface="Lucida Sans Unicode"/>
              </a:rPr>
              <a:t>No array,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so  no false  sharing.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72400" y="5105400"/>
            <a:ext cx="1524000" cy="901700"/>
            <a:chOff x="7772400" y="5105400"/>
            <a:chExt cx="1524000" cy="901700"/>
          </a:xfrm>
        </p:grpSpPr>
        <p:sp>
          <p:nvSpPr>
            <p:cNvPr id="21" name="object 21"/>
            <p:cNvSpPr/>
            <p:nvPr/>
          </p:nvSpPr>
          <p:spPr>
            <a:xfrm>
              <a:off x="7848600" y="5181599"/>
              <a:ext cx="1447800" cy="825500"/>
            </a:xfrm>
            <a:custGeom>
              <a:avLst/>
              <a:gdLst/>
              <a:ahLst/>
              <a:cxnLst/>
              <a:rect l="l" t="t" r="r" b="b"/>
              <a:pathLst>
                <a:path w="1447800" h="825500">
                  <a:moveTo>
                    <a:pt x="1447800" y="0"/>
                  </a:moveTo>
                  <a:lnTo>
                    <a:pt x="0" y="0"/>
                  </a:lnTo>
                  <a:lnTo>
                    <a:pt x="0" y="749046"/>
                  </a:lnTo>
                  <a:lnTo>
                    <a:pt x="0" y="825246"/>
                  </a:lnTo>
                  <a:lnTo>
                    <a:pt x="1447800" y="825246"/>
                  </a:lnTo>
                  <a:lnTo>
                    <a:pt x="1447800" y="749046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72400" y="5105400"/>
              <a:ext cx="1447800" cy="825500"/>
            </a:xfrm>
            <a:custGeom>
              <a:avLst/>
              <a:gdLst/>
              <a:ahLst/>
              <a:cxnLst/>
              <a:rect l="l" t="t" r="r" b="b"/>
              <a:pathLst>
                <a:path w="1447800" h="825500">
                  <a:moveTo>
                    <a:pt x="1447800" y="825246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825246"/>
                  </a:lnTo>
                  <a:lnTo>
                    <a:pt x="1447800" y="8252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445508" y="6491537"/>
            <a:ext cx="5156200" cy="658495"/>
            <a:chOff x="4445508" y="6491537"/>
            <a:chExt cx="5156200" cy="658495"/>
          </a:xfrm>
        </p:grpSpPr>
        <p:sp>
          <p:nvSpPr>
            <p:cNvPr id="24" name="object 24"/>
            <p:cNvSpPr/>
            <p:nvPr/>
          </p:nvSpPr>
          <p:spPr>
            <a:xfrm>
              <a:off x="4445508" y="6491537"/>
              <a:ext cx="521334" cy="170815"/>
            </a:xfrm>
            <a:custGeom>
              <a:avLst/>
              <a:gdLst/>
              <a:ahLst/>
              <a:cxnLst/>
              <a:rect l="l" t="t" r="r" b="b"/>
              <a:pathLst>
                <a:path w="521335" h="170815">
                  <a:moveTo>
                    <a:pt x="175629" y="17752"/>
                  </a:moveTo>
                  <a:lnTo>
                    <a:pt x="155412" y="0"/>
                  </a:lnTo>
                  <a:lnTo>
                    <a:pt x="147828" y="2226"/>
                  </a:lnTo>
                  <a:lnTo>
                    <a:pt x="0" y="74616"/>
                  </a:lnTo>
                  <a:lnTo>
                    <a:pt x="35814" y="99163"/>
                  </a:lnTo>
                  <a:lnTo>
                    <a:pt x="35814" y="95952"/>
                  </a:lnTo>
                  <a:lnTo>
                    <a:pt x="38862" y="57852"/>
                  </a:lnTo>
                  <a:lnTo>
                    <a:pt x="109235" y="63077"/>
                  </a:lnTo>
                  <a:lnTo>
                    <a:pt x="164592" y="35754"/>
                  </a:lnTo>
                  <a:lnTo>
                    <a:pt x="170842" y="31182"/>
                  </a:lnTo>
                  <a:lnTo>
                    <a:pt x="174593" y="24895"/>
                  </a:lnTo>
                  <a:lnTo>
                    <a:pt x="175629" y="17752"/>
                  </a:lnTo>
                  <a:close/>
                </a:path>
                <a:path w="521335" h="170815">
                  <a:moveTo>
                    <a:pt x="109235" y="63077"/>
                  </a:moveTo>
                  <a:lnTo>
                    <a:pt x="38862" y="57852"/>
                  </a:lnTo>
                  <a:lnTo>
                    <a:pt x="35814" y="95952"/>
                  </a:lnTo>
                  <a:lnTo>
                    <a:pt x="45720" y="96686"/>
                  </a:lnTo>
                  <a:lnTo>
                    <a:pt x="45720" y="94428"/>
                  </a:lnTo>
                  <a:lnTo>
                    <a:pt x="48006" y="61662"/>
                  </a:lnTo>
                  <a:lnTo>
                    <a:pt x="74951" y="80000"/>
                  </a:lnTo>
                  <a:lnTo>
                    <a:pt x="109235" y="63077"/>
                  </a:lnTo>
                  <a:close/>
                </a:path>
                <a:path w="521335" h="170815">
                  <a:moveTo>
                    <a:pt x="165449" y="148530"/>
                  </a:moveTo>
                  <a:lnTo>
                    <a:pt x="162841" y="141791"/>
                  </a:lnTo>
                  <a:lnTo>
                    <a:pt x="157734" y="136338"/>
                  </a:lnTo>
                  <a:lnTo>
                    <a:pt x="106041" y="101158"/>
                  </a:lnTo>
                  <a:lnTo>
                    <a:pt x="35814" y="95952"/>
                  </a:lnTo>
                  <a:lnTo>
                    <a:pt x="35814" y="99163"/>
                  </a:lnTo>
                  <a:lnTo>
                    <a:pt x="135636" y="167580"/>
                  </a:lnTo>
                  <a:lnTo>
                    <a:pt x="142803" y="170616"/>
                  </a:lnTo>
                  <a:lnTo>
                    <a:pt x="150114" y="170723"/>
                  </a:lnTo>
                  <a:lnTo>
                    <a:pt x="156852" y="168116"/>
                  </a:lnTo>
                  <a:lnTo>
                    <a:pt x="162306" y="163008"/>
                  </a:lnTo>
                  <a:lnTo>
                    <a:pt x="165342" y="155840"/>
                  </a:lnTo>
                  <a:lnTo>
                    <a:pt x="165449" y="148530"/>
                  </a:lnTo>
                  <a:close/>
                </a:path>
                <a:path w="521335" h="170815">
                  <a:moveTo>
                    <a:pt x="74951" y="80000"/>
                  </a:moveTo>
                  <a:lnTo>
                    <a:pt x="48006" y="61662"/>
                  </a:lnTo>
                  <a:lnTo>
                    <a:pt x="45720" y="94428"/>
                  </a:lnTo>
                  <a:lnTo>
                    <a:pt x="74951" y="80000"/>
                  </a:lnTo>
                  <a:close/>
                </a:path>
                <a:path w="521335" h="170815">
                  <a:moveTo>
                    <a:pt x="106041" y="101158"/>
                  </a:moveTo>
                  <a:lnTo>
                    <a:pt x="74951" y="80000"/>
                  </a:lnTo>
                  <a:lnTo>
                    <a:pt x="45720" y="94428"/>
                  </a:lnTo>
                  <a:lnTo>
                    <a:pt x="45720" y="96686"/>
                  </a:lnTo>
                  <a:lnTo>
                    <a:pt x="106041" y="101158"/>
                  </a:lnTo>
                  <a:close/>
                </a:path>
                <a:path w="521335" h="170815">
                  <a:moveTo>
                    <a:pt x="521208" y="93666"/>
                  </a:moveTo>
                  <a:lnTo>
                    <a:pt x="109235" y="63077"/>
                  </a:lnTo>
                  <a:lnTo>
                    <a:pt x="74951" y="80000"/>
                  </a:lnTo>
                  <a:lnTo>
                    <a:pt x="106041" y="101158"/>
                  </a:lnTo>
                  <a:lnTo>
                    <a:pt x="518922" y="131766"/>
                  </a:lnTo>
                  <a:lnTo>
                    <a:pt x="521208" y="936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334500" y="6947153"/>
              <a:ext cx="266700" cy="203200"/>
            </a:xfrm>
            <a:custGeom>
              <a:avLst/>
              <a:gdLst/>
              <a:ahLst/>
              <a:cxnLst/>
              <a:rect l="l" t="t" r="r" b="b"/>
              <a:pathLst>
                <a:path w="266700" h="203200">
                  <a:moveTo>
                    <a:pt x="266700" y="202692"/>
                  </a:moveTo>
                  <a:lnTo>
                    <a:pt x="266700" y="0"/>
                  </a:lnTo>
                  <a:lnTo>
                    <a:pt x="0" y="0"/>
                  </a:lnTo>
                  <a:lnTo>
                    <a:pt x="0" y="202692"/>
                  </a:lnTo>
                  <a:lnTo>
                    <a:pt x="266700" y="202692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334500" y="6947153"/>
              <a:ext cx="266700" cy="12700"/>
            </a:xfrm>
            <a:custGeom>
              <a:avLst/>
              <a:gdLst/>
              <a:ahLst/>
              <a:cxnLst/>
              <a:rect l="l" t="t" r="r" b="b"/>
              <a:pathLst>
                <a:path w="266700" h="12700">
                  <a:moveTo>
                    <a:pt x="266700" y="0"/>
                  </a:moveTo>
                  <a:lnTo>
                    <a:pt x="0" y="0"/>
                  </a:lnTo>
                  <a:lnTo>
                    <a:pt x="12954" y="12191"/>
                  </a:lnTo>
                  <a:lnTo>
                    <a:pt x="253746" y="12191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73E3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34500" y="6947153"/>
              <a:ext cx="13335" cy="203200"/>
            </a:xfrm>
            <a:custGeom>
              <a:avLst/>
              <a:gdLst/>
              <a:ahLst/>
              <a:cxnLst/>
              <a:rect l="l" t="t" r="r" b="b"/>
              <a:pathLst>
                <a:path w="13334" h="203200">
                  <a:moveTo>
                    <a:pt x="12954" y="190500"/>
                  </a:moveTo>
                  <a:lnTo>
                    <a:pt x="12954" y="12191"/>
                  </a:lnTo>
                  <a:lnTo>
                    <a:pt x="0" y="0"/>
                  </a:lnTo>
                  <a:lnTo>
                    <a:pt x="0" y="202692"/>
                  </a:lnTo>
                  <a:lnTo>
                    <a:pt x="12954" y="190500"/>
                  </a:lnTo>
                  <a:close/>
                </a:path>
              </a:pathLst>
            </a:custGeom>
            <a:solidFill>
              <a:srgbClr val="97EA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34500" y="7137653"/>
              <a:ext cx="266700" cy="12700"/>
            </a:xfrm>
            <a:custGeom>
              <a:avLst/>
              <a:gdLst/>
              <a:ahLst/>
              <a:cxnLst/>
              <a:rect l="l" t="t" r="r" b="b"/>
              <a:pathLst>
                <a:path w="266700" h="12700">
                  <a:moveTo>
                    <a:pt x="266700" y="12192"/>
                  </a:moveTo>
                  <a:lnTo>
                    <a:pt x="253746" y="0"/>
                  </a:lnTo>
                  <a:lnTo>
                    <a:pt x="12954" y="0"/>
                  </a:lnTo>
                  <a:lnTo>
                    <a:pt x="0" y="12192"/>
                  </a:lnTo>
                  <a:lnTo>
                    <a:pt x="266700" y="12192"/>
                  </a:lnTo>
                  <a:close/>
                </a:path>
              </a:pathLst>
            </a:custGeom>
            <a:solidFill>
              <a:srgbClr val="41B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04604" y="6985253"/>
              <a:ext cx="126492" cy="1264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851902" y="5109464"/>
            <a:ext cx="12217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Lucida Sans Unicode"/>
                <a:cs typeface="Lucida Sans Unicode"/>
              </a:rPr>
              <a:t>No array,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so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51902" y="5354056"/>
            <a:ext cx="829944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Lucida Sans Unicode"/>
                <a:cs typeface="Lucida Sans Unicode"/>
              </a:rPr>
              <a:t>no false  sharing.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562600" y="5543550"/>
            <a:ext cx="2211070" cy="175895"/>
          </a:xfrm>
          <a:custGeom>
            <a:avLst/>
            <a:gdLst/>
            <a:ahLst/>
            <a:cxnLst/>
            <a:rect l="l" t="t" r="r" b="b"/>
            <a:pathLst>
              <a:path w="2211070" h="175895">
                <a:moveTo>
                  <a:pt x="168699" y="20121"/>
                </a:moveTo>
                <a:lnTo>
                  <a:pt x="166116" y="12954"/>
                </a:lnTo>
                <a:lnTo>
                  <a:pt x="160984" y="7715"/>
                </a:lnTo>
                <a:lnTo>
                  <a:pt x="154209" y="4762"/>
                </a:lnTo>
                <a:lnTo>
                  <a:pt x="146720" y="4381"/>
                </a:lnTo>
                <a:lnTo>
                  <a:pt x="139445" y="6858"/>
                </a:lnTo>
                <a:lnTo>
                  <a:pt x="0" y="95250"/>
                </a:lnTo>
                <a:lnTo>
                  <a:pt x="37337" y="115385"/>
                </a:lnTo>
                <a:lnTo>
                  <a:pt x="37337" y="74676"/>
                </a:lnTo>
                <a:lnTo>
                  <a:pt x="107889" y="72250"/>
                </a:lnTo>
                <a:lnTo>
                  <a:pt x="160019" y="39624"/>
                </a:lnTo>
                <a:lnTo>
                  <a:pt x="165580" y="34170"/>
                </a:lnTo>
                <a:lnTo>
                  <a:pt x="168497" y="27432"/>
                </a:lnTo>
                <a:lnTo>
                  <a:pt x="168699" y="20121"/>
                </a:lnTo>
                <a:close/>
              </a:path>
              <a:path w="2211070" h="175895">
                <a:moveTo>
                  <a:pt x="107889" y="72250"/>
                </a:moveTo>
                <a:lnTo>
                  <a:pt x="37337" y="74676"/>
                </a:lnTo>
                <a:lnTo>
                  <a:pt x="38862" y="112776"/>
                </a:lnTo>
                <a:lnTo>
                  <a:pt x="47243" y="112487"/>
                </a:lnTo>
                <a:lnTo>
                  <a:pt x="47243" y="76962"/>
                </a:lnTo>
                <a:lnTo>
                  <a:pt x="75697" y="92397"/>
                </a:lnTo>
                <a:lnTo>
                  <a:pt x="107889" y="72250"/>
                </a:lnTo>
                <a:close/>
              </a:path>
              <a:path w="2211070" h="175895">
                <a:moveTo>
                  <a:pt x="173474" y="158210"/>
                </a:moveTo>
                <a:lnTo>
                  <a:pt x="172783" y="151066"/>
                </a:lnTo>
                <a:lnTo>
                  <a:pt x="169521" y="144780"/>
                </a:lnTo>
                <a:lnTo>
                  <a:pt x="163830" y="140208"/>
                </a:lnTo>
                <a:lnTo>
                  <a:pt x="108827" y="110370"/>
                </a:lnTo>
                <a:lnTo>
                  <a:pt x="38862" y="112776"/>
                </a:lnTo>
                <a:lnTo>
                  <a:pt x="37337" y="74676"/>
                </a:lnTo>
                <a:lnTo>
                  <a:pt x="37337" y="115385"/>
                </a:lnTo>
                <a:lnTo>
                  <a:pt x="145542" y="173736"/>
                </a:lnTo>
                <a:lnTo>
                  <a:pt x="152697" y="175748"/>
                </a:lnTo>
                <a:lnTo>
                  <a:pt x="159924" y="174974"/>
                </a:lnTo>
                <a:lnTo>
                  <a:pt x="166437" y="171485"/>
                </a:lnTo>
                <a:lnTo>
                  <a:pt x="171450" y="165354"/>
                </a:lnTo>
                <a:lnTo>
                  <a:pt x="173474" y="158210"/>
                </a:lnTo>
                <a:close/>
              </a:path>
              <a:path w="2211070" h="175895">
                <a:moveTo>
                  <a:pt x="75697" y="92397"/>
                </a:moveTo>
                <a:lnTo>
                  <a:pt x="47243" y="76962"/>
                </a:lnTo>
                <a:lnTo>
                  <a:pt x="48006" y="109728"/>
                </a:lnTo>
                <a:lnTo>
                  <a:pt x="75697" y="92397"/>
                </a:lnTo>
                <a:close/>
              </a:path>
              <a:path w="2211070" h="175895">
                <a:moveTo>
                  <a:pt x="108827" y="110370"/>
                </a:moveTo>
                <a:lnTo>
                  <a:pt x="75697" y="92397"/>
                </a:lnTo>
                <a:lnTo>
                  <a:pt x="48006" y="109728"/>
                </a:lnTo>
                <a:lnTo>
                  <a:pt x="47243" y="76962"/>
                </a:lnTo>
                <a:lnTo>
                  <a:pt x="47243" y="112487"/>
                </a:lnTo>
                <a:lnTo>
                  <a:pt x="108827" y="110370"/>
                </a:lnTo>
                <a:close/>
              </a:path>
              <a:path w="2211070" h="175895">
                <a:moveTo>
                  <a:pt x="2210562" y="38100"/>
                </a:moveTo>
                <a:lnTo>
                  <a:pt x="2209038" y="0"/>
                </a:lnTo>
                <a:lnTo>
                  <a:pt x="107889" y="72250"/>
                </a:lnTo>
                <a:lnTo>
                  <a:pt x="75697" y="92397"/>
                </a:lnTo>
                <a:lnTo>
                  <a:pt x="108827" y="110370"/>
                </a:lnTo>
                <a:lnTo>
                  <a:pt x="2210562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569202" y="2981848"/>
            <a:ext cx="1981835" cy="104584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1600" dirty="0">
                <a:latin typeface="Lucida Sans Unicode"/>
                <a:cs typeface="Lucida Sans Unicode"/>
              </a:rPr>
              <a:t>Create a scalar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local  to each thread to  accumulate </a:t>
            </a:r>
            <a:r>
              <a:rPr sz="1600" spc="-5" dirty="0">
                <a:latin typeface="Lucida Sans Unicode"/>
                <a:cs typeface="Lucida Sans Unicode"/>
              </a:rPr>
              <a:t>partial  </a:t>
            </a:r>
            <a:r>
              <a:rPr sz="1600" dirty="0">
                <a:latin typeface="Lucida Sans Unicode"/>
                <a:cs typeface="Lucida Sans Unicode"/>
              </a:rPr>
              <a:t>sums.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00800" y="2908554"/>
            <a:ext cx="2438400" cy="1146175"/>
            <a:chOff x="6400800" y="2908554"/>
            <a:chExt cx="2438400" cy="1146175"/>
          </a:xfrm>
        </p:grpSpPr>
        <p:sp>
          <p:nvSpPr>
            <p:cNvPr id="35" name="object 35"/>
            <p:cNvSpPr/>
            <p:nvPr/>
          </p:nvSpPr>
          <p:spPr>
            <a:xfrm>
              <a:off x="6477000" y="2984753"/>
              <a:ext cx="2362200" cy="1069975"/>
            </a:xfrm>
            <a:custGeom>
              <a:avLst/>
              <a:gdLst/>
              <a:ahLst/>
              <a:cxnLst/>
              <a:rect l="l" t="t" r="r" b="b"/>
              <a:pathLst>
                <a:path w="2362200" h="1069975">
                  <a:moveTo>
                    <a:pt x="2362200" y="0"/>
                  </a:moveTo>
                  <a:lnTo>
                    <a:pt x="0" y="0"/>
                  </a:lnTo>
                  <a:lnTo>
                    <a:pt x="0" y="993648"/>
                  </a:lnTo>
                  <a:lnTo>
                    <a:pt x="0" y="1069848"/>
                  </a:lnTo>
                  <a:lnTo>
                    <a:pt x="2362200" y="1069848"/>
                  </a:lnTo>
                  <a:lnTo>
                    <a:pt x="2362200" y="993648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00800" y="2908554"/>
              <a:ext cx="2362200" cy="1069975"/>
            </a:xfrm>
            <a:custGeom>
              <a:avLst/>
              <a:gdLst/>
              <a:ahLst/>
              <a:cxnLst/>
              <a:rect l="l" t="t" r="r" b="b"/>
              <a:pathLst>
                <a:path w="2362200" h="1069975">
                  <a:moveTo>
                    <a:pt x="2362200" y="1069847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1069847"/>
                  </a:lnTo>
                  <a:lnTo>
                    <a:pt x="2362200" y="10698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480302" y="2912617"/>
            <a:ext cx="2007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Lucida Sans Unicode"/>
                <a:cs typeface="Lucida Sans Unicode"/>
              </a:rPr>
              <a:t>Create a scalar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local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80302" y="3157210"/>
            <a:ext cx="184658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Lucida Sans Unicode"/>
                <a:cs typeface="Lucida Sans Unicode"/>
              </a:rPr>
              <a:t>to each thread to  accumulate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partial  </a:t>
            </a:r>
            <a:r>
              <a:rPr sz="1600" dirty="0">
                <a:latin typeface="Lucida Sans Unicode"/>
                <a:cs typeface="Lucida Sans Unicode"/>
              </a:rPr>
              <a:t>sums.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62600" y="3369468"/>
            <a:ext cx="788670" cy="171450"/>
          </a:xfrm>
          <a:custGeom>
            <a:avLst/>
            <a:gdLst/>
            <a:ahLst/>
            <a:cxnLst/>
            <a:rect l="l" t="t" r="r" b="b"/>
            <a:pathLst>
              <a:path w="788670" h="171450">
                <a:moveTo>
                  <a:pt x="165449" y="22193"/>
                </a:moveTo>
                <a:lnTo>
                  <a:pt x="165342" y="14882"/>
                </a:lnTo>
                <a:lnTo>
                  <a:pt x="162306" y="7715"/>
                </a:lnTo>
                <a:lnTo>
                  <a:pt x="156745" y="2607"/>
                </a:lnTo>
                <a:lnTo>
                  <a:pt x="149828" y="0"/>
                </a:lnTo>
                <a:lnTo>
                  <a:pt x="142482" y="107"/>
                </a:lnTo>
                <a:lnTo>
                  <a:pt x="135636" y="3143"/>
                </a:lnTo>
                <a:lnTo>
                  <a:pt x="0" y="97631"/>
                </a:lnTo>
                <a:lnTo>
                  <a:pt x="36576" y="115172"/>
                </a:lnTo>
                <a:lnTo>
                  <a:pt x="36576" y="75533"/>
                </a:lnTo>
                <a:lnTo>
                  <a:pt x="106403" y="69921"/>
                </a:lnTo>
                <a:lnTo>
                  <a:pt x="157734" y="34385"/>
                </a:lnTo>
                <a:lnTo>
                  <a:pt x="162841" y="28932"/>
                </a:lnTo>
                <a:lnTo>
                  <a:pt x="165449" y="22193"/>
                </a:lnTo>
                <a:close/>
              </a:path>
              <a:path w="788670" h="171450">
                <a:moveTo>
                  <a:pt x="106403" y="69921"/>
                </a:moveTo>
                <a:lnTo>
                  <a:pt x="36576" y="75533"/>
                </a:lnTo>
                <a:lnTo>
                  <a:pt x="39624" y="113633"/>
                </a:lnTo>
                <a:lnTo>
                  <a:pt x="46482" y="113082"/>
                </a:lnTo>
                <a:lnTo>
                  <a:pt x="46482" y="77057"/>
                </a:lnTo>
                <a:lnTo>
                  <a:pt x="75603" y="91244"/>
                </a:lnTo>
                <a:lnTo>
                  <a:pt x="106403" y="69921"/>
                </a:lnTo>
                <a:close/>
              </a:path>
              <a:path w="788670" h="171450">
                <a:moveTo>
                  <a:pt x="176391" y="152650"/>
                </a:moveTo>
                <a:lnTo>
                  <a:pt x="175355" y="145541"/>
                </a:lnTo>
                <a:lnTo>
                  <a:pt x="171604" y="139434"/>
                </a:lnTo>
                <a:lnTo>
                  <a:pt x="165342" y="134963"/>
                </a:lnTo>
                <a:lnTo>
                  <a:pt x="109956" y="107980"/>
                </a:lnTo>
                <a:lnTo>
                  <a:pt x="39624" y="113633"/>
                </a:lnTo>
                <a:lnTo>
                  <a:pt x="36576" y="75533"/>
                </a:lnTo>
                <a:lnTo>
                  <a:pt x="36576" y="115172"/>
                </a:lnTo>
                <a:lnTo>
                  <a:pt x="149352" y="169259"/>
                </a:lnTo>
                <a:lnTo>
                  <a:pt x="156495" y="171045"/>
                </a:lnTo>
                <a:lnTo>
                  <a:pt x="163639" y="169830"/>
                </a:lnTo>
                <a:lnTo>
                  <a:pt x="169926" y="166044"/>
                </a:lnTo>
                <a:lnTo>
                  <a:pt x="174498" y="160115"/>
                </a:lnTo>
                <a:lnTo>
                  <a:pt x="176391" y="152650"/>
                </a:lnTo>
                <a:close/>
              </a:path>
              <a:path w="788670" h="171450">
                <a:moveTo>
                  <a:pt x="75603" y="91244"/>
                </a:moveTo>
                <a:lnTo>
                  <a:pt x="46482" y="77057"/>
                </a:lnTo>
                <a:lnTo>
                  <a:pt x="48768" y="109823"/>
                </a:lnTo>
                <a:lnTo>
                  <a:pt x="75603" y="91244"/>
                </a:lnTo>
                <a:close/>
              </a:path>
              <a:path w="788670" h="171450">
                <a:moveTo>
                  <a:pt x="109956" y="107980"/>
                </a:moveTo>
                <a:lnTo>
                  <a:pt x="75603" y="91244"/>
                </a:lnTo>
                <a:lnTo>
                  <a:pt x="48768" y="109823"/>
                </a:lnTo>
                <a:lnTo>
                  <a:pt x="46482" y="77057"/>
                </a:lnTo>
                <a:lnTo>
                  <a:pt x="46482" y="113082"/>
                </a:lnTo>
                <a:lnTo>
                  <a:pt x="109956" y="107980"/>
                </a:lnTo>
                <a:close/>
              </a:path>
              <a:path w="788670" h="171450">
                <a:moveTo>
                  <a:pt x="788670" y="53435"/>
                </a:moveTo>
                <a:lnTo>
                  <a:pt x="785622" y="15335"/>
                </a:lnTo>
                <a:lnTo>
                  <a:pt x="106403" y="69921"/>
                </a:lnTo>
                <a:lnTo>
                  <a:pt x="75603" y="91244"/>
                </a:lnTo>
                <a:lnTo>
                  <a:pt x="109956" y="107980"/>
                </a:lnTo>
                <a:lnTo>
                  <a:pt x="788670" y="53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588245" y="6947154"/>
            <a:ext cx="13335" cy="203200"/>
          </a:xfrm>
          <a:custGeom>
            <a:avLst/>
            <a:gdLst/>
            <a:ahLst/>
            <a:cxnLst/>
            <a:rect l="l" t="t" r="r" b="b"/>
            <a:pathLst>
              <a:path w="13334" h="203200">
                <a:moveTo>
                  <a:pt x="12953" y="202692"/>
                </a:moveTo>
                <a:lnTo>
                  <a:pt x="12953" y="0"/>
                </a:lnTo>
                <a:lnTo>
                  <a:pt x="0" y="12192"/>
                </a:lnTo>
                <a:lnTo>
                  <a:pt x="0" y="190500"/>
                </a:lnTo>
                <a:lnTo>
                  <a:pt x="12953" y="202692"/>
                </a:lnTo>
                <a:close/>
              </a:path>
            </a:pathLst>
          </a:custGeom>
          <a:solidFill>
            <a:srgbClr val="3084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4488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77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3096" y="1875840"/>
            <a:ext cx="6619240" cy="47555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Introduction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single masters 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stuff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 your for and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model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 and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9648" y="3673347"/>
            <a:ext cx="469900" cy="317500"/>
            <a:chOff x="739648" y="3673347"/>
            <a:chExt cx="469900" cy="317500"/>
          </a:xfrm>
        </p:grpSpPr>
        <p:sp>
          <p:nvSpPr>
            <p:cNvPr id="5" name="object 5"/>
            <p:cNvSpPr/>
            <p:nvPr/>
          </p:nvSpPr>
          <p:spPr>
            <a:xfrm>
              <a:off x="745998" y="3679697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400"/>
                  </a:moveTo>
                  <a:lnTo>
                    <a:pt x="342900" y="0"/>
                  </a:ln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8" y="3679697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42900" y="0"/>
                  </a:move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26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55035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SPMD vs.</a:t>
            </a:r>
            <a:r>
              <a:rPr spc="-70" dirty="0"/>
              <a:t> </a:t>
            </a:r>
            <a:r>
              <a:rPr spc="-5" dirty="0"/>
              <a:t>worksharing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797" y="1939543"/>
            <a:ext cx="8154034" cy="3175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8450" marR="5080" indent="-285750">
              <a:lnSpc>
                <a:spcPct val="82900"/>
              </a:lnSpc>
              <a:spcBef>
                <a:spcPts val="6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  <a:tab pos="85090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parallel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construct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by itself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creates an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SPMD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or	“Single Program Multiple Data” program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…  i.e., each thread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redundantly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executes the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same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code.</a:t>
            </a:r>
            <a:endParaRPr sz="2800" dirty="0">
              <a:latin typeface="Arial"/>
              <a:cs typeface="Arial"/>
            </a:endParaRPr>
          </a:p>
          <a:p>
            <a:pPr marL="298450" marR="671195" indent="-285750">
              <a:lnSpc>
                <a:spcPts val="2780"/>
              </a:lnSpc>
              <a:spcBef>
                <a:spcPts val="1019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How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you split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up pathways through the  code between threads within a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team?</a:t>
            </a:r>
            <a:endParaRPr sz="2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6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is called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worksharing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375"/>
              </a:spcBef>
            </a:pPr>
            <a:r>
              <a:rPr sz="2400" spc="-5" dirty="0">
                <a:solidFill>
                  <a:srgbClr val="F5C300"/>
                </a:solidFill>
                <a:latin typeface="Arial"/>
                <a:cs typeface="Arial"/>
              </a:rPr>
              <a:t>–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Loop</a:t>
            </a:r>
            <a:r>
              <a:rPr sz="2400" b="1" spc="-21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construct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8198" y="5088127"/>
            <a:ext cx="4318000" cy="8515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0"/>
              </a:spcBef>
              <a:buClr>
                <a:srgbClr val="F5C300"/>
              </a:buClr>
              <a:buFont typeface="Arial"/>
              <a:buChar char="–"/>
              <a:tabLst>
                <a:tab pos="241300" algn="l"/>
              </a:tabLst>
            </a:pP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Sections/section</a:t>
            </a:r>
            <a:r>
              <a:rPr sz="2400" b="1" spc="-8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constructs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Clr>
                <a:srgbClr val="F5C300"/>
              </a:buClr>
              <a:buFont typeface="Arial"/>
              <a:buChar char="–"/>
              <a:tabLst>
                <a:tab pos="241300" algn="l"/>
              </a:tabLst>
            </a:pP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Single</a:t>
            </a:r>
            <a:r>
              <a:rPr sz="2400" b="1" spc="-1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construct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8198" y="5961379"/>
            <a:ext cx="6294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5C300"/>
                </a:solidFill>
                <a:latin typeface="Arial"/>
                <a:cs typeface="Arial"/>
              </a:rPr>
              <a:t>–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Task construct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301" y="897127"/>
            <a:ext cx="6496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The loop </a:t>
            </a:r>
            <a:r>
              <a:rPr sz="3200" spc="-10" dirty="0"/>
              <a:t>worksharing Constructs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7702" y="1603501"/>
            <a:ext cx="7941309" cy="8540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marR="5080" indent="-285750">
              <a:lnSpc>
                <a:spcPts val="3160"/>
              </a:lnSpc>
              <a:spcBef>
                <a:spcPts val="3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loop workharing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construct splits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up loop  iterations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among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threads in a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2667000"/>
            <a:ext cx="4978400" cy="2830830"/>
          </a:xfrm>
          <a:custGeom>
            <a:avLst/>
            <a:gdLst/>
            <a:ahLst/>
            <a:cxnLst/>
            <a:rect l="l" t="t" r="r" b="b"/>
            <a:pathLst>
              <a:path w="4978400" h="2830829">
                <a:moveTo>
                  <a:pt x="4978146" y="2830829"/>
                </a:moveTo>
                <a:lnTo>
                  <a:pt x="4978146" y="0"/>
                </a:lnTo>
                <a:lnTo>
                  <a:pt x="0" y="0"/>
                </a:lnTo>
                <a:lnTo>
                  <a:pt x="0" y="2830829"/>
                </a:lnTo>
                <a:lnTo>
                  <a:pt x="4978146" y="2830829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2502" y="2474467"/>
            <a:ext cx="4081145" cy="294576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#pragma omp</a:t>
            </a:r>
            <a:r>
              <a:rPr sz="2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parallel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#pragma omp</a:t>
            </a:r>
            <a:r>
              <a:rPr sz="2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endParaRPr sz="2400">
              <a:latin typeface="Lucida Sans Unicode"/>
              <a:cs typeface="Lucida Sans Unicode"/>
            </a:endParaRPr>
          </a:p>
          <a:p>
            <a:pPr marL="9271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2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(I=0;I&lt;N;I++){</a:t>
            </a:r>
            <a:endParaRPr sz="2400">
              <a:latin typeface="Lucida Sans Unicode"/>
              <a:cs typeface="Lucida Sans Unicode"/>
            </a:endParaRPr>
          </a:p>
          <a:p>
            <a:pPr marL="18415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NEAT_S</a:t>
            </a:r>
            <a:r>
              <a:rPr sz="2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FF(I);</a:t>
            </a:r>
            <a:endParaRPr sz="2400">
              <a:latin typeface="Lucida Sans Unicode"/>
              <a:cs typeface="Lucida Sans Unicode"/>
            </a:endParaRPr>
          </a:p>
          <a:p>
            <a:pPr marL="9271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6100" y="5943600"/>
            <a:ext cx="4978400" cy="10071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369" rIns="0" bIns="0" rtlCol="0">
            <a:spAutoFit/>
          </a:bodyPr>
          <a:lstStyle/>
          <a:p>
            <a:pPr marL="113664" marR="107950" algn="ctr">
              <a:lnSpc>
                <a:spcPct val="100000"/>
              </a:lnSpc>
              <a:spcBef>
                <a:spcPts val="309"/>
              </a:spcBef>
              <a:tabLst>
                <a:tab pos="1029969" algn="l"/>
                <a:tab pos="2440940" algn="l"/>
              </a:tabLst>
            </a:pP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spc="-10" dirty="0">
                <a:latin typeface="Arial"/>
                <a:cs typeface="Arial"/>
              </a:rPr>
              <a:t>variable </a:t>
            </a:r>
            <a:r>
              <a:rPr sz="2000" b="1" spc="-5" dirty="0">
                <a:latin typeface="Arial"/>
                <a:cs typeface="Arial"/>
              </a:rPr>
              <a:t>I is </a:t>
            </a:r>
            <a:r>
              <a:rPr sz="2000" b="1" spc="-10" dirty="0">
                <a:latin typeface="Arial"/>
                <a:cs typeface="Arial"/>
              </a:rPr>
              <a:t>made “private” </a:t>
            </a:r>
            <a:r>
              <a:rPr sz="2000" b="1" spc="-5" dirty="0">
                <a:latin typeface="Arial"/>
                <a:cs typeface="Arial"/>
              </a:rPr>
              <a:t>to </a:t>
            </a:r>
            <a:r>
              <a:rPr sz="2000" b="1" spc="-10" dirty="0">
                <a:latin typeface="Arial"/>
                <a:cs typeface="Arial"/>
              </a:rPr>
              <a:t>each  thread	</a:t>
            </a:r>
            <a:r>
              <a:rPr sz="2000" b="1" spc="-5" dirty="0">
                <a:latin typeface="Arial"/>
                <a:cs typeface="Arial"/>
              </a:rPr>
              <a:t>by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default.	You </a:t>
            </a:r>
            <a:r>
              <a:rPr sz="2000" b="1" spc="-10" dirty="0">
                <a:latin typeface="Arial"/>
                <a:cs typeface="Arial"/>
              </a:rPr>
              <a:t>could </a:t>
            </a:r>
            <a:r>
              <a:rPr sz="2000" b="1" spc="-5" dirty="0">
                <a:latin typeface="Arial"/>
                <a:cs typeface="Arial"/>
              </a:rPr>
              <a:t>do </a:t>
            </a:r>
            <a:r>
              <a:rPr sz="2000" b="1" spc="-10" dirty="0">
                <a:latin typeface="Arial"/>
                <a:cs typeface="Arial"/>
              </a:rPr>
              <a:t>this  explicitly </a:t>
            </a:r>
            <a:r>
              <a:rPr sz="2000" b="1" spc="-5" dirty="0">
                <a:latin typeface="Arial"/>
                <a:cs typeface="Arial"/>
              </a:rPr>
              <a:t>with a </a:t>
            </a:r>
            <a:r>
              <a:rPr sz="2000" b="1" spc="-10" dirty="0">
                <a:latin typeface="Arial"/>
                <a:cs typeface="Arial"/>
              </a:rPr>
              <a:t>“private(I)”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clause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42053" y="4991100"/>
            <a:ext cx="1341120" cy="913765"/>
          </a:xfrm>
          <a:custGeom>
            <a:avLst/>
            <a:gdLst/>
            <a:ahLst/>
            <a:cxnLst/>
            <a:rect l="l" t="t" r="r" b="b"/>
            <a:pathLst>
              <a:path w="1341120" h="913764">
                <a:moveTo>
                  <a:pt x="94487" y="12191"/>
                </a:moveTo>
                <a:lnTo>
                  <a:pt x="0" y="0"/>
                </a:lnTo>
                <a:lnTo>
                  <a:pt x="46481" y="83819"/>
                </a:lnTo>
                <a:lnTo>
                  <a:pt x="51053" y="76998"/>
                </a:lnTo>
                <a:lnTo>
                  <a:pt x="51053" y="51815"/>
                </a:lnTo>
                <a:lnTo>
                  <a:pt x="67055" y="28193"/>
                </a:lnTo>
                <a:lnTo>
                  <a:pt x="78551" y="35970"/>
                </a:lnTo>
                <a:lnTo>
                  <a:pt x="94487" y="12191"/>
                </a:lnTo>
                <a:close/>
              </a:path>
              <a:path w="1341120" h="913764">
                <a:moveTo>
                  <a:pt x="78551" y="35970"/>
                </a:moveTo>
                <a:lnTo>
                  <a:pt x="67055" y="28193"/>
                </a:lnTo>
                <a:lnTo>
                  <a:pt x="51053" y="51815"/>
                </a:lnTo>
                <a:lnTo>
                  <a:pt x="62666" y="59671"/>
                </a:lnTo>
                <a:lnTo>
                  <a:pt x="78551" y="35970"/>
                </a:lnTo>
                <a:close/>
              </a:path>
              <a:path w="1341120" h="913764">
                <a:moveTo>
                  <a:pt x="62666" y="59671"/>
                </a:moveTo>
                <a:lnTo>
                  <a:pt x="51053" y="51815"/>
                </a:lnTo>
                <a:lnTo>
                  <a:pt x="51053" y="76998"/>
                </a:lnTo>
                <a:lnTo>
                  <a:pt x="62666" y="59671"/>
                </a:lnTo>
                <a:close/>
              </a:path>
              <a:path w="1341120" h="913764">
                <a:moveTo>
                  <a:pt x="1341119" y="890016"/>
                </a:moveTo>
                <a:lnTo>
                  <a:pt x="78551" y="35970"/>
                </a:lnTo>
                <a:lnTo>
                  <a:pt x="62666" y="59671"/>
                </a:lnTo>
                <a:lnTo>
                  <a:pt x="1325117" y="913638"/>
                </a:lnTo>
                <a:lnTo>
                  <a:pt x="1341119" y="8900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28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33298"/>
            <a:ext cx="72497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Loop worksharing</a:t>
            </a:r>
            <a:r>
              <a:rPr spc="-65" dirty="0"/>
              <a:t> </a:t>
            </a:r>
            <a:r>
              <a:rPr spc="-5" dirty="0"/>
              <a:t>Constructs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950" y="1291843"/>
            <a:ext cx="37026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51DC00"/>
                </a:solidFill>
                <a:latin typeface="Arial"/>
                <a:cs typeface="Arial"/>
              </a:rPr>
              <a:t>A </a:t>
            </a:r>
            <a:r>
              <a:rPr sz="2800" b="1" spc="-5" dirty="0">
                <a:solidFill>
                  <a:srgbClr val="51DC00"/>
                </a:solidFill>
                <a:latin typeface="Arial"/>
                <a:cs typeface="Arial"/>
              </a:rPr>
              <a:t>motivating</a:t>
            </a:r>
            <a:r>
              <a:rPr sz="2800" b="1" spc="-70" dirty="0">
                <a:solidFill>
                  <a:srgbClr val="51DC00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51DC00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41548" y="2185068"/>
            <a:ext cx="38100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  <a:tabLst>
                <a:tab pos="1911350" algn="l"/>
              </a:tabLst>
            </a:pPr>
            <a:r>
              <a:rPr sz="2000" spc="-10" dirty="0">
                <a:latin typeface="Arial"/>
                <a:cs typeface="Arial"/>
              </a:rPr>
              <a:t>for(i=0;I&lt;N;i++)	</a:t>
            </a:r>
            <a:r>
              <a:rPr sz="2000" spc="-5" dirty="0">
                <a:latin typeface="Arial"/>
                <a:cs typeface="Arial"/>
              </a:rPr>
              <a:t>{ a[i] = a[i] +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b[i];}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73145" y="2044445"/>
            <a:ext cx="6198235" cy="473709"/>
            <a:chOff x="3073145" y="2044445"/>
            <a:chExt cx="6198235" cy="473709"/>
          </a:xfrm>
        </p:grpSpPr>
        <p:sp>
          <p:nvSpPr>
            <p:cNvPr id="6" name="object 6"/>
            <p:cNvSpPr/>
            <p:nvPr/>
          </p:nvSpPr>
          <p:spPr>
            <a:xfrm>
              <a:off x="3149346" y="2120645"/>
              <a:ext cx="6122035" cy="397510"/>
            </a:xfrm>
            <a:custGeom>
              <a:avLst/>
              <a:gdLst/>
              <a:ahLst/>
              <a:cxnLst/>
              <a:rect l="l" t="t" r="r" b="b"/>
              <a:pathLst>
                <a:path w="6122034" h="397510">
                  <a:moveTo>
                    <a:pt x="6121908" y="0"/>
                  </a:moveTo>
                  <a:lnTo>
                    <a:pt x="0" y="0"/>
                  </a:lnTo>
                  <a:lnTo>
                    <a:pt x="0" y="320802"/>
                  </a:lnTo>
                  <a:lnTo>
                    <a:pt x="0" y="397002"/>
                  </a:lnTo>
                  <a:lnTo>
                    <a:pt x="6121908" y="397002"/>
                  </a:lnTo>
                  <a:lnTo>
                    <a:pt x="6121908" y="320802"/>
                  </a:lnTo>
                  <a:lnTo>
                    <a:pt x="612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3145" y="2044445"/>
              <a:ext cx="6122035" cy="397510"/>
            </a:xfrm>
            <a:custGeom>
              <a:avLst/>
              <a:gdLst/>
              <a:ahLst/>
              <a:cxnLst/>
              <a:rect l="l" t="t" r="r" b="b"/>
              <a:pathLst>
                <a:path w="6122034" h="397510">
                  <a:moveTo>
                    <a:pt x="6121908" y="397002"/>
                  </a:moveTo>
                  <a:lnTo>
                    <a:pt x="6121908" y="0"/>
                  </a:lnTo>
                  <a:lnTo>
                    <a:pt x="0" y="0"/>
                  </a:lnTo>
                  <a:lnTo>
                    <a:pt x="0" y="397002"/>
                  </a:lnTo>
                  <a:lnTo>
                    <a:pt x="6121908" y="397002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49345" y="2120645"/>
            <a:ext cx="6045835" cy="321310"/>
          </a:xfrm>
          <a:prstGeom prst="rect">
            <a:avLst/>
          </a:prstGeom>
          <a:solidFill>
            <a:srgbClr val="001B72"/>
          </a:solidFill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2115"/>
              </a:lnSpc>
              <a:tabLst>
                <a:tab pos="1927860" algn="l"/>
              </a:tabLst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for(i=0;I&lt;N;i++)	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 a[i] = a[i] +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b[i];}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6427" y="2806873"/>
            <a:ext cx="5429250" cy="3027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5" dirty="0">
                <a:latin typeface="Arial"/>
                <a:cs typeface="Arial"/>
              </a:rPr>
              <a:t>#pragma omp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parallel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913765" marR="129984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int id, i, </a:t>
            </a:r>
            <a:r>
              <a:rPr sz="2000" spc="-10" dirty="0">
                <a:latin typeface="Arial"/>
                <a:cs typeface="Arial"/>
              </a:rPr>
              <a:t>Nthrds, </a:t>
            </a:r>
            <a:r>
              <a:rPr sz="2000" spc="-5" dirty="0">
                <a:latin typeface="Arial"/>
                <a:cs typeface="Arial"/>
              </a:rPr>
              <a:t>istart, </a:t>
            </a:r>
            <a:r>
              <a:rPr sz="2000" spc="-10" dirty="0">
                <a:latin typeface="Arial"/>
                <a:cs typeface="Arial"/>
              </a:rPr>
              <a:t>iend;  </a:t>
            </a:r>
            <a:r>
              <a:rPr sz="2000" spc="-5" dirty="0">
                <a:latin typeface="Arial"/>
                <a:cs typeface="Arial"/>
              </a:rPr>
              <a:t>id =</a:t>
            </a:r>
            <a:r>
              <a:rPr sz="2000" spc="-10" dirty="0">
                <a:latin typeface="Arial"/>
                <a:cs typeface="Arial"/>
              </a:rPr>
              <a:t> omp_get_thread_num();</a:t>
            </a:r>
            <a:endParaRPr sz="2000">
              <a:latin typeface="Arial"/>
              <a:cs typeface="Arial"/>
            </a:endParaRPr>
          </a:p>
          <a:p>
            <a:pPr marL="913765" marR="62357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Nthrds </a:t>
            </a:r>
            <a:r>
              <a:rPr sz="2000" spc="-5" dirty="0">
                <a:latin typeface="Arial"/>
                <a:cs typeface="Arial"/>
              </a:rPr>
              <a:t>= </a:t>
            </a:r>
            <a:r>
              <a:rPr sz="2000" spc="-10" dirty="0">
                <a:latin typeface="Arial"/>
                <a:cs typeface="Arial"/>
              </a:rPr>
              <a:t>omp_get_num_threads();  </a:t>
            </a:r>
            <a:r>
              <a:rPr sz="2000" spc="-5" dirty="0">
                <a:latin typeface="Arial"/>
                <a:cs typeface="Arial"/>
              </a:rPr>
              <a:t>istart = id * N /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Nthrds;</a:t>
            </a:r>
            <a:endParaRPr sz="2000">
              <a:latin typeface="Arial"/>
              <a:cs typeface="Arial"/>
            </a:endParaRPr>
          </a:p>
          <a:p>
            <a:pPr marL="913765" marR="151193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iend = </a:t>
            </a:r>
            <a:r>
              <a:rPr sz="2000" spc="-10" dirty="0">
                <a:latin typeface="Arial"/>
                <a:cs typeface="Arial"/>
              </a:rPr>
              <a:t>(id+1) </a:t>
            </a:r>
            <a:r>
              <a:rPr sz="2000" spc="-5" dirty="0">
                <a:latin typeface="Arial"/>
                <a:cs typeface="Arial"/>
              </a:rPr>
              <a:t>* N / </a:t>
            </a:r>
            <a:r>
              <a:rPr sz="2000" spc="-10" dirty="0">
                <a:latin typeface="Arial"/>
                <a:cs typeface="Arial"/>
              </a:rPr>
              <a:t>Nthrds;  </a:t>
            </a:r>
            <a:r>
              <a:rPr sz="2000" spc="-5" dirty="0">
                <a:latin typeface="Arial"/>
                <a:cs typeface="Arial"/>
              </a:rPr>
              <a:t>if (id == </a:t>
            </a:r>
            <a:r>
              <a:rPr sz="2000" spc="-10" dirty="0">
                <a:latin typeface="Arial"/>
                <a:cs typeface="Arial"/>
              </a:rPr>
              <a:t>Nthrds-1)iend </a:t>
            </a:r>
            <a:r>
              <a:rPr sz="2000" spc="-5" dirty="0">
                <a:latin typeface="Arial"/>
                <a:cs typeface="Arial"/>
              </a:rPr>
              <a:t>=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N;</a:t>
            </a:r>
            <a:endParaRPr sz="2000">
              <a:latin typeface="Arial"/>
              <a:cs typeface="Arial"/>
            </a:endParaRPr>
          </a:p>
          <a:p>
            <a:pPr marL="913765">
              <a:lnSpc>
                <a:spcPct val="100000"/>
              </a:lnSpc>
              <a:tabLst>
                <a:tab pos="3532504" algn="l"/>
              </a:tabLst>
            </a:pPr>
            <a:r>
              <a:rPr sz="2000" spc="-10" dirty="0">
                <a:latin typeface="Arial"/>
                <a:cs typeface="Arial"/>
              </a:rPr>
              <a:t>for(i=istart;I&lt;iend;i++)	</a:t>
            </a:r>
            <a:r>
              <a:rPr sz="2000" spc="-5" dirty="0">
                <a:latin typeface="Arial"/>
                <a:cs typeface="Arial"/>
              </a:rPr>
              <a:t>{ a[i] = a[i] +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b[i];}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8000" y="2667000"/>
            <a:ext cx="6216650" cy="3216910"/>
            <a:chOff x="3048000" y="2667000"/>
            <a:chExt cx="6216650" cy="3216910"/>
          </a:xfrm>
        </p:grpSpPr>
        <p:sp>
          <p:nvSpPr>
            <p:cNvPr id="11" name="object 11"/>
            <p:cNvSpPr/>
            <p:nvPr/>
          </p:nvSpPr>
          <p:spPr>
            <a:xfrm>
              <a:off x="3124200" y="2743199"/>
              <a:ext cx="6140450" cy="3140710"/>
            </a:xfrm>
            <a:custGeom>
              <a:avLst/>
              <a:gdLst/>
              <a:ahLst/>
              <a:cxnLst/>
              <a:rect l="l" t="t" r="r" b="b"/>
              <a:pathLst>
                <a:path w="6140450" h="3140710">
                  <a:moveTo>
                    <a:pt x="6140196" y="0"/>
                  </a:moveTo>
                  <a:lnTo>
                    <a:pt x="0" y="0"/>
                  </a:lnTo>
                  <a:lnTo>
                    <a:pt x="0" y="3064002"/>
                  </a:lnTo>
                  <a:lnTo>
                    <a:pt x="0" y="3140202"/>
                  </a:lnTo>
                  <a:lnTo>
                    <a:pt x="6140196" y="3140202"/>
                  </a:lnTo>
                  <a:lnTo>
                    <a:pt x="6140196" y="3064002"/>
                  </a:lnTo>
                  <a:lnTo>
                    <a:pt x="6140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2667000"/>
              <a:ext cx="6140450" cy="3140710"/>
            </a:xfrm>
            <a:custGeom>
              <a:avLst/>
              <a:gdLst/>
              <a:ahLst/>
              <a:cxnLst/>
              <a:rect l="l" t="t" r="r" b="b"/>
              <a:pathLst>
                <a:path w="6140450" h="3140710">
                  <a:moveTo>
                    <a:pt x="6140196" y="3140202"/>
                  </a:moveTo>
                  <a:lnTo>
                    <a:pt x="6140196" y="0"/>
                  </a:lnTo>
                  <a:lnTo>
                    <a:pt x="0" y="0"/>
                  </a:lnTo>
                  <a:lnTo>
                    <a:pt x="0" y="3140202"/>
                  </a:lnTo>
                  <a:lnTo>
                    <a:pt x="6140196" y="3140202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24200" y="2743200"/>
            <a:ext cx="6064250" cy="3064510"/>
          </a:xfrm>
          <a:prstGeom prst="rect">
            <a:avLst/>
          </a:prstGeom>
          <a:solidFill>
            <a:srgbClr val="001B72"/>
          </a:solidFill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211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#pragma omp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930275" marR="191897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int id, i,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Nthrds,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istart,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iend;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id =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omp_get_thread_num();</a:t>
            </a:r>
            <a:endParaRPr sz="2000">
              <a:latin typeface="Arial"/>
              <a:cs typeface="Arial"/>
            </a:endParaRPr>
          </a:p>
          <a:p>
            <a:pPr marL="930275" marR="124269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Nthrds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omp_get_num_threads();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istart = id * N /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Nthrds;</a:t>
            </a:r>
            <a:endParaRPr sz="2000">
              <a:latin typeface="Arial"/>
              <a:cs typeface="Arial"/>
            </a:endParaRPr>
          </a:p>
          <a:p>
            <a:pPr marL="930275" marR="213106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iend =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(id+1)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* N /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Nthrds;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if (id ==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Nthrds-1)iend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N;</a:t>
            </a:r>
            <a:endParaRPr sz="2000">
              <a:latin typeface="Arial"/>
              <a:cs typeface="Arial"/>
            </a:endParaRPr>
          </a:p>
          <a:p>
            <a:pPr marL="930275">
              <a:lnSpc>
                <a:spcPct val="100000"/>
              </a:lnSpc>
              <a:tabLst>
                <a:tab pos="3549015" algn="l"/>
              </a:tabLst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for(i=istart;I&lt;iend;i++)	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 a[i] = a[i] +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b[i];}</a:t>
            </a:r>
            <a:endParaRPr sz="2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2601" y="6235856"/>
            <a:ext cx="5607050" cy="8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5" dirty="0">
                <a:latin typeface="Arial"/>
                <a:cs typeface="Arial"/>
              </a:rPr>
              <a:t>#pragma omp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parallel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#pragma </a:t>
            </a:r>
            <a:r>
              <a:rPr sz="2000" spc="-5" dirty="0">
                <a:latin typeface="Arial"/>
                <a:cs typeface="Arial"/>
              </a:rPr>
              <a:t>omp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for</a:t>
            </a:r>
            <a:endParaRPr sz="2000">
              <a:latin typeface="Arial"/>
              <a:cs typeface="Arial"/>
            </a:endParaRPr>
          </a:p>
          <a:p>
            <a:pPr marL="913765">
              <a:lnSpc>
                <a:spcPct val="100000"/>
              </a:lnSpc>
              <a:spcBef>
                <a:spcPts val="5"/>
              </a:spcBef>
              <a:tabLst>
                <a:tab pos="2825750" algn="l"/>
                <a:tab pos="5409565" algn="l"/>
              </a:tabLst>
            </a:pPr>
            <a:r>
              <a:rPr sz="2000" spc="-10" dirty="0">
                <a:latin typeface="Arial"/>
                <a:cs typeface="Arial"/>
              </a:rPr>
              <a:t>for(i=0;I&lt;N;i++</a:t>
            </a:r>
            <a:r>
              <a:rPr sz="2000" spc="-5" dirty="0">
                <a:latin typeface="Arial"/>
                <a:cs typeface="Arial"/>
              </a:rPr>
              <a:t>)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{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a[i</a:t>
            </a:r>
            <a:r>
              <a:rPr sz="2000" spc="-5" dirty="0">
                <a:latin typeface="Arial"/>
                <a:cs typeface="Arial"/>
              </a:rPr>
              <a:t>] = </a:t>
            </a:r>
            <a:r>
              <a:rPr sz="2000" spc="-10" dirty="0">
                <a:latin typeface="Arial"/>
                <a:cs typeface="Arial"/>
              </a:rPr>
              <a:t>a[i</a:t>
            </a:r>
            <a:r>
              <a:rPr sz="2000" spc="-5" dirty="0">
                <a:latin typeface="Arial"/>
                <a:cs typeface="Arial"/>
              </a:rPr>
              <a:t>] + </a:t>
            </a:r>
            <a:r>
              <a:rPr sz="2000" spc="-10" dirty="0">
                <a:latin typeface="Arial"/>
                <a:cs typeface="Arial"/>
              </a:rPr>
              <a:t>b[i];</a:t>
            </a:r>
            <a:r>
              <a:rPr sz="2000" spc="-5" dirty="0">
                <a:latin typeface="Arial"/>
                <a:cs typeface="Arial"/>
              </a:rPr>
              <a:t>}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24200" y="6096000"/>
            <a:ext cx="6236970" cy="1083310"/>
            <a:chOff x="3124200" y="6096000"/>
            <a:chExt cx="6236970" cy="1083310"/>
          </a:xfrm>
        </p:grpSpPr>
        <p:sp>
          <p:nvSpPr>
            <p:cNvPr id="16" name="object 16"/>
            <p:cNvSpPr/>
            <p:nvPr/>
          </p:nvSpPr>
          <p:spPr>
            <a:xfrm>
              <a:off x="3200400" y="6172199"/>
              <a:ext cx="6160770" cy="1007110"/>
            </a:xfrm>
            <a:custGeom>
              <a:avLst/>
              <a:gdLst/>
              <a:ahLst/>
              <a:cxnLst/>
              <a:rect l="l" t="t" r="r" b="b"/>
              <a:pathLst>
                <a:path w="6160770" h="1007109">
                  <a:moveTo>
                    <a:pt x="6160770" y="0"/>
                  </a:moveTo>
                  <a:lnTo>
                    <a:pt x="0" y="0"/>
                  </a:lnTo>
                  <a:lnTo>
                    <a:pt x="0" y="930402"/>
                  </a:lnTo>
                  <a:lnTo>
                    <a:pt x="0" y="1006602"/>
                  </a:lnTo>
                  <a:lnTo>
                    <a:pt x="6160770" y="1006602"/>
                  </a:lnTo>
                  <a:lnTo>
                    <a:pt x="6160770" y="930402"/>
                  </a:lnTo>
                  <a:lnTo>
                    <a:pt x="6160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24200" y="6096000"/>
              <a:ext cx="6160770" cy="1007110"/>
            </a:xfrm>
            <a:custGeom>
              <a:avLst/>
              <a:gdLst/>
              <a:ahLst/>
              <a:cxnLst/>
              <a:rect l="l" t="t" r="r" b="b"/>
              <a:pathLst>
                <a:path w="6160770" h="1007109">
                  <a:moveTo>
                    <a:pt x="6160770" y="1006602"/>
                  </a:moveTo>
                  <a:lnTo>
                    <a:pt x="6160770" y="0"/>
                  </a:lnTo>
                  <a:lnTo>
                    <a:pt x="0" y="0"/>
                  </a:lnTo>
                  <a:lnTo>
                    <a:pt x="0" y="1006602"/>
                  </a:lnTo>
                  <a:lnTo>
                    <a:pt x="6160770" y="1006602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00400" y="6172200"/>
            <a:ext cx="6084570" cy="930910"/>
          </a:xfrm>
          <a:prstGeom prst="rect">
            <a:avLst/>
          </a:prstGeom>
          <a:solidFill>
            <a:srgbClr val="001B72"/>
          </a:solidFill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211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#pragma omp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endParaRPr sz="2000">
              <a:latin typeface="Arial"/>
              <a:cs typeface="Arial"/>
            </a:endParaRPr>
          </a:p>
          <a:p>
            <a:pPr marL="930275">
              <a:lnSpc>
                <a:spcPct val="100000"/>
              </a:lnSpc>
              <a:tabLst>
                <a:tab pos="2842260" algn="l"/>
              </a:tabLst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for(i=0;I&lt;N;i++)	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 a[i] = a[i] +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b[i];}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5751" y="2122424"/>
            <a:ext cx="1972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Sequential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4801" y="3551173"/>
            <a:ext cx="2014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parallel  region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3851" y="5951473"/>
            <a:ext cx="20142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parallel  region and a  worksharing for  construct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47110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Working with</a:t>
            </a:r>
            <a:r>
              <a:rPr spc="-75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530509"/>
            <a:ext cx="8140700" cy="25761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compute intensive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400">
              <a:latin typeface="Arial"/>
              <a:cs typeface="Arial"/>
            </a:endParaRPr>
          </a:p>
          <a:p>
            <a:pPr marL="698500" marR="5080" indent="-228600">
              <a:lnSpc>
                <a:spcPts val="2680"/>
              </a:lnSpc>
              <a:spcBef>
                <a:spcPts val="915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Make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 loop iterations independent .. So they can  safely execute in any order without loop-carried  dependencies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Place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 appropriate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OpenMP directive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5998" y="4683251"/>
            <a:ext cx="3229610" cy="1981200"/>
          </a:xfrm>
          <a:custGeom>
            <a:avLst/>
            <a:gdLst/>
            <a:ahLst/>
            <a:cxnLst/>
            <a:rect l="l" t="t" r="r" b="b"/>
            <a:pathLst>
              <a:path w="3229610" h="1981200">
                <a:moveTo>
                  <a:pt x="3229356" y="0"/>
                </a:moveTo>
                <a:lnTo>
                  <a:pt x="0" y="0"/>
                </a:lnTo>
                <a:lnTo>
                  <a:pt x="0" y="643128"/>
                </a:lnTo>
                <a:lnTo>
                  <a:pt x="0" y="1981200"/>
                </a:lnTo>
                <a:lnTo>
                  <a:pt x="3229356" y="1981200"/>
                </a:lnTo>
                <a:lnTo>
                  <a:pt x="3229356" y="643128"/>
                </a:lnTo>
                <a:lnTo>
                  <a:pt x="3229356" y="0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9220" y="4755896"/>
            <a:ext cx="2626995" cy="18656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75565" marR="744220" indent="-12700">
              <a:lnSpc>
                <a:spcPct val="103699"/>
              </a:lnSpc>
              <a:spcBef>
                <a:spcPts val="10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 i, j,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A[MAX];  j =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5;</a:t>
            </a:r>
            <a:endParaRPr sz="2000">
              <a:latin typeface="Times New Roman"/>
              <a:cs typeface="Times New Roman"/>
            </a:endParaRPr>
          </a:p>
          <a:p>
            <a:pPr marL="329565" marR="5080" indent="-2540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(i=0;i&lt;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MAX; i++) {  j +=2;</a:t>
            </a:r>
            <a:endParaRPr sz="200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A[i] =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big(j);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13347" y="4667250"/>
            <a:ext cx="3388360" cy="1981200"/>
          </a:xfrm>
          <a:custGeom>
            <a:avLst/>
            <a:gdLst/>
            <a:ahLst/>
            <a:cxnLst/>
            <a:rect l="l" t="t" r="r" b="b"/>
            <a:pathLst>
              <a:path w="3388359" h="1981200">
                <a:moveTo>
                  <a:pt x="3387852" y="1981200"/>
                </a:moveTo>
                <a:lnTo>
                  <a:pt x="3387852" y="0"/>
                </a:lnTo>
                <a:lnTo>
                  <a:pt x="0" y="0"/>
                </a:lnTo>
                <a:lnTo>
                  <a:pt x="0" y="1981200"/>
                </a:lnTo>
                <a:lnTo>
                  <a:pt x="3387852" y="1981200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5835" y="4740655"/>
            <a:ext cx="2823210" cy="1865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  <a:tabLst>
                <a:tab pos="684530" algn="l"/>
              </a:tabLst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 i,	A[MAX];</a:t>
            </a:r>
            <a:endParaRPr sz="2000">
              <a:latin typeface="Times New Roman"/>
              <a:cs typeface="Times New Roman"/>
            </a:endParaRPr>
          </a:p>
          <a:p>
            <a:pPr marL="76200" marR="5080" indent="-64135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#pragma omp parallel for  for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(i=0;i&lt;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MAX; i++)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394335" marR="961390" indent="-641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 j = 5 +</a:t>
            </a:r>
            <a:r>
              <a:rPr sz="2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2*i;  A[i] =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big(j);</a:t>
            </a:r>
            <a:endParaRPr sz="20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1950" y="6040373"/>
            <a:ext cx="1771650" cy="10198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183515" marR="176530" algn="ctr">
              <a:lnSpc>
                <a:spcPct val="100000"/>
              </a:lnSpc>
              <a:spcBef>
                <a:spcPts val="340"/>
              </a:spcBef>
            </a:pPr>
            <a:r>
              <a:rPr sz="2000" b="1" spc="-5" dirty="0">
                <a:latin typeface="Times New Roman"/>
                <a:cs typeface="Times New Roman"/>
              </a:rPr>
              <a:t>Remove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loop  </a:t>
            </a:r>
            <a:r>
              <a:rPr sz="2000" b="1" spc="-10" dirty="0">
                <a:latin typeface="Times New Roman"/>
                <a:cs typeface="Times New Roman"/>
              </a:rPr>
              <a:t>carried  </a:t>
            </a:r>
            <a:r>
              <a:rPr sz="2000" b="1" spc="-5" dirty="0">
                <a:latin typeface="Times New Roman"/>
                <a:cs typeface="Times New Roman"/>
              </a:rPr>
              <a:t>dependence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73629" y="5817870"/>
            <a:ext cx="1762760" cy="748665"/>
          </a:xfrm>
          <a:custGeom>
            <a:avLst/>
            <a:gdLst/>
            <a:ahLst/>
            <a:cxnLst/>
            <a:rect l="l" t="t" r="r" b="b"/>
            <a:pathLst>
              <a:path w="1762760" h="748665">
                <a:moveTo>
                  <a:pt x="184403" y="16001"/>
                </a:moveTo>
                <a:lnTo>
                  <a:pt x="181927" y="9108"/>
                </a:lnTo>
                <a:lnTo>
                  <a:pt x="177165" y="3714"/>
                </a:lnTo>
                <a:lnTo>
                  <a:pt x="170687" y="464"/>
                </a:lnTo>
                <a:lnTo>
                  <a:pt x="163067" y="0"/>
                </a:lnTo>
                <a:lnTo>
                  <a:pt x="0" y="24383"/>
                </a:lnTo>
                <a:lnTo>
                  <a:pt x="28193" y="60633"/>
                </a:lnTo>
                <a:lnTo>
                  <a:pt x="28193" y="55625"/>
                </a:lnTo>
                <a:lnTo>
                  <a:pt x="41909" y="20573"/>
                </a:lnTo>
                <a:lnTo>
                  <a:pt x="107546" y="46997"/>
                </a:lnTo>
                <a:lnTo>
                  <a:pt x="168401" y="38099"/>
                </a:lnTo>
                <a:lnTo>
                  <a:pt x="175617" y="35504"/>
                </a:lnTo>
                <a:lnTo>
                  <a:pt x="180974" y="30479"/>
                </a:lnTo>
                <a:lnTo>
                  <a:pt x="184046" y="23741"/>
                </a:lnTo>
                <a:lnTo>
                  <a:pt x="184403" y="16001"/>
                </a:lnTo>
                <a:close/>
              </a:path>
              <a:path w="1762760" h="748665">
                <a:moveTo>
                  <a:pt x="107546" y="46997"/>
                </a:moveTo>
                <a:lnTo>
                  <a:pt x="41909" y="20573"/>
                </a:lnTo>
                <a:lnTo>
                  <a:pt x="28193" y="55625"/>
                </a:lnTo>
                <a:lnTo>
                  <a:pt x="38100" y="59615"/>
                </a:lnTo>
                <a:lnTo>
                  <a:pt x="38100" y="57149"/>
                </a:lnTo>
                <a:lnTo>
                  <a:pt x="50291" y="26669"/>
                </a:lnTo>
                <a:lnTo>
                  <a:pt x="70239" y="52451"/>
                </a:lnTo>
                <a:lnTo>
                  <a:pt x="107546" y="46997"/>
                </a:lnTo>
                <a:close/>
              </a:path>
              <a:path w="1762760" h="748665">
                <a:moveTo>
                  <a:pt x="135254" y="145256"/>
                </a:moveTo>
                <a:lnTo>
                  <a:pt x="134659" y="137910"/>
                </a:lnTo>
                <a:lnTo>
                  <a:pt x="131063" y="131063"/>
                </a:lnTo>
                <a:lnTo>
                  <a:pt x="92840" y="81662"/>
                </a:lnTo>
                <a:lnTo>
                  <a:pt x="28193" y="55625"/>
                </a:lnTo>
                <a:lnTo>
                  <a:pt x="28193" y="60633"/>
                </a:lnTo>
                <a:lnTo>
                  <a:pt x="101345" y="154685"/>
                </a:lnTo>
                <a:lnTo>
                  <a:pt x="106906" y="159662"/>
                </a:lnTo>
                <a:lnTo>
                  <a:pt x="113823" y="161924"/>
                </a:lnTo>
                <a:lnTo>
                  <a:pt x="121169" y="161329"/>
                </a:lnTo>
                <a:lnTo>
                  <a:pt x="128015" y="157733"/>
                </a:lnTo>
                <a:lnTo>
                  <a:pt x="132992" y="152173"/>
                </a:lnTo>
                <a:lnTo>
                  <a:pt x="135254" y="145256"/>
                </a:lnTo>
                <a:close/>
              </a:path>
              <a:path w="1762760" h="748665">
                <a:moveTo>
                  <a:pt x="70239" y="52451"/>
                </a:moveTo>
                <a:lnTo>
                  <a:pt x="50291" y="26669"/>
                </a:lnTo>
                <a:lnTo>
                  <a:pt x="38100" y="57149"/>
                </a:lnTo>
                <a:lnTo>
                  <a:pt x="70239" y="52451"/>
                </a:lnTo>
                <a:close/>
              </a:path>
              <a:path w="1762760" h="748665">
                <a:moveTo>
                  <a:pt x="92840" y="81662"/>
                </a:moveTo>
                <a:lnTo>
                  <a:pt x="70239" y="52451"/>
                </a:lnTo>
                <a:lnTo>
                  <a:pt x="38100" y="57149"/>
                </a:lnTo>
                <a:lnTo>
                  <a:pt x="38100" y="59615"/>
                </a:lnTo>
                <a:lnTo>
                  <a:pt x="92840" y="81662"/>
                </a:lnTo>
                <a:close/>
              </a:path>
              <a:path w="1762760" h="748665">
                <a:moveTo>
                  <a:pt x="1762505" y="713231"/>
                </a:moveTo>
                <a:lnTo>
                  <a:pt x="107546" y="46997"/>
                </a:lnTo>
                <a:lnTo>
                  <a:pt x="70239" y="52451"/>
                </a:lnTo>
                <a:lnTo>
                  <a:pt x="92840" y="81662"/>
                </a:lnTo>
                <a:lnTo>
                  <a:pt x="1748027" y="748283"/>
                </a:lnTo>
                <a:lnTo>
                  <a:pt x="1762505" y="7132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58840" y="5913882"/>
            <a:ext cx="725170" cy="748030"/>
          </a:xfrm>
          <a:custGeom>
            <a:avLst/>
            <a:gdLst/>
            <a:ahLst/>
            <a:cxnLst/>
            <a:rect l="l" t="t" r="r" b="b"/>
            <a:pathLst>
              <a:path w="725170" h="748029">
                <a:moveTo>
                  <a:pt x="671819" y="53825"/>
                </a:moveTo>
                <a:lnTo>
                  <a:pt x="635671" y="63998"/>
                </a:lnTo>
                <a:lnTo>
                  <a:pt x="0" y="721613"/>
                </a:lnTo>
                <a:lnTo>
                  <a:pt x="26670" y="747521"/>
                </a:lnTo>
                <a:lnTo>
                  <a:pt x="662547" y="91132"/>
                </a:lnTo>
                <a:lnTo>
                  <a:pt x="671819" y="53825"/>
                </a:lnTo>
                <a:close/>
              </a:path>
              <a:path w="725170" h="748029">
                <a:moveTo>
                  <a:pt x="724662" y="0"/>
                </a:moveTo>
                <a:lnTo>
                  <a:pt x="565404" y="44195"/>
                </a:lnTo>
                <a:lnTo>
                  <a:pt x="558772" y="47779"/>
                </a:lnTo>
                <a:lnTo>
                  <a:pt x="554069" y="53435"/>
                </a:lnTo>
                <a:lnTo>
                  <a:pt x="551795" y="60376"/>
                </a:lnTo>
                <a:lnTo>
                  <a:pt x="552450" y="67817"/>
                </a:lnTo>
                <a:lnTo>
                  <a:pt x="555926" y="74449"/>
                </a:lnTo>
                <a:lnTo>
                  <a:pt x="561403" y="79152"/>
                </a:lnTo>
                <a:lnTo>
                  <a:pt x="568309" y="81426"/>
                </a:lnTo>
                <a:lnTo>
                  <a:pt x="576072" y="80771"/>
                </a:lnTo>
                <a:lnTo>
                  <a:pt x="635671" y="63998"/>
                </a:lnTo>
                <a:lnTo>
                  <a:pt x="684276" y="13715"/>
                </a:lnTo>
                <a:lnTo>
                  <a:pt x="711708" y="40385"/>
                </a:lnTo>
                <a:lnTo>
                  <a:pt x="711708" y="52314"/>
                </a:lnTo>
                <a:lnTo>
                  <a:pt x="724662" y="0"/>
                </a:lnTo>
                <a:close/>
              </a:path>
              <a:path w="725170" h="748029">
                <a:moveTo>
                  <a:pt x="711708" y="40385"/>
                </a:moveTo>
                <a:lnTo>
                  <a:pt x="684276" y="13715"/>
                </a:lnTo>
                <a:lnTo>
                  <a:pt x="635671" y="63998"/>
                </a:lnTo>
                <a:lnTo>
                  <a:pt x="671819" y="53825"/>
                </a:lnTo>
                <a:lnTo>
                  <a:pt x="679704" y="22097"/>
                </a:lnTo>
                <a:lnTo>
                  <a:pt x="703326" y="44957"/>
                </a:lnTo>
                <a:lnTo>
                  <a:pt x="703326" y="49038"/>
                </a:lnTo>
                <a:lnTo>
                  <a:pt x="711708" y="40385"/>
                </a:lnTo>
                <a:close/>
              </a:path>
              <a:path w="725170" h="748029">
                <a:moveTo>
                  <a:pt x="711708" y="52314"/>
                </a:moveTo>
                <a:lnTo>
                  <a:pt x="711708" y="40385"/>
                </a:lnTo>
                <a:lnTo>
                  <a:pt x="662547" y="91132"/>
                </a:lnTo>
                <a:lnTo>
                  <a:pt x="647700" y="150875"/>
                </a:lnTo>
                <a:lnTo>
                  <a:pt x="647497" y="158305"/>
                </a:lnTo>
                <a:lnTo>
                  <a:pt x="650081" y="165163"/>
                </a:lnTo>
                <a:lnTo>
                  <a:pt x="655093" y="170592"/>
                </a:lnTo>
                <a:lnTo>
                  <a:pt x="662178" y="173735"/>
                </a:lnTo>
                <a:lnTo>
                  <a:pt x="669607" y="174271"/>
                </a:lnTo>
                <a:lnTo>
                  <a:pt x="676465" y="171735"/>
                </a:lnTo>
                <a:lnTo>
                  <a:pt x="681894" y="166770"/>
                </a:lnTo>
                <a:lnTo>
                  <a:pt x="685038" y="160019"/>
                </a:lnTo>
                <a:lnTo>
                  <a:pt x="711708" y="52314"/>
                </a:lnTo>
                <a:close/>
              </a:path>
              <a:path w="725170" h="748029">
                <a:moveTo>
                  <a:pt x="703326" y="49038"/>
                </a:moveTo>
                <a:lnTo>
                  <a:pt x="703326" y="44957"/>
                </a:lnTo>
                <a:lnTo>
                  <a:pt x="671819" y="53825"/>
                </a:lnTo>
                <a:lnTo>
                  <a:pt x="662547" y="91132"/>
                </a:lnTo>
                <a:lnTo>
                  <a:pt x="703326" y="49038"/>
                </a:lnTo>
                <a:close/>
              </a:path>
              <a:path w="725170" h="748029">
                <a:moveTo>
                  <a:pt x="703326" y="44957"/>
                </a:moveTo>
                <a:lnTo>
                  <a:pt x="679704" y="22097"/>
                </a:lnTo>
                <a:lnTo>
                  <a:pt x="671819" y="53825"/>
                </a:lnTo>
                <a:lnTo>
                  <a:pt x="703326" y="4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59529" y="4397502"/>
            <a:ext cx="1915795" cy="9290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57480" marR="149860" algn="ctr">
              <a:lnSpc>
                <a:spcPct val="100000"/>
              </a:lnSpc>
              <a:spcBef>
                <a:spcPts val="345"/>
              </a:spcBef>
            </a:pPr>
            <a:r>
              <a:rPr sz="1800" b="1" spc="-5" dirty="0">
                <a:latin typeface="Times New Roman"/>
                <a:cs typeface="Times New Roman"/>
              </a:rPr>
              <a:t>Note: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loop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index 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“i” is </a:t>
            </a:r>
            <a:r>
              <a:rPr sz="1800" b="1" dirty="0">
                <a:latin typeface="Times New Roman"/>
                <a:cs typeface="Times New Roman"/>
              </a:rPr>
              <a:t>private </a:t>
            </a:r>
            <a:r>
              <a:rPr sz="1800" b="1" spc="-5" dirty="0">
                <a:latin typeface="Times New Roman"/>
                <a:cs typeface="Times New Roman"/>
              </a:rPr>
              <a:t>by  </a:t>
            </a:r>
            <a:r>
              <a:rPr sz="1800" b="1" spc="-10" dirty="0">
                <a:latin typeface="Times New Roman"/>
                <a:cs typeface="Times New Roman"/>
              </a:rPr>
              <a:t>default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70626" y="4828032"/>
            <a:ext cx="723900" cy="662940"/>
          </a:xfrm>
          <a:custGeom>
            <a:avLst/>
            <a:gdLst/>
            <a:ahLst/>
            <a:cxnLst/>
            <a:rect l="l" t="t" r="r" b="b"/>
            <a:pathLst>
              <a:path w="723900" h="662939">
                <a:moveTo>
                  <a:pt x="667666" y="611999"/>
                </a:moveTo>
                <a:lnTo>
                  <a:pt x="656236" y="575509"/>
                </a:lnTo>
                <a:lnTo>
                  <a:pt x="25146" y="0"/>
                </a:lnTo>
                <a:lnTo>
                  <a:pt x="0" y="28194"/>
                </a:lnTo>
                <a:lnTo>
                  <a:pt x="630959" y="604226"/>
                </a:lnTo>
                <a:lnTo>
                  <a:pt x="667666" y="611999"/>
                </a:lnTo>
                <a:close/>
              </a:path>
              <a:path w="723900" h="662939">
                <a:moveTo>
                  <a:pt x="708660" y="659633"/>
                </a:moveTo>
                <a:lnTo>
                  <a:pt x="708660" y="623316"/>
                </a:lnTo>
                <a:lnTo>
                  <a:pt x="682752" y="651510"/>
                </a:lnTo>
                <a:lnTo>
                  <a:pt x="630959" y="604226"/>
                </a:lnTo>
                <a:lnTo>
                  <a:pt x="569976" y="591312"/>
                </a:lnTo>
                <a:lnTo>
                  <a:pt x="562356" y="591230"/>
                </a:lnTo>
                <a:lnTo>
                  <a:pt x="556069" y="593693"/>
                </a:lnTo>
                <a:lnTo>
                  <a:pt x="550902" y="598705"/>
                </a:lnTo>
                <a:lnTo>
                  <a:pt x="547878" y="605790"/>
                </a:lnTo>
                <a:lnTo>
                  <a:pt x="547675" y="613207"/>
                </a:lnTo>
                <a:lnTo>
                  <a:pt x="550259" y="619982"/>
                </a:lnTo>
                <a:lnTo>
                  <a:pt x="555271" y="625185"/>
                </a:lnTo>
                <a:lnTo>
                  <a:pt x="562356" y="627888"/>
                </a:lnTo>
                <a:lnTo>
                  <a:pt x="708660" y="659633"/>
                </a:lnTo>
                <a:close/>
              </a:path>
              <a:path w="723900" h="662939">
                <a:moveTo>
                  <a:pt x="699516" y="633266"/>
                </a:moveTo>
                <a:lnTo>
                  <a:pt x="699516" y="618744"/>
                </a:lnTo>
                <a:lnTo>
                  <a:pt x="677418" y="643128"/>
                </a:lnTo>
                <a:lnTo>
                  <a:pt x="667666" y="611999"/>
                </a:lnTo>
                <a:lnTo>
                  <a:pt x="630959" y="604226"/>
                </a:lnTo>
                <a:lnTo>
                  <a:pt x="682752" y="651510"/>
                </a:lnTo>
                <a:lnTo>
                  <a:pt x="699516" y="633266"/>
                </a:lnTo>
                <a:close/>
              </a:path>
              <a:path w="723900" h="662939">
                <a:moveTo>
                  <a:pt x="723900" y="662940"/>
                </a:moveTo>
                <a:lnTo>
                  <a:pt x="674370" y="505206"/>
                </a:lnTo>
                <a:lnTo>
                  <a:pt x="670786" y="498693"/>
                </a:lnTo>
                <a:lnTo>
                  <a:pt x="665130" y="494252"/>
                </a:lnTo>
                <a:lnTo>
                  <a:pt x="658189" y="492240"/>
                </a:lnTo>
                <a:lnTo>
                  <a:pt x="650748" y="493014"/>
                </a:lnTo>
                <a:lnTo>
                  <a:pt x="644116" y="496597"/>
                </a:lnTo>
                <a:lnTo>
                  <a:pt x="639413" y="502253"/>
                </a:lnTo>
                <a:lnTo>
                  <a:pt x="637139" y="509194"/>
                </a:lnTo>
                <a:lnTo>
                  <a:pt x="637794" y="516636"/>
                </a:lnTo>
                <a:lnTo>
                  <a:pt x="656236" y="575509"/>
                </a:lnTo>
                <a:lnTo>
                  <a:pt x="708660" y="623316"/>
                </a:lnTo>
                <a:lnTo>
                  <a:pt x="708660" y="659633"/>
                </a:lnTo>
                <a:lnTo>
                  <a:pt x="723900" y="662940"/>
                </a:lnTo>
                <a:close/>
              </a:path>
              <a:path w="723900" h="662939">
                <a:moveTo>
                  <a:pt x="708660" y="623316"/>
                </a:moveTo>
                <a:lnTo>
                  <a:pt x="656236" y="575509"/>
                </a:lnTo>
                <a:lnTo>
                  <a:pt x="667666" y="611999"/>
                </a:lnTo>
                <a:lnTo>
                  <a:pt x="699516" y="618744"/>
                </a:lnTo>
                <a:lnTo>
                  <a:pt x="699516" y="633266"/>
                </a:lnTo>
                <a:lnTo>
                  <a:pt x="708660" y="623316"/>
                </a:lnTo>
                <a:close/>
              </a:path>
              <a:path w="723900" h="662939">
                <a:moveTo>
                  <a:pt x="699516" y="618744"/>
                </a:moveTo>
                <a:lnTo>
                  <a:pt x="667666" y="611999"/>
                </a:lnTo>
                <a:lnTo>
                  <a:pt x="677418" y="643128"/>
                </a:lnTo>
                <a:lnTo>
                  <a:pt x="699516" y="6187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30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587755"/>
            <a:ext cx="25076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31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3694429"/>
            <a:ext cx="7924165" cy="26682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 marR="29845" indent="-285750" algn="just">
              <a:lnSpc>
                <a:spcPts val="2700"/>
              </a:lnSpc>
              <a:spcBef>
                <a:spcPts val="34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We are combining values into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single accumulation  variable (ave)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…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there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is 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true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dependence between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loop iterations that can’t be trivially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removed</a:t>
            </a:r>
            <a:endParaRPr sz="2400">
              <a:latin typeface="Arial"/>
              <a:cs typeface="Arial"/>
            </a:endParaRPr>
          </a:p>
          <a:p>
            <a:pPr marL="298450" marR="784860" indent="-285750">
              <a:lnSpc>
                <a:spcPts val="2700"/>
              </a:lnSpc>
              <a:spcBef>
                <a:spcPts val="86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This is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very common situation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…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it is called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“reduction”.</a:t>
            </a:r>
            <a:endParaRPr sz="2400">
              <a:latin typeface="Arial"/>
              <a:cs typeface="Arial"/>
            </a:endParaRPr>
          </a:p>
          <a:p>
            <a:pPr marL="298450" marR="5080" indent="-285750">
              <a:lnSpc>
                <a:spcPts val="2700"/>
              </a:lnSpc>
              <a:spcBef>
                <a:spcPts val="86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Support for reduction operations is included in most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parallel programming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environments.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1101" y="1824227"/>
            <a:ext cx="4361180" cy="1676400"/>
          </a:xfrm>
          <a:prstGeom prst="rect">
            <a:avLst/>
          </a:prstGeom>
          <a:solidFill>
            <a:srgbClr val="001B72"/>
          </a:solidFill>
        </p:spPr>
        <p:txBody>
          <a:bodyPr vert="horz" wrap="square" lIns="0" tIns="73660" rIns="0" bIns="0" rtlCol="0">
            <a:spAutoFit/>
          </a:bodyPr>
          <a:lstStyle/>
          <a:p>
            <a:pPr marL="408940" marR="329565" indent="-12700">
              <a:lnSpc>
                <a:spcPct val="103699"/>
              </a:lnSpc>
              <a:spcBef>
                <a:spcPts val="580"/>
              </a:spcBef>
              <a:tabLst>
                <a:tab pos="3509645" algn="l"/>
              </a:tabLst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double </a:t>
            </a:r>
            <a:r>
              <a:rPr sz="20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ave=0.0,</a:t>
            </a:r>
            <a:r>
              <a:rPr sz="20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A[MAX];	int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i;  for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(i=0;i&lt;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MAX; i++) {</a:t>
            </a:r>
            <a:endParaRPr sz="2000">
              <a:latin typeface="Times New Roman"/>
              <a:cs typeface="Times New Roman"/>
            </a:endParaRPr>
          </a:p>
          <a:p>
            <a:pPr marL="66230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ave + = A[i];</a:t>
            </a:r>
            <a:endParaRPr sz="2000">
              <a:latin typeface="Times New Roman"/>
              <a:cs typeface="Times New Roman"/>
            </a:endParaRPr>
          </a:p>
          <a:p>
            <a:pPr marL="34544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28130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ave =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ave/MAX;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500" y="1181353"/>
            <a:ext cx="4541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How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do we handle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case?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6950" y="587755"/>
            <a:ext cx="25076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Reduction</a:t>
            </a:r>
          </a:p>
        </p:txBody>
      </p:sp>
      <p:sp>
        <p:nvSpPr>
          <p:cNvPr id="4" name="object 4"/>
          <p:cNvSpPr/>
          <p:nvPr/>
        </p:nvSpPr>
        <p:spPr>
          <a:xfrm>
            <a:off x="2426970" y="5334000"/>
            <a:ext cx="5552440" cy="1981200"/>
          </a:xfrm>
          <a:custGeom>
            <a:avLst/>
            <a:gdLst/>
            <a:ahLst/>
            <a:cxnLst/>
            <a:rect l="l" t="t" r="r" b="b"/>
            <a:pathLst>
              <a:path w="5552440" h="1981200">
                <a:moveTo>
                  <a:pt x="5551932" y="1981200"/>
                </a:moveTo>
                <a:lnTo>
                  <a:pt x="5551932" y="0"/>
                </a:lnTo>
                <a:lnTo>
                  <a:pt x="0" y="0"/>
                </a:lnTo>
                <a:lnTo>
                  <a:pt x="0" y="1981200"/>
                </a:lnTo>
                <a:lnTo>
                  <a:pt x="5551932" y="1981200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5500" y="1094485"/>
            <a:ext cx="8220075" cy="4643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4072890" indent="-298450">
              <a:lnSpc>
                <a:spcPct val="123800"/>
              </a:lnSpc>
              <a:spcBef>
                <a:spcPts val="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OpenMP reduction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clause: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 reduction (op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:</a:t>
            </a:r>
            <a:r>
              <a:rPr sz="2400" b="1" spc="-4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list)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6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Inside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parallel or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work-sharing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construct:</a:t>
            </a:r>
            <a:endParaRPr sz="2400">
              <a:latin typeface="Arial"/>
              <a:cs typeface="Arial"/>
            </a:endParaRPr>
          </a:p>
          <a:p>
            <a:pPr marL="1155065" marR="375285" lvl="1" indent="-228600">
              <a:lnSpc>
                <a:spcPts val="2240"/>
              </a:lnSpc>
              <a:spcBef>
                <a:spcPts val="775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A local copy of each list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variable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is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made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and initialized  depending on the “op” (e.g. 0 for</a:t>
            </a:r>
            <a:r>
              <a:rPr sz="2000" b="1" spc="25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“+”).</a:t>
            </a:r>
            <a:endParaRPr sz="2000">
              <a:latin typeface="Arial"/>
              <a:cs typeface="Arial"/>
            </a:endParaRPr>
          </a:p>
          <a:p>
            <a:pPr marL="1155065" marR="5080" lvl="1" indent="-228600">
              <a:lnSpc>
                <a:spcPts val="2240"/>
              </a:lnSpc>
              <a:spcBef>
                <a:spcPts val="725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Compiler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finds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standard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reduction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expressions containing 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“op” and uses them to update the local</a:t>
            </a:r>
            <a:r>
              <a:rPr sz="2000" b="1" spc="4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copy.</a:t>
            </a:r>
            <a:endParaRPr sz="2000">
              <a:latin typeface="Arial"/>
              <a:cs typeface="Arial"/>
            </a:endParaRPr>
          </a:p>
          <a:p>
            <a:pPr marL="1155065" marR="1218565" lvl="1" indent="-228600">
              <a:lnSpc>
                <a:spcPts val="2230"/>
              </a:lnSpc>
              <a:spcBef>
                <a:spcPts val="730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Local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copies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are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reduced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into a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single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value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and  combined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with the original global</a:t>
            </a:r>
            <a:r>
              <a:rPr sz="2000" b="1" spc="3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value.</a:t>
            </a:r>
            <a:endParaRPr sz="2000">
              <a:latin typeface="Arial"/>
              <a:cs typeface="Arial"/>
            </a:endParaRPr>
          </a:p>
          <a:p>
            <a:pPr marL="298450" marR="46355" indent="-285750">
              <a:lnSpc>
                <a:spcPts val="2680"/>
              </a:lnSpc>
              <a:spcBef>
                <a:spcPts val="86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 variables in “list” must be shared in the enclosing  parallel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region.</a:t>
            </a:r>
            <a:endParaRPr sz="2400">
              <a:latin typeface="Arial"/>
              <a:cs typeface="Arial"/>
            </a:endParaRPr>
          </a:p>
          <a:p>
            <a:pPr marL="1998345">
              <a:lnSpc>
                <a:spcPct val="100000"/>
              </a:lnSpc>
              <a:spcBef>
                <a:spcPts val="1420"/>
              </a:spcBef>
              <a:tabLst>
                <a:tab pos="5111115" algn="l"/>
              </a:tabLst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double </a:t>
            </a:r>
            <a:r>
              <a:rPr sz="20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ave=0.0,</a:t>
            </a:r>
            <a:r>
              <a:rPr sz="20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A[MAX];	int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6198" y="5723624"/>
            <a:ext cx="4885055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65"/>
                </a:solidFill>
                <a:latin typeface="Times New Roman"/>
                <a:cs typeface="Times New Roman"/>
              </a:rPr>
              <a:t>#pragma omp parallel for reduction (+:ave) 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(i=0;i&lt;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MAX; i++)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ave + = A[i];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ave = ave/MAX;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25406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Exercise</a:t>
            </a:r>
            <a:r>
              <a:rPr spc="-85" dirty="0"/>
              <a:t> </a:t>
            </a:r>
            <a:r>
              <a:rPr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74595"/>
            <a:ext cx="8321675" cy="17716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98450" marR="5080" indent="-285750">
              <a:lnSpc>
                <a:spcPts val="3130"/>
              </a:lnSpc>
              <a:spcBef>
                <a:spcPts val="3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Go back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 the serial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pi program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parallelize  it with a loop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construct</a:t>
            </a:r>
            <a:endParaRPr sz="2800">
              <a:latin typeface="Arial"/>
              <a:cs typeface="Arial"/>
            </a:endParaRPr>
          </a:p>
          <a:p>
            <a:pPr marL="298450" marR="345440" indent="-285750">
              <a:lnSpc>
                <a:spcPts val="3130"/>
              </a:lnSpc>
              <a:spcBef>
                <a:spcPts val="100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Your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goal is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 minimize the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number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changes  made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serial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program.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20200" y="7010400"/>
            <a:ext cx="152400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33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4902" y="817880"/>
            <a:ext cx="48260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Exercise </a:t>
            </a:r>
            <a:r>
              <a:rPr spc="-5" dirty="0"/>
              <a:t>4:</a:t>
            </a:r>
            <a:r>
              <a:rPr spc="-85" dirty="0"/>
              <a:t> </a:t>
            </a:r>
            <a:r>
              <a:rPr spc="-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2132" y="2139950"/>
            <a:ext cx="150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double</a:t>
            </a:r>
            <a:r>
              <a:rPr sz="2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step;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5901" y="1774952"/>
            <a:ext cx="3987800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solidFill>
                  <a:srgbClr val="FFFF65"/>
                </a:solidFill>
                <a:latin typeface="Times New Roman"/>
                <a:cs typeface="Times New Roman"/>
              </a:rPr>
              <a:t>#include</a:t>
            </a:r>
            <a:r>
              <a:rPr sz="2400" spc="-15" dirty="0">
                <a:solidFill>
                  <a:srgbClr val="FFFF6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65"/>
                </a:solidFill>
                <a:latin typeface="Times New Roman"/>
                <a:cs typeface="Times New Roman"/>
              </a:rPr>
              <a:t>&lt;omp.h&gt;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static long num_steps =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100000;  </a:t>
            </a:r>
            <a:r>
              <a:rPr sz="2400" spc="-5" dirty="0">
                <a:solidFill>
                  <a:srgbClr val="FFFF65"/>
                </a:solidFill>
                <a:latin typeface="Times New Roman"/>
                <a:cs typeface="Times New Roman"/>
              </a:rPr>
              <a:t>#define NUM_THREADS 2 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void main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()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5901" y="3234944"/>
            <a:ext cx="4904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  <a:tab pos="199453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{	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int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i;	double x, pi, sum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0.0;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2701" y="3599941"/>
            <a:ext cx="380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step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1.0/(double)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num_steps;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5901" y="3965702"/>
            <a:ext cx="659638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668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65"/>
                </a:solidFill>
                <a:latin typeface="Times New Roman"/>
                <a:cs typeface="Times New Roman"/>
              </a:rPr>
              <a:t>omp_set_num_threads(NUM_THREADS);  #pragma omp parallel for private(x)</a:t>
            </a:r>
            <a:r>
              <a:rPr sz="2400" spc="10" dirty="0">
                <a:solidFill>
                  <a:srgbClr val="FFFF6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65"/>
                </a:solidFill>
                <a:latin typeface="Times New Roman"/>
                <a:cs typeface="Times New Roman"/>
              </a:rPr>
              <a:t>reduction(+:sum)</a:t>
            </a:r>
            <a:endParaRPr sz="2400">
              <a:latin typeface="Times New Roman"/>
              <a:cs typeface="Times New Roman"/>
            </a:endParaRPr>
          </a:p>
          <a:p>
            <a:pPr marL="1079500">
              <a:lnSpc>
                <a:spcPts val="2870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for (i=0;i&lt; num_steps;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i++){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7102" y="5060695"/>
            <a:ext cx="345249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 =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(i+0.5)*step;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sum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sum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4.0/(1.0+x*x);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2701" y="5790692"/>
            <a:ext cx="19735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pi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step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sum;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5901" y="6521450"/>
            <a:ext cx="17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26530" y="6224999"/>
            <a:ext cx="2566670" cy="960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0"/>
              </a:lnSpc>
            </a:pPr>
            <a:r>
              <a:rPr sz="1600" b="1" spc="-5" dirty="0">
                <a:latin typeface="Arial"/>
                <a:cs typeface="Arial"/>
              </a:rPr>
              <a:t>Note: </a:t>
            </a:r>
            <a:r>
              <a:rPr sz="1600" b="1" dirty="0">
                <a:latin typeface="Arial"/>
                <a:cs typeface="Arial"/>
              </a:rPr>
              <a:t>we </a:t>
            </a:r>
            <a:r>
              <a:rPr sz="1600" b="1" spc="-5" dirty="0">
                <a:latin typeface="Arial"/>
                <a:cs typeface="Arial"/>
              </a:rPr>
              <a:t>created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parallel</a:t>
            </a:r>
            <a:endParaRPr sz="1600">
              <a:latin typeface="Arial"/>
              <a:cs typeface="Arial"/>
            </a:endParaRPr>
          </a:p>
          <a:p>
            <a:pPr marL="42545" indent="-4127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program without changing  any code and by adding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666750">
              <a:lnSpc>
                <a:spcPct val="100000"/>
              </a:lnSpc>
              <a:spcBef>
                <a:spcPts val="5"/>
              </a:spcBef>
              <a:tabLst>
                <a:tab pos="2077085" algn="l"/>
              </a:tabLst>
            </a:pPr>
            <a:r>
              <a:rPr sz="1600" b="1" spc="-5" dirty="0">
                <a:latin typeface="Arial"/>
                <a:cs typeface="Arial"/>
              </a:rPr>
              <a:t>simple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lines!	</a:t>
            </a:r>
            <a:r>
              <a:rPr sz="2100" spc="-15" baseline="19841" dirty="0">
                <a:solidFill>
                  <a:srgbClr val="FFFFFF"/>
                </a:solidFill>
                <a:latin typeface="Arial"/>
                <a:cs typeface="Arial"/>
              </a:rPr>
              <a:t>123</a:t>
            </a:r>
            <a:endParaRPr sz="2100" baseline="19841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00800" y="6159246"/>
            <a:ext cx="2819399" cy="1079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24600" y="6083046"/>
            <a:ext cx="2819400" cy="108013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25730" marR="119380" algn="ctr">
              <a:lnSpc>
                <a:spcPct val="100000"/>
              </a:lnSpc>
              <a:spcBef>
                <a:spcPts val="365"/>
              </a:spcBef>
            </a:pPr>
            <a:r>
              <a:rPr sz="1600" b="1" spc="-5" dirty="0">
                <a:latin typeface="Arial"/>
                <a:cs typeface="Arial"/>
              </a:rPr>
              <a:t>Note: </a:t>
            </a:r>
            <a:r>
              <a:rPr sz="1600" b="1" dirty="0">
                <a:latin typeface="Arial"/>
                <a:cs typeface="Arial"/>
              </a:rPr>
              <a:t>we </a:t>
            </a:r>
            <a:r>
              <a:rPr sz="1600" b="1" spc="-5" dirty="0">
                <a:latin typeface="Arial"/>
                <a:cs typeface="Arial"/>
              </a:rPr>
              <a:t>created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parallel  </a:t>
            </a:r>
            <a:r>
              <a:rPr sz="1600" b="1" spc="-5" dirty="0">
                <a:latin typeface="Arial"/>
                <a:cs typeface="Arial"/>
              </a:rPr>
              <a:t>program without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changing  any code and by adding </a:t>
            </a:r>
            <a:r>
              <a:rPr sz="1600" b="1" dirty="0">
                <a:latin typeface="Arial"/>
                <a:cs typeface="Arial"/>
              </a:rPr>
              <a:t>4  </a:t>
            </a:r>
            <a:r>
              <a:rPr sz="1600" b="1" spc="-5" dirty="0">
                <a:latin typeface="Arial"/>
                <a:cs typeface="Arial"/>
              </a:rPr>
              <a:t>simple lines!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5097" y="5384180"/>
            <a:ext cx="1157605" cy="551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latin typeface="Tahoma"/>
                <a:cs typeface="Tahoma"/>
              </a:rPr>
              <a:t>i </a:t>
            </a:r>
            <a:r>
              <a:rPr sz="1800" b="1" spc="-10" dirty="0">
                <a:latin typeface="Tahoma"/>
                <a:cs typeface="Tahoma"/>
              </a:rPr>
              <a:t>private  </a:t>
            </a:r>
            <a:r>
              <a:rPr sz="1800" b="1" dirty="0">
                <a:latin typeface="Tahoma"/>
                <a:cs typeface="Tahoma"/>
              </a:rPr>
              <a:t>by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default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6800" y="5334000"/>
            <a:ext cx="1447800" cy="653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90600" y="5257800"/>
            <a:ext cx="1447800" cy="654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97790" marR="184150">
              <a:lnSpc>
                <a:spcPct val="100000"/>
              </a:lnSpc>
              <a:spcBef>
                <a:spcPts val="395"/>
              </a:spcBef>
            </a:pPr>
            <a:r>
              <a:rPr sz="1800" b="1" dirty="0">
                <a:latin typeface="Tahoma"/>
                <a:cs typeface="Tahoma"/>
              </a:rPr>
              <a:t>i </a:t>
            </a:r>
            <a:r>
              <a:rPr sz="1800" b="1" spc="-10" dirty="0">
                <a:latin typeface="Tahoma"/>
                <a:cs typeface="Tahoma"/>
              </a:rPr>
              <a:t>private  </a:t>
            </a:r>
            <a:r>
              <a:rPr sz="1800" b="1" dirty="0">
                <a:latin typeface="Tahoma"/>
                <a:cs typeface="Tahoma"/>
              </a:rPr>
              <a:t>by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default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28494" y="5029200"/>
            <a:ext cx="924560" cy="550545"/>
          </a:xfrm>
          <a:custGeom>
            <a:avLst/>
            <a:gdLst/>
            <a:ahLst/>
            <a:cxnLst/>
            <a:rect l="l" t="t" r="r" b="b"/>
            <a:pathLst>
              <a:path w="924560" h="550545">
                <a:moveTo>
                  <a:pt x="858905" y="38100"/>
                </a:moveTo>
                <a:lnTo>
                  <a:pt x="821463" y="38100"/>
                </a:lnTo>
                <a:lnTo>
                  <a:pt x="0" y="516636"/>
                </a:lnTo>
                <a:lnTo>
                  <a:pt x="19812" y="550164"/>
                </a:lnTo>
                <a:lnTo>
                  <a:pt x="840366" y="71034"/>
                </a:lnTo>
                <a:lnTo>
                  <a:pt x="858905" y="38100"/>
                </a:lnTo>
                <a:close/>
              </a:path>
              <a:path w="924560" h="550545">
                <a:moveTo>
                  <a:pt x="924306" y="0"/>
                </a:moveTo>
                <a:lnTo>
                  <a:pt x="758952" y="0"/>
                </a:lnTo>
                <a:lnTo>
                  <a:pt x="751474" y="1476"/>
                </a:lnTo>
                <a:lnTo>
                  <a:pt x="745426" y="5524"/>
                </a:lnTo>
                <a:lnTo>
                  <a:pt x="741378" y="11572"/>
                </a:lnTo>
                <a:lnTo>
                  <a:pt x="739902" y="19050"/>
                </a:lnTo>
                <a:lnTo>
                  <a:pt x="741378" y="26527"/>
                </a:lnTo>
                <a:lnTo>
                  <a:pt x="745426" y="32575"/>
                </a:lnTo>
                <a:lnTo>
                  <a:pt x="751474" y="36623"/>
                </a:lnTo>
                <a:lnTo>
                  <a:pt x="758952" y="38100"/>
                </a:lnTo>
                <a:lnTo>
                  <a:pt x="821463" y="38100"/>
                </a:lnTo>
                <a:lnTo>
                  <a:pt x="881634" y="3048"/>
                </a:lnTo>
                <a:lnTo>
                  <a:pt x="900684" y="35814"/>
                </a:lnTo>
                <a:lnTo>
                  <a:pt x="900684" y="41724"/>
                </a:lnTo>
                <a:lnTo>
                  <a:pt x="924306" y="0"/>
                </a:lnTo>
                <a:close/>
              </a:path>
              <a:path w="924560" h="550545">
                <a:moveTo>
                  <a:pt x="900684" y="41724"/>
                </a:moveTo>
                <a:lnTo>
                  <a:pt x="900684" y="35814"/>
                </a:lnTo>
                <a:lnTo>
                  <a:pt x="840366" y="71034"/>
                </a:lnTo>
                <a:lnTo>
                  <a:pt x="810006" y="124968"/>
                </a:lnTo>
                <a:lnTo>
                  <a:pt x="807541" y="132123"/>
                </a:lnTo>
                <a:lnTo>
                  <a:pt x="808005" y="139350"/>
                </a:lnTo>
                <a:lnTo>
                  <a:pt x="811184" y="145863"/>
                </a:lnTo>
                <a:lnTo>
                  <a:pt x="816863" y="150876"/>
                </a:lnTo>
                <a:lnTo>
                  <a:pt x="824019" y="153340"/>
                </a:lnTo>
                <a:lnTo>
                  <a:pt x="831246" y="152876"/>
                </a:lnTo>
                <a:lnTo>
                  <a:pt x="837759" y="149697"/>
                </a:lnTo>
                <a:lnTo>
                  <a:pt x="842772" y="144018"/>
                </a:lnTo>
                <a:lnTo>
                  <a:pt x="900684" y="41724"/>
                </a:lnTo>
                <a:close/>
              </a:path>
              <a:path w="924560" h="550545">
                <a:moveTo>
                  <a:pt x="900684" y="35814"/>
                </a:moveTo>
                <a:lnTo>
                  <a:pt x="881634" y="3048"/>
                </a:lnTo>
                <a:lnTo>
                  <a:pt x="821463" y="38100"/>
                </a:lnTo>
                <a:lnTo>
                  <a:pt x="858905" y="38100"/>
                </a:lnTo>
                <a:lnTo>
                  <a:pt x="874776" y="9906"/>
                </a:lnTo>
                <a:lnTo>
                  <a:pt x="891540" y="38100"/>
                </a:lnTo>
                <a:lnTo>
                  <a:pt x="891540" y="41153"/>
                </a:lnTo>
                <a:lnTo>
                  <a:pt x="900684" y="35814"/>
                </a:lnTo>
                <a:close/>
              </a:path>
              <a:path w="924560" h="550545">
                <a:moveTo>
                  <a:pt x="891540" y="41153"/>
                </a:moveTo>
                <a:lnTo>
                  <a:pt x="891540" y="38100"/>
                </a:lnTo>
                <a:lnTo>
                  <a:pt x="858905" y="38100"/>
                </a:lnTo>
                <a:lnTo>
                  <a:pt x="840366" y="71034"/>
                </a:lnTo>
                <a:lnTo>
                  <a:pt x="891540" y="41153"/>
                </a:lnTo>
                <a:close/>
              </a:path>
              <a:path w="924560" h="550545">
                <a:moveTo>
                  <a:pt x="891540" y="38100"/>
                </a:moveTo>
                <a:lnTo>
                  <a:pt x="874776" y="9906"/>
                </a:lnTo>
                <a:lnTo>
                  <a:pt x="858905" y="38100"/>
                </a:lnTo>
                <a:lnTo>
                  <a:pt x="89154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14424" y="2885154"/>
            <a:ext cx="2059305" cy="960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70"/>
              </a:lnSpc>
            </a:pPr>
            <a:r>
              <a:rPr sz="1600" b="1" spc="-5" dirty="0">
                <a:latin typeface="Arial"/>
                <a:cs typeface="Arial"/>
              </a:rPr>
              <a:t>For good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OpenMP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implementations,  </a:t>
            </a:r>
            <a:r>
              <a:rPr sz="1600" b="1" spc="-5" dirty="0">
                <a:latin typeface="Arial"/>
                <a:cs typeface="Arial"/>
              </a:rPr>
              <a:t>reduction </a:t>
            </a:r>
            <a:r>
              <a:rPr sz="1600" b="1" dirty="0">
                <a:latin typeface="Arial"/>
                <a:cs typeface="Arial"/>
              </a:rPr>
              <a:t>is </a:t>
            </a:r>
            <a:r>
              <a:rPr sz="1600" b="1" spc="-5" dirty="0">
                <a:latin typeface="Arial"/>
                <a:cs typeface="Arial"/>
              </a:rPr>
              <a:t>more  scalable </a:t>
            </a:r>
            <a:r>
              <a:rPr sz="1600" b="1" dirty="0">
                <a:latin typeface="Arial"/>
                <a:cs typeface="Arial"/>
              </a:rPr>
              <a:t>than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critical.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62800" y="2819400"/>
            <a:ext cx="2362200" cy="10797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086600" y="2743200"/>
            <a:ext cx="2362200" cy="108013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51130" marR="143510" algn="ctr">
              <a:lnSpc>
                <a:spcPct val="100000"/>
              </a:lnSpc>
              <a:spcBef>
                <a:spcPts val="365"/>
              </a:spcBef>
            </a:pPr>
            <a:r>
              <a:rPr sz="1600" b="1" spc="-5" dirty="0">
                <a:latin typeface="Arial"/>
                <a:cs typeface="Arial"/>
              </a:rPr>
              <a:t>For good OpenMP  </a:t>
            </a:r>
            <a:r>
              <a:rPr sz="1600" b="1" dirty="0">
                <a:latin typeface="Arial"/>
                <a:cs typeface="Arial"/>
              </a:rPr>
              <a:t>implementations,  </a:t>
            </a:r>
            <a:r>
              <a:rPr sz="1600" b="1" spc="-5" dirty="0">
                <a:latin typeface="Arial"/>
                <a:cs typeface="Arial"/>
              </a:rPr>
              <a:t>reduction </a:t>
            </a:r>
            <a:r>
              <a:rPr sz="1600" b="1" dirty="0">
                <a:latin typeface="Arial"/>
                <a:cs typeface="Arial"/>
              </a:rPr>
              <a:t>is </a:t>
            </a:r>
            <a:r>
              <a:rPr sz="1600" b="1" spc="-5" dirty="0">
                <a:latin typeface="Arial"/>
                <a:cs typeface="Arial"/>
              </a:rPr>
              <a:t>more  scalable </a:t>
            </a:r>
            <a:r>
              <a:rPr sz="1600" b="1" dirty="0">
                <a:latin typeface="Arial"/>
                <a:cs typeface="Arial"/>
              </a:rPr>
              <a:t>than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critical.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89118" y="3803903"/>
            <a:ext cx="229235" cy="539750"/>
          </a:xfrm>
          <a:custGeom>
            <a:avLst/>
            <a:gdLst/>
            <a:ahLst/>
            <a:cxnLst/>
            <a:rect l="l" t="t" r="r" b="b"/>
            <a:pathLst>
              <a:path w="229234" h="539750">
                <a:moveTo>
                  <a:pt x="50352" y="430576"/>
                </a:moveTo>
                <a:lnTo>
                  <a:pt x="37433" y="369569"/>
                </a:lnTo>
                <a:lnTo>
                  <a:pt x="34385" y="362795"/>
                </a:lnTo>
                <a:lnTo>
                  <a:pt x="29146" y="357758"/>
                </a:lnTo>
                <a:lnTo>
                  <a:pt x="22324" y="354996"/>
                </a:lnTo>
                <a:lnTo>
                  <a:pt x="14573" y="355091"/>
                </a:lnTo>
                <a:lnTo>
                  <a:pt x="7810" y="358128"/>
                </a:lnTo>
                <a:lnTo>
                  <a:pt x="2762" y="363378"/>
                </a:lnTo>
                <a:lnTo>
                  <a:pt x="0" y="370201"/>
                </a:lnTo>
                <a:lnTo>
                  <a:pt x="95" y="377951"/>
                </a:lnTo>
                <a:lnTo>
                  <a:pt x="28289" y="510777"/>
                </a:lnTo>
                <a:lnTo>
                  <a:pt x="28289" y="497585"/>
                </a:lnTo>
                <a:lnTo>
                  <a:pt x="50352" y="430576"/>
                </a:lnTo>
                <a:close/>
              </a:path>
              <a:path w="229234" h="539750">
                <a:moveTo>
                  <a:pt x="58169" y="467490"/>
                </a:moveTo>
                <a:lnTo>
                  <a:pt x="50352" y="430576"/>
                </a:lnTo>
                <a:lnTo>
                  <a:pt x="28289" y="497585"/>
                </a:lnTo>
                <a:lnTo>
                  <a:pt x="33623" y="499288"/>
                </a:lnTo>
                <a:lnTo>
                  <a:pt x="33623" y="489203"/>
                </a:lnTo>
                <a:lnTo>
                  <a:pt x="58169" y="467490"/>
                </a:lnTo>
                <a:close/>
              </a:path>
              <a:path w="229234" h="539750">
                <a:moveTo>
                  <a:pt x="164020" y="416718"/>
                </a:moveTo>
                <a:lnTo>
                  <a:pt x="163079" y="409515"/>
                </a:lnTo>
                <a:lnTo>
                  <a:pt x="159353" y="403097"/>
                </a:lnTo>
                <a:lnTo>
                  <a:pt x="153364" y="398680"/>
                </a:lnTo>
                <a:lnTo>
                  <a:pt x="146304" y="396906"/>
                </a:lnTo>
                <a:lnTo>
                  <a:pt x="139100" y="397847"/>
                </a:lnTo>
                <a:lnTo>
                  <a:pt x="132683" y="401573"/>
                </a:lnTo>
                <a:lnTo>
                  <a:pt x="86023" y="442850"/>
                </a:lnTo>
                <a:lnTo>
                  <a:pt x="64103" y="509015"/>
                </a:lnTo>
                <a:lnTo>
                  <a:pt x="28289" y="497585"/>
                </a:lnTo>
                <a:lnTo>
                  <a:pt x="28289" y="510777"/>
                </a:lnTo>
                <a:lnTo>
                  <a:pt x="34385" y="539495"/>
                </a:lnTo>
                <a:lnTo>
                  <a:pt x="157829" y="429767"/>
                </a:lnTo>
                <a:lnTo>
                  <a:pt x="162246" y="423779"/>
                </a:lnTo>
                <a:lnTo>
                  <a:pt x="164020" y="416718"/>
                </a:lnTo>
                <a:close/>
              </a:path>
              <a:path w="229234" h="539750">
                <a:moveTo>
                  <a:pt x="64865" y="499109"/>
                </a:moveTo>
                <a:lnTo>
                  <a:pt x="58169" y="467490"/>
                </a:lnTo>
                <a:lnTo>
                  <a:pt x="33623" y="489203"/>
                </a:lnTo>
                <a:lnTo>
                  <a:pt x="64865" y="499109"/>
                </a:lnTo>
                <a:close/>
              </a:path>
              <a:path w="229234" h="539750">
                <a:moveTo>
                  <a:pt x="64865" y="506715"/>
                </a:moveTo>
                <a:lnTo>
                  <a:pt x="64865" y="499109"/>
                </a:lnTo>
                <a:lnTo>
                  <a:pt x="33623" y="489203"/>
                </a:lnTo>
                <a:lnTo>
                  <a:pt x="33623" y="499288"/>
                </a:lnTo>
                <a:lnTo>
                  <a:pt x="64103" y="509015"/>
                </a:lnTo>
                <a:lnTo>
                  <a:pt x="64865" y="506715"/>
                </a:lnTo>
                <a:close/>
              </a:path>
              <a:path w="229234" h="539750">
                <a:moveTo>
                  <a:pt x="228695" y="12191"/>
                </a:moveTo>
                <a:lnTo>
                  <a:pt x="192119" y="0"/>
                </a:lnTo>
                <a:lnTo>
                  <a:pt x="50352" y="430576"/>
                </a:lnTo>
                <a:lnTo>
                  <a:pt x="58169" y="467490"/>
                </a:lnTo>
                <a:lnTo>
                  <a:pt x="86023" y="442850"/>
                </a:lnTo>
                <a:lnTo>
                  <a:pt x="228695" y="12191"/>
                </a:lnTo>
                <a:close/>
              </a:path>
              <a:path w="229234" h="539750">
                <a:moveTo>
                  <a:pt x="86023" y="442850"/>
                </a:moveTo>
                <a:lnTo>
                  <a:pt x="58169" y="467490"/>
                </a:lnTo>
                <a:lnTo>
                  <a:pt x="64865" y="499109"/>
                </a:lnTo>
                <a:lnTo>
                  <a:pt x="64865" y="506715"/>
                </a:lnTo>
                <a:lnTo>
                  <a:pt x="86023" y="442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83445" y="6896100"/>
            <a:ext cx="165353" cy="1775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9693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902" y="676148"/>
            <a:ext cx="60667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9395" algn="l"/>
              </a:tabLst>
            </a:pPr>
            <a:r>
              <a:rPr spc="-5" dirty="0"/>
              <a:t>Runtim</a:t>
            </a:r>
            <a:r>
              <a:rPr dirty="0"/>
              <a:t>e</a:t>
            </a:r>
            <a:r>
              <a:rPr spc="-5" dirty="0"/>
              <a:t> </a:t>
            </a:r>
            <a:r>
              <a:rPr dirty="0"/>
              <a:t>Library	</a:t>
            </a:r>
            <a:r>
              <a:rPr spc="-5" dirty="0"/>
              <a:t>routines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9101" y="1439733"/>
            <a:ext cx="8261984" cy="49879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Runtime environment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routines:</a:t>
            </a:r>
            <a:endParaRPr sz="2400">
              <a:latin typeface="Arial"/>
              <a:cs typeface="Arial"/>
            </a:endParaRPr>
          </a:p>
          <a:p>
            <a:pPr marL="1155700" lvl="1" indent="-228600">
              <a:lnSpc>
                <a:spcPct val="100000"/>
              </a:lnSpc>
              <a:spcBef>
                <a:spcPts val="595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Modify/Check the number of</a:t>
            </a:r>
            <a:r>
              <a:rPr sz="2000" b="1" spc="15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threads</a:t>
            </a:r>
            <a:endParaRPr sz="2000">
              <a:latin typeface="Arial"/>
              <a:cs typeface="Arial"/>
            </a:endParaRPr>
          </a:p>
          <a:p>
            <a:pPr marL="1612900" marR="457834" lvl="2" indent="-228600">
              <a:lnSpc>
                <a:spcPts val="2700"/>
              </a:lnSpc>
              <a:spcBef>
                <a:spcPts val="600"/>
              </a:spcBef>
              <a:buChar char="–"/>
              <a:tabLst>
                <a:tab pos="1612900" algn="l"/>
              </a:tabLst>
            </a:pP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omp_set_num_threads(), omp_get_num_threads(),  omp_get_thread_num(),</a:t>
            </a:r>
            <a:r>
              <a:rPr sz="2400" spc="-3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omp_get_max_threads()</a:t>
            </a:r>
            <a:endParaRPr sz="240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550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Are we in an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active parallel</a:t>
            </a:r>
            <a:r>
              <a:rPr sz="2000" b="1" spc="15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region?</a:t>
            </a:r>
            <a:endParaRPr sz="2000">
              <a:latin typeface="Arial"/>
              <a:cs typeface="Arial"/>
            </a:endParaRPr>
          </a:p>
          <a:p>
            <a:pPr marL="1612900" lvl="2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omp_in_parallel()</a:t>
            </a:r>
            <a:endParaRPr sz="2400">
              <a:latin typeface="Times New Roman"/>
              <a:cs typeface="Times New Roman"/>
            </a:endParaRPr>
          </a:p>
          <a:p>
            <a:pPr marL="1155065" marR="5080" lvl="1" indent="-228600">
              <a:lnSpc>
                <a:spcPts val="2250"/>
              </a:lnSpc>
              <a:spcBef>
                <a:spcPts val="810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Do you want the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system </a:t>
            </a: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to dynamically vary the number of  threads from one parallel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construct </a:t>
            </a: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to</a:t>
            </a:r>
            <a:r>
              <a:rPr sz="2000" b="1" spc="45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another?</a:t>
            </a:r>
            <a:endParaRPr sz="2000">
              <a:latin typeface="Arial"/>
              <a:cs typeface="Arial"/>
            </a:endParaRPr>
          </a:p>
          <a:p>
            <a:pPr marL="1612900" lvl="2" indent="-228600">
              <a:lnSpc>
                <a:spcPct val="100000"/>
              </a:lnSpc>
              <a:spcBef>
                <a:spcPts val="305"/>
              </a:spcBef>
              <a:buChar char="–"/>
              <a:tabLst>
                <a:tab pos="1612900" algn="l"/>
                <a:tab pos="4150360" algn="l"/>
              </a:tabLst>
            </a:pP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omp_set_dynamic,	omp_get_dynamic();</a:t>
            </a:r>
            <a:endParaRPr sz="240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610"/>
              </a:spcBef>
              <a:buClr>
                <a:srgbClr val="F5C300"/>
              </a:buClr>
              <a:buFont typeface="Arial"/>
              <a:buChar char="–"/>
              <a:tabLst>
                <a:tab pos="1155700" algn="l"/>
              </a:tabLst>
            </a:pP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How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many </a:t>
            </a:r>
            <a:r>
              <a:rPr sz="2000" b="1" spc="-5" dirty="0">
                <a:solidFill>
                  <a:srgbClr val="FFFF9A"/>
                </a:solidFill>
                <a:latin typeface="Arial"/>
                <a:cs typeface="Arial"/>
              </a:rPr>
              <a:t>processors in the</a:t>
            </a:r>
            <a:r>
              <a:rPr sz="2000" b="1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9A"/>
                </a:solidFill>
                <a:latin typeface="Arial"/>
                <a:cs typeface="Arial"/>
              </a:rPr>
              <a:t>system?</a:t>
            </a:r>
            <a:endParaRPr sz="2000">
              <a:latin typeface="Arial"/>
              <a:cs typeface="Arial"/>
            </a:endParaRPr>
          </a:p>
          <a:p>
            <a:pPr marL="1612900" lvl="2" indent="-228600">
              <a:lnSpc>
                <a:spcPct val="100000"/>
              </a:lnSpc>
              <a:spcBef>
                <a:spcPts val="360"/>
              </a:spcBef>
              <a:buChar char="–"/>
              <a:tabLst>
                <a:tab pos="1612900" algn="l"/>
              </a:tabLst>
            </a:pP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omp_num_procs()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2185"/>
              </a:spcBef>
            </a:pP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…plus a few less commonly used</a:t>
            </a:r>
            <a:r>
              <a:rPr sz="2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routines.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902" y="676148"/>
            <a:ext cx="60667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9395" algn="l"/>
              </a:tabLst>
            </a:pPr>
            <a:r>
              <a:rPr spc="-5" dirty="0"/>
              <a:t>Runtim</a:t>
            </a:r>
            <a:r>
              <a:rPr dirty="0"/>
              <a:t>e</a:t>
            </a:r>
            <a:r>
              <a:rPr spc="-5" dirty="0"/>
              <a:t> </a:t>
            </a:r>
            <a:r>
              <a:rPr dirty="0"/>
              <a:t>Library	</a:t>
            </a:r>
            <a:r>
              <a:rPr spc="-5" dirty="0"/>
              <a:t>routines</a:t>
            </a:r>
          </a:p>
        </p:txBody>
      </p:sp>
      <p:sp>
        <p:nvSpPr>
          <p:cNvPr id="4" name="object 4"/>
          <p:cNvSpPr/>
          <p:nvPr/>
        </p:nvSpPr>
        <p:spPr>
          <a:xfrm>
            <a:off x="762000" y="2841497"/>
            <a:ext cx="6553200" cy="3750310"/>
          </a:xfrm>
          <a:custGeom>
            <a:avLst/>
            <a:gdLst/>
            <a:ahLst/>
            <a:cxnLst/>
            <a:rect l="l" t="t" r="r" b="b"/>
            <a:pathLst>
              <a:path w="6553200" h="3750309">
                <a:moveTo>
                  <a:pt x="6553200" y="0"/>
                </a:moveTo>
                <a:lnTo>
                  <a:pt x="0" y="0"/>
                </a:lnTo>
                <a:lnTo>
                  <a:pt x="0" y="374904"/>
                </a:lnTo>
                <a:lnTo>
                  <a:pt x="0" y="3254502"/>
                </a:lnTo>
                <a:lnTo>
                  <a:pt x="0" y="3749802"/>
                </a:lnTo>
                <a:lnTo>
                  <a:pt x="6553200" y="3749802"/>
                </a:lnTo>
                <a:lnTo>
                  <a:pt x="6553200" y="3254502"/>
                </a:lnTo>
                <a:lnTo>
                  <a:pt x="6553200" y="374904"/>
                </a:lnTo>
                <a:lnTo>
                  <a:pt x="6553200" y="0"/>
                </a:lnTo>
                <a:close/>
              </a:path>
            </a:pathLst>
          </a:custGeom>
          <a:solidFill>
            <a:srgbClr val="001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1502" y="2869183"/>
            <a:ext cx="20440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#include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&lt;omp.h&gt;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void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main()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502" y="3478783"/>
            <a:ext cx="3023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2434" marR="5080" indent="-420370">
              <a:lnSpc>
                <a:spcPct val="100000"/>
              </a:lnSpc>
              <a:spcBef>
                <a:spcPts val="95"/>
              </a:spcBef>
              <a:tabLst>
                <a:tab pos="307975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	int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num_threads;  </a:t>
            </a:r>
            <a:r>
              <a:rPr sz="2000" spc="-10" dirty="0">
                <a:solidFill>
                  <a:srgbClr val="FFFF9A"/>
                </a:solidFill>
                <a:latin typeface="Arial"/>
                <a:cs typeface="Arial"/>
              </a:rPr>
              <a:t>omp_set_dynamic( </a:t>
            </a:r>
            <a:r>
              <a:rPr sz="2000" spc="-5" dirty="0">
                <a:solidFill>
                  <a:srgbClr val="FFFF9A"/>
                </a:solidFill>
                <a:latin typeface="Arial"/>
                <a:cs typeface="Arial"/>
              </a:rPr>
              <a:t>0</a:t>
            </a:r>
            <a:r>
              <a:rPr sz="2000" spc="-20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9A"/>
                </a:solidFill>
                <a:latin typeface="Arial"/>
                <a:cs typeface="Arial"/>
              </a:rPr>
              <a:t>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375" y="4088382"/>
            <a:ext cx="50565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FFFF9A"/>
                </a:solidFill>
                <a:latin typeface="Arial"/>
                <a:cs typeface="Arial"/>
              </a:rPr>
              <a:t>omp_set_num_threads( omp_num_procs()</a:t>
            </a:r>
            <a:r>
              <a:rPr sz="2000" spc="60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9A"/>
                </a:solidFill>
                <a:latin typeface="Arial"/>
                <a:cs typeface="Arial"/>
              </a:rPr>
              <a:t>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502" y="4393182"/>
            <a:ext cx="414274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#pragma omp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000">
              <a:latin typeface="Arial"/>
              <a:cs typeface="Arial"/>
            </a:endParaRPr>
          </a:p>
          <a:p>
            <a:pPr marL="12700" marR="5080" indent="280035">
              <a:lnSpc>
                <a:spcPct val="100000"/>
              </a:lnSpc>
              <a:tabLst>
                <a:tab pos="727075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	int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id=</a:t>
            </a:r>
            <a:r>
              <a:rPr sz="2000" spc="-10" dirty="0">
                <a:solidFill>
                  <a:srgbClr val="FFFF9A"/>
                </a:solidFill>
                <a:latin typeface="Arial"/>
                <a:cs typeface="Arial"/>
              </a:rPr>
              <a:t>omp_get_thread_num(); 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9616" y="5307581"/>
            <a:ext cx="4853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num_threads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000" spc="-10" dirty="0">
                <a:solidFill>
                  <a:srgbClr val="FFFF9A"/>
                </a:solidFill>
                <a:latin typeface="Arial"/>
                <a:cs typeface="Arial"/>
              </a:rPr>
              <a:t>omp_get_num_threads(); 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do_lots_of_stuff(id);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1290" y="5917181"/>
            <a:ext cx="11048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1527" y="6220458"/>
            <a:ext cx="11048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10200" y="4495800"/>
            <a:ext cx="3962400" cy="702310"/>
          </a:xfrm>
          <a:custGeom>
            <a:avLst/>
            <a:gdLst/>
            <a:ahLst/>
            <a:cxnLst/>
            <a:rect l="l" t="t" r="r" b="b"/>
            <a:pathLst>
              <a:path w="3962400" h="702310">
                <a:moveTo>
                  <a:pt x="3962400" y="701801"/>
                </a:moveTo>
                <a:lnTo>
                  <a:pt x="3962400" y="0"/>
                </a:lnTo>
                <a:lnTo>
                  <a:pt x="0" y="0"/>
                </a:lnTo>
                <a:lnTo>
                  <a:pt x="0" y="701802"/>
                </a:lnTo>
                <a:lnTo>
                  <a:pt x="3962400" y="7018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89702" y="4522723"/>
            <a:ext cx="32962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Protect </a:t>
            </a:r>
            <a:r>
              <a:rPr sz="2000" spc="-5" dirty="0">
                <a:latin typeface="Arial"/>
                <a:cs typeface="Arial"/>
              </a:rPr>
              <a:t>this op </a:t>
            </a:r>
            <a:r>
              <a:rPr sz="2000" spc="-10" dirty="0">
                <a:latin typeface="Arial"/>
                <a:cs typeface="Arial"/>
              </a:rPr>
              <a:t>since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Memory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9702" y="4827523"/>
            <a:ext cx="2392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stores </a:t>
            </a:r>
            <a:r>
              <a:rPr sz="2000" spc="-5" dirty="0">
                <a:latin typeface="Arial"/>
                <a:cs typeface="Arial"/>
              </a:rPr>
              <a:t>are not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atomic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72000" y="3390899"/>
            <a:ext cx="5029200" cy="1880235"/>
          </a:xfrm>
          <a:custGeom>
            <a:avLst/>
            <a:gdLst/>
            <a:ahLst/>
            <a:cxnLst/>
            <a:rect l="l" t="t" r="r" b="b"/>
            <a:pathLst>
              <a:path w="5029200" h="1880235">
                <a:moveTo>
                  <a:pt x="844296" y="1498854"/>
                </a:moveTo>
                <a:lnTo>
                  <a:pt x="832104" y="1472946"/>
                </a:lnTo>
                <a:lnTo>
                  <a:pt x="68465" y="1819668"/>
                </a:lnTo>
                <a:lnTo>
                  <a:pt x="95250" y="1782318"/>
                </a:lnTo>
                <a:lnTo>
                  <a:pt x="99822" y="1776222"/>
                </a:lnTo>
                <a:lnTo>
                  <a:pt x="98298" y="1767078"/>
                </a:lnTo>
                <a:lnTo>
                  <a:pt x="91440" y="1762506"/>
                </a:lnTo>
                <a:lnTo>
                  <a:pt x="85344" y="1757934"/>
                </a:lnTo>
                <a:lnTo>
                  <a:pt x="76200" y="1759458"/>
                </a:lnTo>
                <a:lnTo>
                  <a:pt x="71628" y="1765554"/>
                </a:lnTo>
                <a:lnTo>
                  <a:pt x="0" y="1866900"/>
                </a:lnTo>
                <a:lnTo>
                  <a:pt x="19812" y="1868868"/>
                </a:lnTo>
                <a:lnTo>
                  <a:pt x="131064" y="1879854"/>
                </a:lnTo>
                <a:lnTo>
                  <a:pt x="137922" y="1874520"/>
                </a:lnTo>
                <a:lnTo>
                  <a:pt x="139446" y="1858518"/>
                </a:lnTo>
                <a:lnTo>
                  <a:pt x="134112" y="1851660"/>
                </a:lnTo>
                <a:lnTo>
                  <a:pt x="80606" y="1846313"/>
                </a:lnTo>
                <a:lnTo>
                  <a:pt x="844296" y="1498854"/>
                </a:lnTo>
                <a:close/>
              </a:path>
              <a:path w="5029200" h="1880235">
                <a:moveTo>
                  <a:pt x="5029200" y="0"/>
                </a:moveTo>
                <a:lnTo>
                  <a:pt x="1295400" y="0"/>
                </a:lnTo>
                <a:lnTo>
                  <a:pt x="1295400" y="701802"/>
                </a:lnTo>
                <a:lnTo>
                  <a:pt x="5029200" y="701802"/>
                </a:lnTo>
                <a:lnTo>
                  <a:pt x="5029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46902" y="3417823"/>
            <a:ext cx="3255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Request </a:t>
            </a:r>
            <a:r>
              <a:rPr sz="2000" spc="-5" dirty="0">
                <a:latin typeface="Arial"/>
                <a:cs typeface="Arial"/>
              </a:rPr>
              <a:t>as </a:t>
            </a:r>
            <a:r>
              <a:rPr sz="2000" spc="-10" dirty="0">
                <a:latin typeface="Arial"/>
                <a:cs typeface="Arial"/>
              </a:rPr>
              <a:t>many threads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46902" y="3722623"/>
            <a:ext cx="24364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you </a:t>
            </a:r>
            <a:r>
              <a:rPr sz="2000" spc="-10" dirty="0">
                <a:latin typeface="Arial"/>
                <a:cs typeface="Arial"/>
              </a:rPr>
              <a:t>have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processors.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2000" y="2514599"/>
            <a:ext cx="4876800" cy="1607820"/>
          </a:xfrm>
          <a:custGeom>
            <a:avLst/>
            <a:gdLst/>
            <a:ahLst/>
            <a:cxnLst/>
            <a:rect l="l" t="t" r="r" b="b"/>
            <a:pathLst>
              <a:path w="4876800" h="1607820">
                <a:moveTo>
                  <a:pt x="1299210" y="1271016"/>
                </a:moveTo>
                <a:lnTo>
                  <a:pt x="1291590" y="1243584"/>
                </a:lnTo>
                <a:lnTo>
                  <a:pt x="240207" y="1538579"/>
                </a:lnTo>
                <a:lnTo>
                  <a:pt x="272034" y="1505712"/>
                </a:lnTo>
                <a:lnTo>
                  <a:pt x="277368" y="1499616"/>
                </a:lnTo>
                <a:lnTo>
                  <a:pt x="277368" y="1491234"/>
                </a:lnTo>
                <a:lnTo>
                  <a:pt x="265938" y="1479804"/>
                </a:lnTo>
                <a:lnTo>
                  <a:pt x="256794" y="1479804"/>
                </a:lnTo>
                <a:lnTo>
                  <a:pt x="251460" y="1485900"/>
                </a:lnTo>
                <a:lnTo>
                  <a:pt x="165354" y="1575054"/>
                </a:lnTo>
                <a:lnTo>
                  <a:pt x="188976" y="1581073"/>
                </a:lnTo>
                <a:lnTo>
                  <a:pt x="284988" y="1605534"/>
                </a:lnTo>
                <a:lnTo>
                  <a:pt x="292608" y="1607820"/>
                </a:lnTo>
                <a:lnTo>
                  <a:pt x="300228" y="1603248"/>
                </a:lnTo>
                <a:lnTo>
                  <a:pt x="304800" y="1588008"/>
                </a:lnTo>
                <a:lnTo>
                  <a:pt x="300228" y="1580388"/>
                </a:lnTo>
                <a:lnTo>
                  <a:pt x="292608" y="1578102"/>
                </a:lnTo>
                <a:lnTo>
                  <a:pt x="248323" y="1566608"/>
                </a:lnTo>
                <a:lnTo>
                  <a:pt x="1299210" y="1271016"/>
                </a:lnTo>
                <a:close/>
              </a:path>
              <a:path w="4876800" h="1607820">
                <a:moveTo>
                  <a:pt x="4876800" y="0"/>
                </a:moveTo>
                <a:lnTo>
                  <a:pt x="0" y="0"/>
                </a:lnTo>
                <a:lnTo>
                  <a:pt x="0" y="701802"/>
                </a:lnTo>
                <a:lnTo>
                  <a:pt x="4876800" y="701802"/>
                </a:lnTo>
                <a:lnTo>
                  <a:pt x="4876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70102" y="1432051"/>
            <a:ext cx="7753350" cy="143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 algn="just">
              <a:lnSpc>
                <a:spcPts val="2325"/>
              </a:lnSpc>
              <a:spcBef>
                <a:spcPts val="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To use a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known,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fixed number 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 a</a:t>
            </a:r>
            <a:r>
              <a:rPr sz="20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program,</a:t>
            </a:r>
            <a:endParaRPr sz="2000">
              <a:latin typeface="Arial"/>
              <a:cs typeface="Arial"/>
            </a:endParaRPr>
          </a:p>
          <a:p>
            <a:pPr marL="297815" marR="5080" lvl="1" algn="just">
              <a:lnSpc>
                <a:spcPts val="2250"/>
              </a:lnSpc>
              <a:spcBef>
                <a:spcPts val="125"/>
              </a:spcBef>
              <a:buAutoNum type="arabicParenBoth"/>
              <a:tabLst>
                <a:tab pos="678815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tell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system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that you don’t want dynamic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adjustment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of 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number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threads,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(2) set the number 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threads,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then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(3)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save the number you</a:t>
            </a: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got.</a:t>
            </a:r>
            <a:endParaRPr sz="2000">
              <a:latin typeface="Arial"/>
              <a:cs typeface="Arial"/>
            </a:endParaRPr>
          </a:p>
          <a:p>
            <a:pPr marL="3594100" algn="just">
              <a:lnSpc>
                <a:spcPts val="1935"/>
              </a:lnSpc>
            </a:pPr>
            <a:r>
              <a:rPr sz="2000" spc="-5" dirty="0">
                <a:latin typeface="Arial"/>
                <a:cs typeface="Arial"/>
              </a:rPr>
              <a:t>Disable </a:t>
            </a:r>
            <a:r>
              <a:rPr sz="2000" spc="-10" dirty="0">
                <a:latin typeface="Arial"/>
                <a:cs typeface="Arial"/>
              </a:rPr>
              <a:t>dynamic adjustment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1502" y="2846323"/>
            <a:ext cx="21526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threads.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29000" y="2955798"/>
            <a:ext cx="1153795" cy="778510"/>
          </a:xfrm>
          <a:custGeom>
            <a:avLst/>
            <a:gdLst/>
            <a:ahLst/>
            <a:cxnLst/>
            <a:rect l="l" t="t" r="r" b="b"/>
            <a:pathLst>
              <a:path w="1153795" h="778510">
                <a:moveTo>
                  <a:pt x="108584" y="639032"/>
                </a:moveTo>
                <a:lnTo>
                  <a:pt x="107632" y="631888"/>
                </a:lnTo>
                <a:lnTo>
                  <a:pt x="104108" y="625601"/>
                </a:lnTo>
                <a:lnTo>
                  <a:pt x="98297" y="621029"/>
                </a:lnTo>
                <a:lnTo>
                  <a:pt x="90713" y="619125"/>
                </a:lnTo>
                <a:lnTo>
                  <a:pt x="83343" y="620077"/>
                </a:lnTo>
                <a:lnTo>
                  <a:pt x="76973" y="623601"/>
                </a:lnTo>
                <a:lnTo>
                  <a:pt x="72389" y="629411"/>
                </a:lnTo>
                <a:lnTo>
                  <a:pt x="0" y="778001"/>
                </a:lnTo>
                <a:lnTo>
                  <a:pt x="21335" y="776717"/>
                </a:lnTo>
                <a:lnTo>
                  <a:pt x="21335" y="740663"/>
                </a:lnTo>
                <a:lnTo>
                  <a:pt x="79556" y="701850"/>
                </a:lnTo>
                <a:lnTo>
                  <a:pt x="106679" y="646175"/>
                </a:lnTo>
                <a:lnTo>
                  <a:pt x="108584" y="639032"/>
                </a:lnTo>
                <a:close/>
              </a:path>
              <a:path w="1153795" h="778510">
                <a:moveTo>
                  <a:pt x="79556" y="701850"/>
                </a:moveTo>
                <a:lnTo>
                  <a:pt x="21335" y="740663"/>
                </a:lnTo>
                <a:lnTo>
                  <a:pt x="30479" y="754887"/>
                </a:lnTo>
                <a:lnTo>
                  <a:pt x="30479" y="737615"/>
                </a:lnTo>
                <a:lnTo>
                  <a:pt x="63049" y="735733"/>
                </a:lnTo>
                <a:lnTo>
                  <a:pt x="79556" y="701850"/>
                </a:lnTo>
                <a:close/>
              </a:path>
              <a:path w="1153795" h="778510">
                <a:moveTo>
                  <a:pt x="182879" y="747521"/>
                </a:moveTo>
                <a:lnTo>
                  <a:pt x="180844" y="740497"/>
                </a:lnTo>
                <a:lnTo>
                  <a:pt x="176307" y="734758"/>
                </a:lnTo>
                <a:lnTo>
                  <a:pt x="169914" y="731019"/>
                </a:lnTo>
                <a:lnTo>
                  <a:pt x="162305" y="729995"/>
                </a:lnTo>
                <a:lnTo>
                  <a:pt x="100608" y="733562"/>
                </a:lnTo>
                <a:lnTo>
                  <a:pt x="41909" y="772667"/>
                </a:lnTo>
                <a:lnTo>
                  <a:pt x="21335" y="740663"/>
                </a:lnTo>
                <a:lnTo>
                  <a:pt x="21335" y="776717"/>
                </a:lnTo>
                <a:lnTo>
                  <a:pt x="164591" y="768095"/>
                </a:lnTo>
                <a:lnTo>
                  <a:pt x="172057" y="766060"/>
                </a:lnTo>
                <a:lnTo>
                  <a:pt x="178022" y="761523"/>
                </a:lnTo>
                <a:lnTo>
                  <a:pt x="181844" y="755130"/>
                </a:lnTo>
                <a:lnTo>
                  <a:pt x="182879" y="747521"/>
                </a:lnTo>
                <a:close/>
              </a:path>
              <a:path w="1153795" h="778510">
                <a:moveTo>
                  <a:pt x="63049" y="735733"/>
                </a:moveTo>
                <a:lnTo>
                  <a:pt x="30479" y="737615"/>
                </a:lnTo>
                <a:lnTo>
                  <a:pt x="48767" y="765047"/>
                </a:lnTo>
                <a:lnTo>
                  <a:pt x="63049" y="735733"/>
                </a:lnTo>
                <a:close/>
              </a:path>
              <a:path w="1153795" h="778510">
                <a:moveTo>
                  <a:pt x="100608" y="733562"/>
                </a:moveTo>
                <a:lnTo>
                  <a:pt x="63049" y="735733"/>
                </a:lnTo>
                <a:lnTo>
                  <a:pt x="48767" y="765047"/>
                </a:lnTo>
                <a:lnTo>
                  <a:pt x="30479" y="737615"/>
                </a:lnTo>
                <a:lnTo>
                  <a:pt x="30479" y="754887"/>
                </a:lnTo>
                <a:lnTo>
                  <a:pt x="41909" y="772667"/>
                </a:lnTo>
                <a:lnTo>
                  <a:pt x="100608" y="733562"/>
                </a:lnTo>
                <a:close/>
              </a:path>
              <a:path w="1153795" h="778510">
                <a:moveTo>
                  <a:pt x="1153667" y="32003"/>
                </a:moveTo>
                <a:lnTo>
                  <a:pt x="1132331" y="0"/>
                </a:lnTo>
                <a:lnTo>
                  <a:pt x="79556" y="701850"/>
                </a:lnTo>
                <a:lnTo>
                  <a:pt x="63049" y="735733"/>
                </a:lnTo>
                <a:lnTo>
                  <a:pt x="100608" y="733562"/>
                </a:lnTo>
                <a:lnTo>
                  <a:pt x="1153667" y="320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65198" y="6223128"/>
            <a:ext cx="6579234" cy="9163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ts val="2400"/>
              </a:lnSpc>
              <a:spcBef>
                <a:spcPts val="75"/>
              </a:spcBef>
              <a:tabLst>
                <a:tab pos="3217545" algn="l"/>
              </a:tabLst>
            </a:pPr>
            <a:r>
              <a:rPr sz="2000" b="1" spc="-5" dirty="0">
                <a:latin typeface="Tahoma"/>
                <a:cs typeface="Tahoma"/>
              </a:rPr>
              <a:t>Even in this case, the system may give you fewer  threads</a:t>
            </a:r>
            <a:r>
              <a:rPr sz="2000" b="1" spc="20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than</a:t>
            </a:r>
            <a:r>
              <a:rPr sz="2000" b="1" spc="2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requested.	If the precise # of threads  matters, test for it and respond</a:t>
            </a:r>
            <a:r>
              <a:rPr sz="2000" b="1" spc="6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accordingly.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66900" y="6172200"/>
            <a:ext cx="6781800" cy="1018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90700" y="6096000"/>
            <a:ext cx="6781800" cy="1019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7790" marR="96520">
              <a:lnSpc>
                <a:spcPct val="100000"/>
              </a:lnSpc>
              <a:spcBef>
                <a:spcPts val="400"/>
              </a:spcBef>
              <a:tabLst>
                <a:tab pos="3315970" algn="l"/>
              </a:tabLst>
            </a:pPr>
            <a:r>
              <a:rPr sz="2000" b="1" spc="-5" dirty="0">
                <a:latin typeface="Tahoma"/>
                <a:cs typeface="Tahoma"/>
              </a:rPr>
              <a:t>Even in this case, the system may give you fewer  threads</a:t>
            </a:r>
            <a:r>
              <a:rPr sz="2000" b="1" spc="20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than</a:t>
            </a:r>
            <a:r>
              <a:rPr sz="2000" b="1" spc="2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requested.	If the precise # of threads  matters, test for it and respond</a:t>
            </a:r>
            <a:r>
              <a:rPr sz="2000" b="1" spc="6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accordingly.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77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3096" y="1875840"/>
            <a:ext cx="6619240" cy="47555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Introduction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single masters 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stuff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 your for and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model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 and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9648" y="4702047"/>
            <a:ext cx="469900" cy="317500"/>
            <a:chOff x="739648" y="4702047"/>
            <a:chExt cx="469900" cy="317500"/>
          </a:xfrm>
        </p:grpSpPr>
        <p:sp>
          <p:nvSpPr>
            <p:cNvPr id="5" name="object 5"/>
            <p:cNvSpPr/>
            <p:nvPr/>
          </p:nvSpPr>
          <p:spPr>
            <a:xfrm>
              <a:off x="745998" y="4708397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400"/>
                  </a:moveTo>
                  <a:lnTo>
                    <a:pt x="342900" y="0"/>
                  </a:ln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8" y="4708397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42900" y="0"/>
                  </a:move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37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67773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 threadprivate </a:t>
            </a:r>
            <a:r>
              <a:rPr spc="-5" dirty="0"/>
              <a:t>example</a:t>
            </a:r>
            <a:r>
              <a:rPr spc="-80" dirty="0"/>
              <a:t> </a:t>
            </a:r>
            <a:r>
              <a:rPr dirty="0"/>
              <a:t>(C)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1595" y="2843436"/>
            <a:ext cx="4443730" cy="262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b="1" spc="-5" dirty="0">
                <a:latin typeface="Arial"/>
                <a:cs typeface="Arial"/>
              </a:rPr>
              <a:t>int counter =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latin typeface="Arial"/>
                <a:cs typeface="Arial"/>
              </a:rPr>
              <a:t>#pragma omp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threadprivate(counter)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int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increment_counter()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r>
              <a:rPr sz="2000" b="1" spc="-5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280035" marR="2168525">
              <a:lnSpc>
                <a:spcPct val="110000"/>
              </a:lnSpc>
            </a:pPr>
            <a:r>
              <a:rPr sz="2000" b="1" spc="-10" dirty="0">
                <a:latin typeface="Arial"/>
                <a:cs typeface="Arial"/>
              </a:rPr>
              <a:t>counter++;  return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(counter);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2000" b="1" spc="-5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33955" y="2728722"/>
            <a:ext cx="6273800" cy="2788285"/>
            <a:chOff x="1933955" y="2728722"/>
            <a:chExt cx="6273800" cy="2788285"/>
          </a:xfrm>
        </p:grpSpPr>
        <p:sp>
          <p:nvSpPr>
            <p:cNvPr id="5" name="object 5"/>
            <p:cNvSpPr/>
            <p:nvPr/>
          </p:nvSpPr>
          <p:spPr>
            <a:xfrm>
              <a:off x="2010156" y="2804921"/>
              <a:ext cx="6197600" cy="2712085"/>
            </a:xfrm>
            <a:custGeom>
              <a:avLst/>
              <a:gdLst/>
              <a:ahLst/>
              <a:cxnLst/>
              <a:rect l="l" t="t" r="r" b="b"/>
              <a:pathLst>
                <a:path w="6197600" h="2712085">
                  <a:moveTo>
                    <a:pt x="6197346" y="0"/>
                  </a:moveTo>
                  <a:lnTo>
                    <a:pt x="0" y="0"/>
                  </a:lnTo>
                  <a:lnTo>
                    <a:pt x="0" y="2635758"/>
                  </a:lnTo>
                  <a:lnTo>
                    <a:pt x="0" y="2711958"/>
                  </a:lnTo>
                  <a:lnTo>
                    <a:pt x="6197346" y="2711958"/>
                  </a:lnTo>
                  <a:lnTo>
                    <a:pt x="6197346" y="2635758"/>
                  </a:lnTo>
                  <a:lnTo>
                    <a:pt x="6197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33955" y="2728722"/>
              <a:ext cx="6197600" cy="2712085"/>
            </a:xfrm>
            <a:custGeom>
              <a:avLst/>
              <a:gdLst/>
              <a:ahLst/>
              <a:cxnLst/>
              <a:rect l="l" t="t" r="r" b="b"/>
              <a:pathLst>
                <a:path w="6197600" h="2712085">
                  <a:moveTo>
                    <a:pt x="6197346" y="2711957"/>
                  </a:moveTo>
                  <a:lnTo>
                    <a:pt x="6197346" y="0"/>
                  </a:lnTo>
                  <a:lnTo>
                    <a:pt x="0" y="0"/>
                  </a:lnTo>
                  <a:lnTo>
                    <a:pt x="0" y="2711957"/>
                  </a:lnTo>
                  <a:lnTo>
                    <a:pt x="6197346" y="2711957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7702" y="1624075"/>
            <a:ext cx="7803515" cy="3781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Use threadprivate to create a counter for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each  thread.</a:t>
            </a:r>
            <a:endParaRPr sz="2800">
              <a:latin typeface="Arial"/>
              <a:cs typeface="Arial"/>
            </a:endParaRPr>
          </a:p>
          <a:p>
            <a:pPr marL="1107440">
              <a:lnSpc>
                <a:spcPct val="100000"/>
              </a:lnSpc>
              <a:spcBef>
                <a:spcPts val="1989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int counter =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  <a:p>
            <a:pPr marL="110744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#pragma omp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threadprivate(counter)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Arial"/>
              <a:cs typeface="Arial"/>
            </a:endParaRPr>
          </a:p>
          <a:p>
            <a:pPr marL="110744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int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increment_counter()</a:t>
            </a:r>
            <a:endParaRPr sz="2000">
              <a:latin typeface="Arial"/>
              <a:cs typeface="Arial"/>
            </a:endParaRPr>
          </a:p>
          <a:p>
            <a:pPr marL="1107440">
              <a:lnSpc>
                <a:spcPct val="100000"/>
              </a:lnSpc>
              <a:spcBef>
                <a:spcPts val="23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387475" marR="4420870">
              <a:lnSpc>
                <a:spcPct val="110000"/>
              </a:lnSpc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counter++;  return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(counter);</a:t>
            </a:r>
            <a:endParaRPr sz="2000">
              <a:latin typeface="Arial"/>
              <a:cs typeface="Arial"/>
            </a:endParaRPr>
          </a:p>
          <a:p>
            <a:pPr marL="1107440">
              <a:lnSpc>
                <a:spcPct val="100000"/>
              </a:lnSpc>
              <a:spcBef>
                <a:spcPts val="234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38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9903" y="720343"/>
            <a:ext cx="8048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Exercise 5: Monte Carlo</a:t>
            </a:r>
            <a:r>
              <a:rPr sz="3600" spc="-85" dirty="0"/>
              <a:t> </a:t>
            </a:r>
            <a:r>
              <a:rPr sz="3600" spc="-5" dirty="0"/>
              <a:t>Calculations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902" y="1097991"/>
            <a:ext cx="6811009" cy="150876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135"/>
              </a:spcBef>
            </a:pPr>
            <a:r>
              <a:rPr sz="2000" b="1" spc="-10" dirty="0">
                <a:solidFill>
                  <a:srgbClr val="51DC00"/>
                </a:solidFill>
                <a:latin typeface="Arial"/>
                <a:cs typeface="Arial"/>
              </a:rPr>
              <a:t>Using Random </a:t>
            </a:r>
            <a:r>
              <a:rPr sz="2000" b="1" spc="-5" dirty="0">
                <a:solidFill>
                  <a:srgbClr val="51DC00"/>
                </a:solidFill>
                <a:latin typeface="Arial"/>
                <a:cs typeface="Arial"/>
              </a:rPr>
              <a:t>numbers to solve tough</a:t>
            </a:r>
            <a:r>
              <a:rPr sz="2000" b="1" spc="45" dirty="0">
                <a:solidFill>
                  <a:srgbClr val="51DC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51DC00"/>
                </a:solidFill>
                <a:latin typeface="Arial"/>
                <a:cs typeface="Arial"/>
              </a:rPr>
              <a:t>problems</a:t>
            </a:r>
            <a:endParaRPr sz="2000">
              <a:latin typeface="Arial"/>
              <a:cs typeface="Arial"/>
            </a:endParaRPr>
          </a:p>
          <a:p>
            <a:pPr marL="298450" marR="5080" indent="-285750">
              <a:lnSpc>
                <a:spcPts val="2039"/>
              </a:lnSpc>
              <a:spcBef>
                <a:spcPts val="14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7815" algn="l"/>
                <a:tab pos="298450" algn="l"/>
              </a:tabLst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Sample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 problem domain to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estimate areas, compute  probabilities,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optimal values,</a:t>
            </a:r>
            <a:r>
              <a:rPr sz="2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35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7815" algn="l"/>
                <a:tab pos="29845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Example: Computing π with a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digital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dart</a:t>
            </a:r>
            <a:r>
              <a:rPr sz="20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board: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000" y="2971800"/>
            <a:ext cx="5029200" cy="3886200"/>
          </a:xfrm>
          <a:prstGeom prst="rect">
            <a:avLst/>
          </a:prstGeom>
          <a:solidFill>
            <a:srgbClr val="001362"/>
          </a:solidFill>
        </p:spPr>
        <p:txBody>
          <a:bodyPr vert="horz" wrap="square" lIns="0" tIns="2540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377825" algn="l"/>
                <a:tab pos="378460" algn="l"/>
              </a:tabLst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Throw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darts at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circle/square.</a:t>
            </a:r>
            <a:endParaRPr sz="2000">
              <a:latin typeface="Arial"/>
              <a:cs typeface="Arial"/>
            </a:endParaRPr>
          </a:p>
          <a:p>
            <a:pPr marL="377825" marR="1091565" indent="-285750">
              <a:lnSpc>
                <a:spcPts val="2039"/>
              </a:lnSpc>
              <a:spcBef>
                <a:spcPts val="73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377825" algn="l"/>
                <a:tab pos="378460" algn="l"/>
              </a:tabLst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Chance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falling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 circle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proportional to ratio of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areas:</a:t>
            </a:r>
            <a:endParaRPr sz="2000">
              <a:latin typeface="Arial"/>
              <a:cs typeface="Arial"/>
            </a:endParaRPr>
          </a:p>
          <a:p>
            <a:pPr marL="549275">
              <a:lnSpc>
                <a:spcPct val="100000"/>
              </a:lnSpc>
              <a:spcBef>
                <a:spcPts val="31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baseline="-23148" dirty="0">
                <a:solidFill>
                  <a:srgbClr val="FFFFFF"/>
                </a:solidFill>
                <a:latin typeface="Arial"/>
                <a:cs typeface="Arial"/>
              </a:rPr>
              <a:t>c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 r</a:t>
            </a:r>
            <a:r>
              <a:rPr sz="1800" b="1" baseline="23148" dirty="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*</a:t>
            </a:r>
            <a:r>
              <a:rPr sz="1800" b="1" spc="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π</a:t>
            </a:r>
            <a:endParaRPr sz="1800">
              <a:latin typeface="Arial"/>
              <a:cs typeface="Arial"/>
            </a:endParaRPr>
          </a:p>
          <a:p>
            <a:pPr marL="549275" marR="1991995">
              <a:lnSpc>
                <a:spcPts val="2490"/>
              </a:lnSpc>
              <a:spcBef>
                <a:spcPts val="13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baseline="-23148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(2*r)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*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(2*r)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 4 * r</a:t>
            </a:r>
            <a:r>
              <a:rPr sz="1800" b="1" baseline="23148" dirty="0">
                <a:solidFill>
                  <a:srgbClr val="FFFFFF"/>
                </a:solidFill>
                <a:latin typeface="Arial"/>
                <a:cs typeface="Arial"/>
              </a:rPr>
              <a:t>2 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 =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7" baseline="-23148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/A</a:t>
            </a:r>
            <a:r>
              <a:rPr sz="1800" b="1" spc="-7" baseline="-23148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 π</a:t>
            </a:r>
            <a:r>
              <a:rPr sz="1800" b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/4</a:t>
            </a:r>
            <a:endParaRPr sz="1800">
              <a:latin typeface="Arial"/>
              <a:cs typeface="Arial"/>
            </a:endParaRPr>
          </a:p>
          <a:p>
            <a:pPr marL="377825" marR="193675" indent="-285750">
              <a:lnSpc>
                <a:spcPct val="84900"/>
              </a:lnSpc>
              <a:spcBef>
                <a:spcPts val="59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377825" algn="l"/>
                <a:tab pos="37846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Compute π by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randomly choosing  points, count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fraction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that falls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in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circle, compute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pi.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65250" y="3270250"/>
            <a:ext cx="2070100" cy="2070100"/>
            <a:chOff x="1365250" y="3270250"/>
            <a:chExt cx="2070100" cy="2070100"/>
          </a:xfrm>
        </p:grpSpPr>
        <p:sp>
          <p:nvSpPr>
            <p:cNvPr id="6" name="object 6"/>
            <p:cNvSpPr/>
            <p:nvPr/>
          </p:nvSpPr>
          <p:spPr>
            <a:xfrm>
              <a:off x="1371600" y="32766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2057400" y="2057400"/>
                  </a:moveTo>
                  <a:lnTo>
                    <a:pt x="2057400" y="0"/>
                  </a:lnTo>
                  <a:lnTo>
                    <a:pt x="0" y="0"/>
                  </a:lnTo>
                  <a:lnTo>
                    <a:pt x="0" y="2057400"/>
                  </a:lnTo>
                  <a:lnTo>
                    <a:pt x="2057400" y="2057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1600" y="32766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0"/>
                  </a:moveTo>
                  <a:lnTo>
                    <a:pt x="0" y="2057400"/>
                  </a:lnTo>
                  <a:lnTo>
                    <a:pt x="2057400" y="2057400"/>
                  </a:lnTo>
                  <a:lnTo>
                    <a:pt x="20574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32766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2057400" y="1028700"/>
                  </a:moveTo>
                  <a:lnTo>
                    <a:pt x="2056281" y="980248"/>
                  </a:lnTo>
                  <a:lnTo>
                    <a:pt x="2052957" y="932376"/>
                  </a:lnTo>
                  <a:lnTo>
                    <a:pt x="2047477" y="885133"/>
                  </a:lnTo>
                  <a:lnTo>
                    <a:pt x="2039891" y="838567"/>
                  </a:lnTo>
                  <a:lnTo>
                    <a:pt x="2030247" y="792728"/>
                  </a:lnTo>
                  <a:lnTo>
                    <a:pt x="2018596" y="747666"/>
                  </a:lnTo>
                  <a:lnTo>
                    <a:pt x="2004986" y="703429"/>
                  </a:lnTo>
                  <a:lnTo>
                    <a:pt x="1989467" y="660067"/>
                  </a:lnTo>
                  <a:lnTo>
                    <a:pt x="1972087" y="617629"/>
                  </a:lnTo>
                  <a:lnTo>
                    <a:pt x="1952897" y="576165"/>
                  </a:lnTo>
                  <a:lnTo>
                    <a:pt x="1931945" y="535723"/>
                  </a:lnTo>
                  <a:lnTo>
                    <a:pt x="1909280" y="496353"/>
                  </a:lnTo>
                  <a:lnTo>
                    <a:pt x="1884953" y="458104"/>
                  </a:lnTo>
                  <a:lnTo>
                    <a:pt x="1859011" y="421026"/>
                  </a:lnTo>
                  <a:lnTo>
                    <a:pt x="1831505" y="385167"/>
                  </a:lnTo>
                  <a:lnTo>
                    <a:pt x="1802484" y="350577"/>
                  </a:lnTo>
                  <a:lnTo>
                    <a:pt x="1771997" y="317306"/>
                  </a:lnTo>
                  <a:lnTo>
                    <a:pt x="1740093" y="285402"/>
                  </a:lnTo>
                  <a:lnTo>
                    <a:pt x="1706822" y="254915"/>
                  </a:lnTo>
                  <a:lnTo>
                    <a:pt x="1672232" y="225894"/>
                  </a:lnTo>
                  <a:lnTo>
                    <a:pt x="1636373" y="198388"/>
                  </a:lnTo>
                  <a:lnTo>
                    <a:pt x="1599295" y="172446"/>
                  </a:lnTo>
                  <a:lnTo>
                    <a:pt x="1561046" y="148119"/>
                  </a:lnTo>
                  <a:lnTo>
                    <a:pt x="1521676" y="125454"/>
                  </a:lnTo>
                  <a:lnTo>
                    <a:pt x="1481234" y="104502"/>
                  </a:lnTo>
                  <a:lnTo>
                    <a:pt x="1439770" y="85312"/>
                  </a:lnTo>
                  <a:lnTo>
                    <a:pt x="1397332" y="67932"/>
                  </a:lnTo>
                  <a:lnTo>
                    <a:pt x="1353970" y="52413"/>
                  </a:lnTo>
                  <a:lnTo>
                    <a:pt x="1309733" y="38803"/>
                  </a:lnTo>
                  <a:lnTo>
                    <a:pt x="1264671" y="27152"/>
                  </a:lnTo>
                  <a:lnTo>
                    <a:pt x="1218832" y="17508"/>
                  </a:lnTo>
                  <a:lnTo>
                    <a:pt x="1172266" y="9922"/>
                  </a:lnTo>
                  <a:lnTo>
                    <a:pt x="1125023" y="4442"/>
                  </a:lnTo>
                  <a:lnTo>
                    <a:pt x="1077151" y="1118"/>
                  </a:lnTo>
                  <a:lnTo>
                    <a:pt x="1028700" y="0"/>
                  </a:lnTo>
                  <a:lnTo>
                    <a:pt x="980248" y="1118"/>
                  </a:lnTo>
                  <a:lnTo>
                    <a:pt x="932376" y="4442"/>
                  </a:lnTo>
                  <a:lnTo>
                    <a:pt x="885133" y="9922"/>
                  </a:lnTo>
                  <a:lnTo>
                    <a:pt x="838567" y="17508"/>
                  </a:lnTo>
                  <a:lnTo>
                    <a:pt x="792728" y="27152"/>
                  </a:lnTo>
                  <a:lnTo>
                    <a:pt x="747666" y="38803"/>
                  </a:lnTo>
                  <a:lnTo>
                    <a:pt x="703429" y="52413"/>
                  </a:lnTo>
                  <a:lnTo>
                    <a:pt x="660067" y="67932"/>
                  </a:lnTo>
                  <a:lnTo>
                    <a:pt x="617629" y="85312"/>
                  </a:lnTo>
                  <a:lnTo>
                    <a:pt x="576165" y="104502"/>
                  </a:lnTo>
                  <a:lnTo>
                    <a:pt x="535723" y="125454"/>
                  </a:lnTo>
                  <a:lnTo>
                    <a:pt x="496353" y="148119"/>
                  </a:lnTo>
                  <a:lnTo>
                    <a:pt x="458104" y="172446"/>
                  </a:lnTo>
                  <a:lnTo>
                    <a:pt x="421026" y="198388"/>
                  </a:lnTo>
                  <a:lnTo>
                    <a:pt x="385167" y="225894"/>
                  </a:lnTo>
                  <a:lnTo>
                    <a:pt x="350577" y="254915"/>
                  </a:lnTo>
                  <a:lnTo>
                    <a:pt x="317306" y="285402"/>
                  </a:lnTo>
                  <a:lnTo>
                    <a:pt x="285402" y="317306"/>
                  </a:lnTo>
                  <a:lnTo>
                    <a:pt x="254915" y="350577"/>
                  </a:lnTo>
                  <a:lnTo>
                    <a:pt x="225894" y="385167"/>
                  </a:lnTo>
                  <a:lnTo>
                    <a:pt x="198388" y="421026"/>
                  </a:lnTo>
                  <a:lnTo>
                    <a:pt x="172446" y="458104"/>
                  </a:lnTo>
                  <a:lnTo>
                    <a:pt x="148119" y="496353"/>
                  </a:lnTo>
                  <a:lnTo>
                    <a:pt x="125454" y="535723"/>
                  </a:lnTo>
                  <a:lnTo>
                    <a:pt x="104502" y="576165"/>
                  </a:lnTo>
                  <a:lnTo>
                    <a:pt x="85312" y="617629"/>
                  </a:lnTo>
                  <a:lnTo>
                    <a:pt x="67932" y="660067"/>
                  </a:lnTo>
                  <a:lnTo>
                    <a:pt x="52413" y="703429"/>
                  </a:lnTo>
                  <a:lnTo>
                    <a:pt x="38803" y="747666"/>
                  </a:lnTo>
                  <a:lnTo>
                    <a:pt x="27152" y="792728"/>
                  </a:lnTo>
                  <a:lnTo>
                    <a:pt x="17508" y="838567"/>
                  </a:lnTo>
                  <a:lnTo>
                    <a:pt x="9922" y="885133"/>
                  </a:lnTo>
                  <a:lnTo>
                    <a:pt x="4442" y="932376"/>
                  </a:lnTo>
                  <a:lnTo>
                    <a:pt x="1118" y="980248"/>
                  </a:lnTo>
                  <a:lnTo>
                    <a:pt x="0" y="1028700"/>
                  </a:lnTo>
                  <a:lnTo>
                    <a:pt x="1118" y="1077151"/>
                  </a:lnTo>
                  <a:lnTo>
                    <a:pt x="4442" y="1125023"/>
                  </a:lnTo>
                  <a:lnTo>
                    <a:pt x="9922" y="1172266"/>
                  </a:lnTo>
                  <a:lnTo>
                    <a:pt x="17508" y="1218832"/>
                  </a:lnTo>
                  <a:lnTo>
                    <a:pt x="27152" y="1264671"/>
                  </a:lnTo>
                  <a:lnTo>
                    <a:pt x="38803" y="1309733"/>
                  </a:lnTo>
                  <a:lnTo>
                    <a:pt x="52413" y="1353970"/>
                  </a:lnTo>
                  <a:lnTo>
                    <a:pt x="67932" y="1397332"/>
                  </a:lnTo>
                  <a:lnTo>
                    <a:pt x="85312" y="1439770"/>
                  </a:lnTo>
                  <a:lnTo>
                    <a:pt x="104502" y="1481234"/>
                  </a:lnTo>
                  <a:lnTo>
                    <a:pt x="125454" y="1521676"/>
                  </a:lnTo>
                  <a:lnTo>
                    <a:pt x="148119" y="1561046"/>
                  </a:lnTo>
                  <a:lnTo>
                    <a:pt x="172446" y="1599295"/>
                  </a:lnTo>
                  <a:lnTo>
                    <a:pt x="198388" y="1636373"/>
                  </a:lnTo>
                  <a:lnTo>
                    <a:pt x="225894" y="1672232"/>
                  </a:lnTo>
                  <a:lnTo>
                    <a:pt x="254915" y="1706822"/>
                  </a:lnTo>
                  <a:lnTo>
                    <a:pt x="285402" y="1740093"/>
                  </a:lnTo>
                  <a:lnTo>
                    <a:pt x="317306" y="1771997"/>
                  </a:lnTo>
                  <a:lnTo>
                    <a:pt x="350577" y="1802484"/>
                  </a:lnTo>
                  <a:lnTo>
                    <a:pt x="385167" y="1831505"/>
                  </a:lnTo>
                  <a:lnTo>
                    <a:pt x="421026" y="1859011"/>
                  </a:lnTo>
                  <a:lnTo>
                    <a:pt x="458104" y="1884953"/>
                  </a:lnTo>
                  <a:lnTo>
                    <a:pt x="496353" y="1909280"/>
                  </a:lnTo>
                  <a:lnTo>
                    <a:pt x="535723" y="1931945"/>
                  </a:lnTo>
                  <a:lnTo>
                    <a:pt x="576165" y="1952897"/>
                  </a:lnTo>
                  <a:lnTo>
                    <a:pt x="617629" y="1972087"/>
                  </a:lnTo>
                  <a:lnTo>
                    <a:pt x="660067" y="1989467"/>
                  </a:lnTo>
                  <a:lnTo>
                    <a:pt x="703429" y="2004986"/>
                  </a:lnTo>
                  <a:lnTo>
                    <a:pt x="747666" y="2018596"/>
                  </a:lnTo>
                  <a:lnTo>
                    <a:pt x="792728" y="2030247"/>
                  </a:lnTo>
                  <a:lnTo>
                    <a:pt x="838567" y="2039891"/>
                  </a:lnTo>
                  <a:lnTo>
                    <a:pt x="885133" y="2047477"/>
                  </a:lnTo>
                  <a:lnTo>
                    <a:pt x="932376" y="2052957"/>
                  </a:lnTo>
                  <a:lnTo>
                    <a:pt x="980248" y="2056281"/>
                  </a:lnTo>
                  <a:lnTo>
                    <a:pt x="1028700" y="2057400"/>
                  </a:lnTo>
                  <a:lnTo>
                    <a:pt x="1077151" y="2056281"/>
                  </a:lnTo>
                  <a:lnTo>
                    <a:pt x="1125023" y="2052957"/>
                  </a:lnTo>
                  <a:lnTo>
                    <a:pt x="1172266" y="2047477"/>
                  </a:lnTo>
                  <a:lnTo>
                    <a:pt x="1218832" y="2039891"/>
                  </a:lnTo>
                  <a:lnTo>
                    <a:pt x="1264671" y="2030247"/>
                  </a:lnTo>
                  <a:lnTo>
                    <a:pt x="1309733" y="2018596"/>
                  </a:lnTo>
                  <a:lnTo>
                    <a:pt x="1353970" y="2004986"/>
                  </a:lnTo>
                  <a:lnTo>
                    <a:pt x="1397332" y="1989467"/>
                  </a:lnTo>
                  <a:lnTo>
                    <a:pt x="1439770" y="1972087"/>
                  </a:lnTo>
                  <a:lnTo>
                    <a:pt x="1481234" y="1952897"/>
                  </a:lnTo>
                  <a:lnTo>
                    <a:pt x="1521676" y="1931945"/>
                  </a:lnTo>
                  <a:lnTo>
                    <a:pt x="1561046" y="1909280"/>
                  </a:lnTo>
                  <a:lnTo>
                    <a:pt x="1599295" y="1884953"/>
                  </a:lnTo>
                  <a:lnTo>
                    <a:pt x="1636373" y="1859011"/>
                  </a:lnTo>
                  <a:lnTo>
                    <a:pt x="1672232" y="1831505"/>
                  </a:lnTo>
                  <a:lnTo>
                    <a:pt x="1706822" y="1802484"/>
                  </a:lnTo>
                  <a:lnTo>
                    <a:pt x="1740093" y="1771997"/>
                  </a:lnTo>
                  <a:lnTo>
                    <a:pt x="1771997" y="1740093"/>
                  </a:lnTo>
                  <a:lnTo>
                    <a:pt x="1802484" y="1706822"/>
                  </a:lnTo>
                  <a:lnTo>
                    <a:pt x="1831505" y="1672232"/>
                  </a:lnTo>
                  <a:lnTo>
                    <a:pt x="1859011" y="1636373"/>
                  </a:lnTo>
                  <a:lnTo>
                    <a:pt x="1884953" y="1599295"/>
                  </a:lnTo>
                  <a:lnTo>
                    <a:pt x="1909280" y="1561046"/>
                  </a:lnTo>
                  <a:lnTo>
                    <a:pt x="1931945" y="1521676"/>
                  </a:lnTo>
                  <a:lnTo>
                    <a:pt x="1952897" y="1481234"/>
                  </a:lnTo>
                  <a:lnTo>
                    <a:pt x="1972087" y="1439770"/>
                  </a:lnTo>
                  <a:lnTo>
                    <a:pt x="1989467" y="1397332"/>
                  </a:lnTo>
                  <a:lnTo>
                    <a:pt x="2004986" y="1353970"/>
                  </a:lnTo>
                  <a:lnTo>
                    <a:pt x="2018596" y="1309733"/>
                  </a:lnTo>
                  <a:lnTo>
                    <a:pt x="2030247" y="1264671"/>
                  </a:lnTo>
                  <a:lnTo>
                    <a:pt x="2039891" y="1218832"/>
                  </a:lnTo>
                  <a:lnTo>
                    <a:pt x="2047477" y="1172266"/>
                  </a:lnTo>
                  <a:lnTo>
                    <a:pt x="2052957" y="1125023"/>
                  </a:lnTo>
                  <a:lnTo>
                    <a:pt x="2056281" y="1077151"/>
                  </a:lnTo>
                  <a:lnTo>
                    <a:pt x="2057400" y="1028700"/>
                  </a:lnTo>
                  <a:close/>
                </a:path>
              </a:pathLst>
            </a:custGeom>
            <a:solidFill>
              <a:srgbClr val="002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32766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1028700" y="0"/>
                  </a:moveTo>
                  <a:lnTo>
                    <a:pt x="980248" y="1118"/>
                  </a:lnTo>
                  <a:lnTo>
                    <a:pt x="932376" y="4442"/>
                  </a:lnTo>
                  <a:lnTo>
                    <a:pt x="885133" y="9922"/>
                  </a:lnTo>
                  <a:lnTo>
                    <a:pt x="838567" y="17508"/>
                  </a:lnTo>
                  <a:lnTo>
                    <a:pt x="792728" y="27152"/>
                  </a:lnTo>
                  <a:lnTo>
                    <a:pt x="747666" y="38803"/>
                  </a:lnTo>
                  <a:lnTo>
                    <a:pt x="703429" y="52413"/>
                  </a:lnTo>
                  <a:lnTo>
                    <a:pt x="660067" y="67932"/>
                  </a:lnTo>
                  <a:lnTo>
                    <a:pt x="617629" y="85312"/>
                  </a:lnTo>
                  <a:lnTo>
                    <a:pt x="576165" y="104502"/>
                  </a:lnTo>
                  <a:lnTo>
                    <a:pt x="535723" y="125454"/>
                  </a:lnTo>
                  <a:lnTo>
                    <a:pt x="496353" y="148119"/>
                  </a:lnTo>
                  <a:lnTo>
                    <a:pt x="458104" y="172446"/>
                  </a:lnTo>
                  <a:lnTo>
                    <a:pt x="421026" y="198388"/>
                  </a:lnTo>
                  <a:lnTo>
                    <a:pt x="385167" y="225894"/>
                  </a:lnTo>
                  <a:lnTo>
                    <a:pt x="350577" y="254915"/>
                  </a:lnTo>
                  <a:lnTo>
                    <a:pt x="317306" y="285402"/>
                  </a:lnTo>
                  <a:lnTo>
                    <a:pt x="285402" y="317306"/>
                  </a:lnTo>
                  <a:lnTo>
                    <a:pt x="254915" y="350577"/>
                  </a:lnTo>
                  <a:lnTo>
                    <a:pt x="225894" y="385167"/>
                  </a:lnTo>
                  <a:lnTo>
                    <a:pt x="198388" y="421026"/>
                  </a:lnTo>
                  <a:lnTo>
                    <a:pt x="172446" y="458104"/>
                  </a:lnTo>
                  <a:lnTo>
                    <a:pt x="148119" y="496353"/>
                  </a:lnTo>
                  <a:lnTo>
                    <a:pt x="125454" y="535723"/>
                  </a:lnTo>
                  <a:lnTo>
                    <a:pt x="104502" y="576165"/>
                  </a:lnTo>
                  <a:lnTo>
                    <a:pt x="85312" y="617629"/>
                  </a:lnTo>
                  <a:lnTo>
                    <a:pt x="67932" y="660067"/>
                  </a:lnTo>
                  <a:lnTo>
                    <a:pt x="52413" y="703429"/>
                  </a:lnTo>
                  <a:lnTo>
                    <a:pt x="38803" y="747666"/>
                  </a:lnTo>
                  <a:lnTo>
                    <a:pt x="27152" y="792728"/>
                  </a:lnTo>
                  <a:lnTo>
                    <a:pt x="17508" y="838567"/>
                  </a:lnTo>
                  <a:lnTo>
                    <a:pt x="9922" y="885133"/>
                  </a:lnTo>
                  <a:lnTo>
                    <a:pt x="4442" y="932376"/>
                  </a:lnTo>
                  <a:lnTo>
                    <a:pt x="1118" y="980248"/>
                  </a:lnTo>
                  <a:lnTo>
                    <a:pt x="0" y="1028700"/>
                  </a:lnTo>
                  <a:lnTo>
                    <a:pt x="1118" y="1077151"/>
                  </a:lnTo>
                  <a:lnTo>
                    <a:pt x="4442" y="1125023"/>
                  </a:lnTo>
                  <a:lnTo>
                    <a:pt x="9922" y="1172266"/>
                  </a:lnTo>
                  <a:lnTo>
                    <a:pt x="17508" y="1218832"/>
                  </a:lnTo>
                  <a:lnTo>
                    <a:pt x="27152" y="1264671"/>
                  </a:lnTo>
                  <a:lnTo>
                    <a:pt x="38803" y="1309733"/>
                  </a:lnTo>
                  <a:lnTo>
                    <a:pt x="52413" y="1353970"/>
                  </a:lnTo>
                  <a:lnTo>
                    <a:pt x="67932" y="1397332"/>
                  </a:lnTo>
                  <a:lnTo>
                    <a:pt x="85312" y="1439770"/>
                  </a:lnTo>
                  <a:lnTo>
                    <a:pt x="104502" y="1481234"/>
                  </a:lnTo>
                  <a:lnTo>
                    <a:pt x="125454" y="1521676"/>
                  </a:lnTo>
                  <a:lnTo>
                    <a:pt x="148119" y="1561046"/>
                  </a:lnTo>
                  <a:lnTo>
                    <a:pt x="172446" y="1599295"/>
                  </a:lnTo>
                  <a:lnTo>
                    <a:pt x="198388" y="1636373"/>
                  </a:lnTo>
                  <a:lnTo>
                    <a:pt x="225894" y="1672232"/>
                  </a:lnTo>
                  <a:lnTo>
                    <a:pt x="254915" y="1706822"/>
                  </a:lnTo>
                  <a:lnTo>
                    <a:pt x="285402" y="1740093"/>
                  </a:lnTo>
                  <a:lnTo>
                    <a:pt x="317306" y="1771997"/>
                  </a:lnTo>
                  <a:lnTo>
                    <a:pt x="350577" y="1802484"/>
                  </a:lnTo>
                  <a:lnTo>
                    <a:pt x="385167" y="1831505"/>
                  </a:lnTo>
                  <a:lnTo>
                    <a:pt x="421026" y="1859011"/>
                  </a:lnTo>
                  <a:lnTo>
                    <a:pt x="458104" y="1884953"/>
                  </a:lnTo>
                  <a:lnTo>
                    <a:pt x="496353" y="1909280"/>
                  </a:lnTo>
                  <a:lnTo>
                    <a:pt x="535723" y="1931945"/>
                  </a:lnTo>
                  <a:lnTo>
                    <a:pt x="576165" y="1952897"/>
                  </a:lnTo>
                  <a:lnTo>
                    <a:pt x="617629" y="1972087"/>
                  </a:lnTo>
                  <a:lnTo>
                    <a:pt x="660067" y="1989467"/>
                  </a:lnTo>
                  <a:lnTo>
                    <a:pt x="703429" y="2004986"/>
                  </a:lnTo>
                  <a:lnTo>
                    <a:pt x="747666" y="2018596"/>
                  </a:lnTo>
                  <a:lnTo>
                    <a:pt x="792728" y="2030247"/>
                  </a:lnTo>
                  <a:lnTo>
                    <a:pt x="838567" y="2039891"/>
                  </a:lnTo>
                  <a:lnTo>
                    <a:pt x="885133" y="2047477"/>
                  </a:lnTo>
                  <a:lnTo>
                    <a:pt x="932376" y="2052957"/>
                  </a:lnTo>
                  <a:lnTo>
                    <a:pt x="980248" y="2056281"/>
                  </a:lnTo>
                  <a:lnTo>
                    <a:pt x="1028700" y="2057400"/>
                  </a:lnTo>
                  <a:lnTo>
                    <a:pt x="1077151" y="2056281"/>
                  </a:lnTo>
                  <a:lnTo>
                    <a:pt x="1125023" y="2052957"/>
                  </a:lnTo>
                  <a:lnTo>
                    <a:pt x="1172266" y="2047477"/>
                  </a:lnTo>
                  <a:lnTo>
                    <a:pt x="1218832" y="2039891"/>
                  </a:lnTo>
                  <a:lnTo>
                    <a:pt x="1264671" y="2030247"/>
                  </a:lnTo>
                  <a:lnTo>
                    <a:pt x="1309733" y="2018596"/>
                  </a:lnTo>
                  <a:lnTo>
                    <a:pt x="1353970" y="2004986"/>
                  </a:lnTo>
                  <a:lnTo>
                    <a:pt x="1397332" y="1989467"/>
                  </a:lnTo>
                  <a:lnTo>
                    <a:pt x="1439770" y="1972087"/>
                  </a:lnTo>
                  <a:lnTo>
                    <a:pt x="1481234" y="1952897"/>
                  </a:lnTo>
                  <a:lnTo>
                    <a:pt x="1521676" y="1931945"/>
                  </a:lnTo>
                  <a:lnTo>
                    <a:pt x="1561046" y="1909280"/>
                  </a:lnTo>
                  <a:lnTo>
                    <a:pt x="1599295" y="1884953"/>
                  </a:lnTo>
                  <a:lnTo>
                    <a:pt x="1636373" y="1859011"/>
                  </a:lnTo>
                  <a:lnTo>
                    <a:pt x="1672232" y="1831505"/>
                  </a:lnTo>
                  <a:lnTo>
                    <a:pt x="1706822" y="1802484"/>
                  </a:lnTo>
                  <a:lnTo>
                    <a:pt x="1740093" y="1771997"/>
                  </a:lnTo>
                  <a:lnTo>
                    <a:pt x="1771997" y="1740093"/>
                  </a:lnTo>
                  <a:lnTo>
                    <a:pt x="1802484" y="1706822"/>
                  </a:lnTo>
                  <a:lnTo>
                    <a:pt x="1831505" y="1672232"/>
                  </a:lnTo>
                  <a:lnTo>
                    <a:pt x="1859011" y="1636373"/>
                  </a:lnTo>
                  <a:lnTo>
                    <a:pt x="1884953" y="1599295"/>
                  </a:lnTo>
                  <a:lnTo>
                    <a:pt x="1909280" y="1561046"/>
                  </a:lnTo>
                  <a:lnTo>
                    <a:pt x="1931945" y="1521676"/>
                  </a:lnTo>
                  <a:lnTo>
                    <a:pt x="1952897" y="1481234"/>
                  </a:lnTo>
                  <a:lnTo>
                    <a:pt x="1972087" y="1439770"/>
                  </a:lnTo>
                  <a:lnTo>
                    <a:pt x="1989467" y="1397332"/>
                  </a:lnTo>
                  <a:lnTo>
                    <a:pt x="2004986" y="1353970"/>
                  </a:lnTo>
                  <a:lnTo>
                    <a:pt x="2018596" y="1309733"/>
                  </a:lnTo>
                  <a:lnTo>
                    <a:pt x="2030247" y="1264671"/>
                  </a:lnTo>
                  <a:lnTo>
                    <a:pt x="2039891" y="1218832"/>
                  </a:lnTo>
                  <a:lnTo>
                    <a:pt x="2047477" y="1172266"/>
                  </a:lnTo>
                  <a:lnTo>
                    <a:pt x="2052957" y="1125023"/>
                  </a:lnTo>
                  <a:lnTo>
                    <a:pt x="2056281" y="1077151"/>
                  </a:lnTo>
                  <a:lnTo>
                    <a:pt x="2057400" y="1028700"/>
                  </a:lnTo>
                  <a:lnTo>
                    <a:pt x="2056281" y="980248"/>
                  </a:lnTo>
                  <a:lnTo>
                    <a:pt x="2052957" y="932376"/>
                  </a:lnTo>
                  <a:lnTo>
                    <a:pt x="2047477" y="885133"/>
                  </a:lnTo>
                  <a:lnTo>
                    <a:pt x="2039891" y="838567"/>
                  </a:lnTo>
                  <a:lnTo>
                    <a:pt x="2030247" y="792728"/>
                  </a:lnTo>
                  <a:lnTo>
                    <a:pt x="2018596" y="747666"/>
                  </a:lnTo>
                  <a:lnTo>
                    <a:pt x="2004986" y="703429"/>
                  </a:lnTo>
                  <a:lnTo>
                    <a:pt x="1989467" y="660067"/>
                  </a:lnTo>
                  <a:lnTo>
                    <a:pt x="1972087" y="617629"/>
                  </a:lnTo>
                  <a:lnTo>
                    <a:pt x="1952897" y="576165"/>
                  </a:lnTo>
                  <a:lnTo>
                    <a:pt x="1931945" y="535723"/>
                  </a:lnTo>
                  <a:lnTo>
                    <a:pt x="1909280" y="496353"/>
                  </a:lnTo>
                  <a:lnTo>
                    <a:pt x="1884953" y="458104"/>
                  </a:lnTo>
                  <a:lnTo>
                    <a:pt x="1859011" y="421026"/>
                  </a:lnTo>
                  <a:lnTo>
                    <a:pt x="1831505" y="385167"/>
                  </a:lnTo>
                  <a:lnTo>
                    <a:pt x="1802484" y="350577"/>
                  </a:lnTo>
                  <a:lnTo>
                    <a:pt x="1771997" y="317306"/>
                  </a:lnTo>
                  <a:lnTo>
                    <a:pt x="1740093" y="285402"/>
                  </a:lnTo>
                  <a:lnTo>
                    <a:pt x="1706822" y="254915"/>
                  </a:lnTo>
                  <a:lnTo>
                    <a:pt x="1672232" y="225894"/>
                  </a:lnTo>
                  <a:lnTo>
                    <a:pt x="1636373" y="198388"/>
                  </a:lnTo>
                  <a:lnTo>
                    <a:pt x="1599295" y="172446"/>
                  </a:lnTo>
                  <a:lnTo>
                    <a:pt x="1561046" y="148119"/>
                  </a:lnTo>
                  <a:lnTo>
                    <a:pt x="1521676" y="125454"/>
                  </a:lnTo>
                  <a:lnTo>
                    <a:pt x="1481234" y="104502"/>
                  </a:lnTo>
                  <a:lnTo>
                    <a:pt x="1439770" y="85312"/>
                  </a:lnTo>
                  <a:lnTo>
                    <a:pt x="1397332" y="67932"/>
                  </a:lnTo>
                  <a:lnTo>
                    <a:pt x="1353970" y="52413"/>
                  </a:lnTo>
                  <a:lnTo>
                    <a:pt x="1309733" y="38803"/>
                  </a:lnTo>
                  <a:lnTo>
                    <a:pt x="1264671" y="27152"/>
                  </a:lnTo>
                  <a:lnTo>
                    <a:pt x="1218832" y="17508"/>
                  </a:lnTo>
                  <a:lnTo>
                    <a:pt x="1172266" y="9922"/>
                  </a:lnTo>
                  <a:lnTo>
                    <a:pt x="1125023" y="4442"/>
                  </a:lnTo>
                  <a:lnTo>
                    <a:pt x="1077151" y="1118"/>
                  </a:lnTo>
                  <a:lnTo>
                    <a:pt x="10287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71600" y="4267200"/>
              <a:ext cx="2057400" cy="0"/>
            </a:xfrm>
            <a:custGeom>
              <a:avLst/>
              <a:gdLst/>
              <a:ahLst/>
              <a:cxnLst/>
              <a:rect l="l" t="t" r="r" b="b"/>
              <a:pathLst>
                <a:path w="2057400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62632" y="2922524"/>
            <a:ext cx="503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2 *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55850" y="37274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93850" y="51752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03450" y="49466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0250" y="51752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13050" y="46418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22450" y="44894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41650" y="41084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17650" y="34988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17850" y="36512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79650" y="4108450"/>
            <a:ext cx="889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41297" y="5785518"/>
            <a:ext cx="2363470" cy="1198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  <a:tabLst>
                <a:tab pos="1264285" algn="l"/>
              </a:tabLst>
            </a:pPr>
            <a:r>
              <a:rPr sz="2000" b="1" spc="-5" dirty="0">
                <a:latin typeface="Arial"/>
                <a:cs typeface="Arial"/>
              </a:rPr>
              <a:t>N= 10	π =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2.8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50000"/>
              </a:lnSpc>
              <a:tabLst>
                <a:tab pos="1247140" algn="l"/>
              </a:tabLst>
            </a:pPr>
            <a:r>
              <a:rPr sz="2000" b="1" spc="-5" dirty="0">
                <a:latin typeface="Arial"/>
                <a:cs typeface="Arial"/>
              </a:rPr>
              <a:t>N=100	π = </a:t>
            </a:r>
            <a:r>
              <a:rPr sz="2000" b="1" spc="-10" dirty="0">
                <a:latin typeface="Arial"/>
                <a:cs typeface="Arial"/>
              </a:rPr>
              <a:t>3.16  </a:t>
            </a:r>
            <a:r>
              <a:rPr sz="2000" b="1" spc="-5" dirty="0">
                <a:latin typeface="Arial"/>
                <a:cs typeface="Arial"/>
              </a:rPr>
              <a:t>N= 1000	π =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3.148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60450" y="5632450"/>
            <a:ext cx="2749550" cy="1406525"/>
            <a:chOff x="1060450" y="5632450"/>
            <a:chExt cx="2749550" cy="1406525"/>
          </a:xfrm>
        </p:grpSpPr>
        <p:sp>
          <p:nvSpPr>
            <p:cNvPr id="24" name="object 24"/>
            <p:cNvSpPr/>
            <p:nvPr/>
          </p:nvSpPr>
          <p:spPr>
            <a:xfrm>
              <a:off x="1143000" y="5715000"/>
              <a:ext cx="2667000" cy="13235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66800" y="5638800"/>
              <a:ext cx="2667000" cy="1324610"/>
            </a:xfrm>
            <a:custGeom>
              <a:avLst/>
              <a:gdLst/>
              <a:ahLst/>
              <a:cxnLst/>
              <a:rect l="l" t="t" r="r" b="b"/>
              <a:pathLst>
                <a:path w="2667000" h="1324609">
                  <a:moveTo>
                    <a:pt x="2667000" y="1324355"/>
                  </a:moveTo>
                  <a:lnTo>
                    <a:pt x="2666999" y="0"/>
                  </a:lnTo>
                  <a:lnTo>
                    <a:pt x="0" y="0"/>
                  </a:lnTo>
                  <a:lnTo>
                    <a:pt x="0" y="1324355"/>
                  </a:lnTo>
                  <a:lnTo>
                    <a:pt x="2667000" y="13243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66800" y="5638800"/>
              <a:ext cx="2667000" cy="1323975"/>
            </a:xfrm>
            <a:custGeom>
              <a:avLst/>
              <a:gdLst/>
              <a:ahLst/>
              <a:cxnLst/>
              <a:rect l="l" t="t" r="r" b="b"/>
              <a:pathLst>
                <a:path w="2667000" h="1323975">
                  <a:moveTo>
                    <a:pt x="0" y="0"/>
                  </a:moveTo>
                  <a:lnTo>
                    <a:pt x="0" y="1323594"/>
                  </a:lnTo>
                  <a:lnTo>
                    <a:pt x="2667000" y="1323594"/>
                  </a:lnTo>
                  <a:lnTo>
                    <a:pt x="2666999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13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65097" y="5519877"/>
            <a:ext cx="9779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sz="2000" b="1" spc="-5" dirty="0">
                <a:latin typeface="Arial"/>
                <a:cs typeface="Arial"/>
              </a:rPr>
              <a:t>N= </a:t>
            </a:r>
            <a:r>
              <a:rPr sz="2000" b="1" spc="-10" dirty="0">
                <a:latin typeface="Arial"/>
                <a:cs typeface="Arial"/>
              </a:rPr>
              <a:t>10  </a:t>
            </a:r>
            <a:r>
              <a:rPr sz="2000" b="1" spc="-5" dirty="0">
                <a:latin typeface="Arial"/>
                <a:cs typeface="Arial"/>
              </a:rPr>
              <a:t>N=100  N=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1000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39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12488" y="5519877"/>
            <a:ext cx="1128395" cy="1397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300"/>
              </a:spcBef>
            </a:pPr>
            <a:r>
              <a:rPr sz="2000" b="1" spc="-5" dirty="0">
                <a:latin typeface="Arial"/>
                <a:cs typeface="Arial"/>
              </a:rPr>
              <a:t>π =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2.8</a:t>
            </a:r>
            <a:endParaRPr sz="20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Arial"/>
                <a:cs typeface="Arial"/>
              </a:rPr>
              <a:t>π =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3.16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Arial"/>
                <a:cs typeface="Arial"/>
              </a:rPr>
              <a:t>π =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3.148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61491"/>
            <a:ext cx="666813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Parallel Programmers </a:t>
            </a:r>
            <a:r>
              <a:rPr sz="2800" dirty="0"/>
              <a:t>love </a:t>
            </a:r>
            <a:r>
              <a:rPr sz="2800" spc="-5" dirty="0"/>
              <a:t>Monte</a:t>
            </a:r>
            <a:r>
              <a:rPr sz="2800" spc="-55" dirty="0"/>
              <a:t> </a:t>
            </a:r>
            <a:r>
              <a:rPr sz="2800" spc="-5" dirty="0"/>
              <a:t>Carlo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6950" y="1133359"/>
            <a:ext cx="3507740" cy="175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5C300"/>
                </a:solidFill>
                <a:latin typeface="Arial"/>
                <a:cs typeface="Arial"/>
              </a:rPr>
              <a:t>algorithms</a:t>
            </a:r>
            <a:endParaRPr sz="28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  <a:spcBef>
                <a:spcPts val="1290"/>
              </a:spcBef>
            </a:pPr>
            <a:r>
              <a:rPr sz="1800" b="1" spc="-5" dirty="0">
                <a:solidFill>
                  <a:srgbClr val="FFFF65"/>
                </a:solidFill>
                <a:latin typeface="Arial"/>
                <a:cs typeface="Arial"/>
              </a:rPr>
              <a:t>#include</a:t>
            </a:r>
            <a:r>
              <a:rPr sz="1800" b="1" spc="-1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65"/>
                </a:solidFill>
                <a:latin typeface="Arial"/>
                <a:cs typeface="Arial"/>
              </a:rPr>
              <a:t>“omp.h”</a:t>
            </a:r>
            <a:endParaRPr sz="1800">
              <a:latin typeface="Arial"/>
              <a:cs typeface="Arial"/>
            </a:endParaRPr>
          </a:p>
          <a:p>
            <a:pPr marL="161925" marR="5080">
              <a:lnSpc>
                <a:spcPts val="2280"/>
              </a:lnSpc>
              <a:spcBef>
                <a:spcPts val="9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static long num_trials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10000; 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int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()</a:t>
            </a:r>
            <a:endParaRPr sz="18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279" y="2865366"/>
            <a:ext cx="6993890" cy="37814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210"/>
              </a:spcBef>
              <a:tabLst>
                <a:tab pos="1270000" algn="l"/>
                <a:tab pos="329501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long i;	long Ncirc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0;	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double pi,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x,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y;</a:t>
            </a:r>
            <a:endParaRPr sz="1800">
              <a:latin typeface="Arial"/>
              <a:cs typeface="Arial"/>
            </a:endParaRPr>
          </a:p>
          <a:p>
            <a:pPr marL="201930" marR="5080">
              <a:lnSpc>
                <a:spcPct val="105300"/>
              </a:lnSpc>
              <a:tabLst>
                <a:tab pos="194754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double r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1.0;	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// radius of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circle.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Side of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squrare is 2*r  seed(0,-r, r);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// The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circle and square are centered at the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origin  </a:t>
            </a:r>
            <a:r>
              <a:rPr sz="1800" b="1" spc="-5" dirty="0">
                <a:solidFill>
                  <a:srgbClr val="FFFF65"/>
                </a:solidFill>
                <a:latin typeface="Arial"/>
                <a:cs typeface="Arial"/>
              </a:rPr>
              <a:t>#pragma omp </a:t>
            </a:r>
            <a:r>
              <a:rPr sz="1800" b="1" dirty="0">
                <a:solidFill>
                  <a:srgbClr val="FFFF65"/>
                </a:solidFill>
                <a:latin typeface="Arial"/>
                <a:cs typeface="Arial"/>
              </a:rPr>
              <a:t>parallel for private (x, </a:t>
            </a:r>
            <a:r>
              <a:rPr sz="1800" b="1" spc="-5" dirty="0">
                <a:solidFill>
                  <a:srgbClr val="FFFF65"/>
                </a:solidFill>
                <a:latin typeface="Arial"/>
                <a:cs typeface="Arial"/>
              </a:rPr>
              <a:t>y) reduction</a:t>
            </a:r>
            <a:r>
              <a:rPr sz="1800" b="1" spc="-65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65"/>
                </a:solidFill>
                <a:latin typeface="Arial"/>
                <a:cs typeface="Arial"/>
              </a:rPr>
              <a:t>(+:Ncirc)</a:t>
            </a:r>
            <a:endParaRPr sz="1800">
              <a:latin typeface="Arial"/>
              <a:cs typeface="Arial"/>
            </a:endParaRPr>
          </a:p>
          <a:p>
            <a:pPr marL="201930">
              <a:lnSpc>
                <a:spcPct val="100000"/>
              </a:lnSpc>
              <a:spcBef>
                <a:spcPts val="12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for(i=0;i&lt;num_trials;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i++)</a:t>
            </a:r>
            <a:endParaRPr sz="1800">
              <a:latin typeface="Arial"/>
              <a:cs typeface="Arial"/>
            </a:endParaRPr>
          </a:p>
          <a:p>
            <a:pPr marL="201930">
              <a:lnSpc>
                <a:spcPct val="100000"/>
              </a:lnSpc>
              <a:spcBef>
                <a:spcPts val="114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392430" marR="3114675">
              <a:lnSpc>
                <a:spcPct val="105300"/>
              </a:lnSpc>
              <a:tabLst>
                <a:tab pos="2416810" algn="l"/>
                <a:tab pos="268414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random();	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 =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random(); 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if (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x*x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+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y*y)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&lt;= r*r)	Ncirc++;</a:t>
            </a:r>
            <a:endParaRPr sz="18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14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Arial"/>
              <a:cs typeface="Arial"/>
            </a:endParaRPr>
          </a:p>
          <a:p>
            <a:pPr marL="266065" marR="1727200">
              <a:lnSpc>
                <a:spcPct val="1053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pi =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4.0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* ((double)Ncirc/(double)num_trials);  printf("\n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%d trials,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pi is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%f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\n",num_trials,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pi);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8800" y="1219200"/>
            <a:ext cx="3657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362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631190" marR="290195" indent="-333375">
              <a:lnSpc>
                <a:spcPts val="2020"/>
              </a:lnSpc>
              <a:spcBef>
                <a:spcPts val="405"/>
              </a:spcBef>
            </a:pPr>
            <a:r>
              <a:rPr sz="1800" b="1" spc="-5" dirty="0">
                <a:latin typeface="Arial"/>
                <a:cs typeface="Arial"/>
              </a:rPr>
              <a:t>Embarrassingly </a:t>
            </a:r>
            <a:r>
              <a:rPr sz="1800" b="1" dirty="0">
                <a:latin typeface="Arial"/>
                <a:cs typeface="Arial"/>
              </a:rPr>
              <a:t>parallel: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 </a:t>
            </a:r>
            <a:r>
              <a:rPr sz="1800" b="1" dirty="0">
                <a:latin typeface="Arial"/>
                <a:cs typeface="Arial"/>
              </a:rPr>
              <a:t>parallelism is </a:t>
            </a:r>
            <a:r>
              <a:rPr sz="1800" b="1" spc="-5" dirty="0">
                <a:latin typeface="Arial"/>
                <a:cs typeface="Arial"/>
              </a:rPr>
              <a:t>so easy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its</a:t>
            </a:r>
            <a:endParaRPr sz="1800">
              <a:latin typeface="Arial"/>
              <a:cs typeface="Arial"/>
            </a:endParaRPr>
          </a:p>
          <a:p>
            <a:pPr marL="1189990">
              <a:lnSpc>
                <a:spcPts val="1960"/>
              </a:lnSpc>
            </a:pPr>
            <a:r>
              <a:rPr sz="1800" b="1" spc="-5" dirty="0">
                <a:latin typeface="Arial"/>
                <a:cs typeface="Arial"/>
              </a:rPr>
              <a:t>embarrassing.</a:t>
            </a:r>
            <a:endParaRPr sz="1800">
              <a:latin typeface="Arial"/>
              <a:cs typeface="Arial"/>
            </a:endParaRPr>
          </a:p>
          <a:p>
            <a:pPr marL="1043940" marR="221615" indent="-816610">
              <a:lnSpc>
                <a:spcPts val="2010"/>
              </a:lnSpc>
              <a:spcBef>
                <a:spcPts val="695"/>
              </a:spcBef>
            </a:pPr>
            <a:r>
              <a:rPr sz="1800" b="1" spc="-5" dirty="0">
                <a:latin typeface="Arial"/>
                <a:cs typeface="Arial"/>
              </a:rPr>
              <a:t>Add </a:t>
            </a:r>
            <a:r>
              <a:rPr sz="1800" b="1" dirty="0">
                <a:latin typeface="Arial"/>
                <a:cs typeface="Arial"/>
              </a:rPr>
              <a:t>two lines </a:t>
            </a:r>
            <a:r>
              <a:rPr sz="1800" b="1" spc="-5" dirty="0">
                <a:latin typeface="Arial"/>
                <a:cs typeface="Arial"/>
              </a:rPr>
              <a:t>and you </a:t>
            </a:r>
            <a:r>
              <a:rPr sz="1800" b="1" dirty="0">
                <a:latin typeface="Arial"/>
                <a:cs typeface="Arial"/>
              </a:rPr>
              <a:t>have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  parallel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program.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11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77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3096" y="1875840"/>
            <a:ext cx="6619240" cy="47555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Introduction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single masters 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stuff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 your for and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model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 and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9648" y="5238496"/>
            <a:ext cx="469900" cy="317500"/>
            <a:chOff x="739648" y="5238496"/>
            <a:chExt cx="469900" cy="317500"/>
          </a:xfrm>
        </p:grpSpPr>
        <p:sp>
          <p:nvSpPr>
            <p:cNvPr id="5" name="object 5"/>
            <p:cNvSpPr/>
            <p:nvPr/>
          </p:nvSpPr>
          <p:spPr>
            <a:xfrm>
              <a:off x="745998" y="5244846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400"/>
                  </a:moveTo>
                  <a:lnTo>
                    <a:pt x="342900" y="0"/>
                  </a:ln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8" y="5244846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42900" y="0"/>
                  </a:move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41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65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6950" y="957326"/>
            <a:ext cx="70618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Sections worksharing</a:t>
            </a:r>
            <a:r>
              <a:rPr sz="3600" spc="-85" dirty="0"/>
              <a:t> </a:t>
            </a:r>
            <a:r>
              <a:rPr sz="3600" spc="-5" dirty="0"/>
              <a:t>Construct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835401" y="2578260"/>
            <a:ext cx="2774950" cy="3941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5" dirty="0">
                <a:latin typeface="Arial"/>
                <a:cs typeface="Arial"/>
              </a:rPr>
              <a:t>#pragma omp parallel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Arial"/>
                <a:cs typeface="Arial"/>
              </a:rPr>
              <a:t>#pragma </a:t>
            </a:r>
            <a:r>
              <a:rPr sz="2000" spc="-5" dirty="0">
                <a:latin typeface="Arial"/>
                <a:cs typeface="Arial"/>
              </a:rPr>
              <a:t>omp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sections</a:t>
            </a:r>
            <a:endParaRPr sz="20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210185" marR="118745" algn="r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#pragma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omp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section  </a:t>
            </a:r>
            <a:r>
              <a:rPr sz="2000" spc="-5" dirty="0">
                <a:latin typeface="Arial"/>
                <a:cs typeface="Arial"/>
              </a:rPr>
              <a:t>X_calculation();  </a:t>
            </a:r>
            <a:r>
              <a:rPr sz="2000" spc="-10" dirty="0">
                <a:latin typeface="Arial"/>
                <a:cs typeface="Arial"/>
              </a:rPr>
              <a:t>#pragma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omp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section  </a:t>
            </a:r>
            <a:r>
              <a:rPr sz="2000" spc="-5" dirty="0">
                <a:latin typeface="Arial"/>
                <a:cs typeface="Arial"/>
              </a:rPr>
              <a:t>y_calculation();  </a:t>
            </a:r>
            <a:r>
              <a:rPr sz="2000" spc="-10" dirty="0">
                <a:latin typeface="Arial"/>
                <a:cs typeface="Arial"/>
              </a:rPr>
              <a:t>#pragma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omp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section  </a:t>
            </a:r>
            <a:r>
              <a:rPr sz="2000" spc="-5" dirty="0">
                <a:latin typeface="Arial"/>
                <a:cs typeface="Arial"/>
              </a:rPr>
              <a:t>z_calculation();</a:t>
            </a:r>
            <a:endParaRPr sz="20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67000" y="2438400"/>
            <a:ext cx="5029200" cy="4131310"/>
            <a:chOff x="2667000" y="2438400"/>
            <a:chExt cx="5029200" cy="4131310"/>
          </a:xfrm>
        </p:grpSpPr>
        <p:sp>
          <p:nvSpPr>
            <p:cNvPr id="6" name="object 6"/>
            <p:cNvSpPr/>
            <p:nvPr/>
          </p:nvSpPr>
          <p:spPr>
            <a:xfrm>
              <a:off x="2743200" y="2514599"/>
              <a:ext cx="4953000" cy="4055110"/>
            </a:xfrm>
            <a:custGeom>
              <a:avLst/>
              <a:gdLst/>
              <a:ahLst/>
              <a:cxnLst/>
              <a:rect l="l" t="t" r="r" b="b"/>
              <a:pathLst>
                <a:path w="4953000" h="4055109">
                  <a:moveTo>
                    <a:pt x="4953000" y="0"/>
                  </a:moveTo>
                  <a:lnTo>
                    <a:pt x="0" y="0"/>
                  </a:lnTo>
                  <a:lnTo>
                    <a:pt x="0" y="3978402"/>
                  </a:lnTo>
                  <a:lnTo>
                    <a:pt x="0" y="4054602"/>
                  </a:lnTo>
                  <a:lnTo>
                    <a:pt x="4953000" y="4054602"/>
                  </a:lnTo>
                  <a:lnTo>
                    <a:pt x="4953000" y="3978402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7000" y="2438400"/>
              <a:ext cx="4953000" cy="4055110"/>
            </a:xfrm>
            <a:custGeom>
              <a:avLst/>
              <a:gdLst/>
              <a:ahLst/>
              <a:cxnLst/>
              <a:rect l="l" t="t" r="r" b="b"/>
              <a:pathLst>
                <a:path w="4953000" h="4055110">
                  <a:moveTo>
                    <a:pt x="4953000" y="4054601"/>
                  </a:moveTo>
                  <a:lnTo>
                    <a:pt x="4953000" y="0"/>
                  </a:lnTo>
                  <a:lnTo>
                    <a:pt x="0" y="0"/>
                  </a:lnTo>
                  <a:lnTo>
                    <a:pt x="0" y="4054602"/>
                  </a:lnTo>
                  <a:lnTo>
                    <a:pt x="4953000" y="4054601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70102" y="1527301"/>
            <a:ext cx="7768590" cy="49256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marR="5080" indent="-285750">
              <a:lnSpc>
                <a:spcPts val="3160"/>
              </a:lnSpc>
              <a:spcBef>
                <a:spcPts val="3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i="1" dirty="0">
                <a:solidFill>
                  <a:srgbClr val="FFFFFF"/>
                </a:solidFill>
                <a:latin typeface="Arial"/>
                <a:cs typeface="Arial"/>
              </a:rPr>
              <a:t>Sections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worksharing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construct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gives a  different structured block to each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thread.</a:t>
            </a:r>
            <a:endParaRPr sz="2800">
              <a:latin typeface="Arial"/>
              <a:cs typeface="Arial"/>
            </a:endParaRPr>
          </a:p>
          <a:p>
            <a:pPr marL="1688464">
              <a:lnSpc>
                <a:spcPct val="100000"/>
              </a:lnSpc>
              <a:spcBef>
                <a:spcPts val="79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#pragma omp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2000">
              <a:latin typeface="Arial"/>
              <a:cs typeface="Arial"/>
            </a:endParaRPr>
          </a:p>
          <a:p>
            <a:pPr marL="16891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899285">
              <a:lnSpc>
                <a:spcPct val="100000"/>
              </a:lnSpc>
              <a:spcBef>
                <a:spcPts val="119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000">
              <a:latin typeface="Arial"/>
              <a:cs typeface="Arial"/>
            </a:endParaRPr>
          </a:p>
          <a:p>
            <a:pPr marL="1899285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899285" marR="3423285" algn="r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#pragma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section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X_calculation(); 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#pragma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section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y_calculation(); 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#pragma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omp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section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z_calculation();</a:t>
            </a:r>
            <a:endParaRPr sz="2000">
              <a:latin typeface="Arial"/>
              <a:cs typeface="Arial"/>
            </a:endParaRPr>
          </a:p>
          <a:p>
            <a:pPr marL="1899285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6891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06246" y="6613397"/>
            <a:ext cx="7391400" cy="702310"/>
          </a:xfrm>
          <a:custGeom>
            <a:avLst/>
            <a:gdLst/>
            <a:ahLst/>
            <a:cxnLst/>
            <a:rect l="l" t="t" r="r" b="b"/>
            <a:pathLst>
              <a:path w="7391400" h="702309">
                <a:moveTo>
                  <a:pt x="7391400" y="701801"/>
                </a:moveTo>
                <a:lnTo>
                  <a:pt x="7391400" y="0"/>
                </a:lnTo>
                <a:lnTo>
                  <a:pt x="0" y="0"/>
                </a:lnTo>
                <a:lnTo>
                  <a:pt x="0" y="701801"/>
                </a:lnTo>
                <a:lnTo>
                  <a:pt x="7391400" y="701801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85747" y="6641083"/>
            <a:ext cx="69583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77950" algn="l"/>
              </a:tabLst>
            </a:pPr>
            <a:r>
              <a:rPr sz="2000" b="1" spc="-5" dirty="0">
                <a:latin typeface="Arial"/>
                <a:cs typeface="Arial"/>
              </a:rPr>
              <a:t>By </a:t>
            </a:r>
            <a:r>
              <a:rPr sz="2000" b="1" spc="-10" dirty="0">
                <a:latin typeface="Arial"/>
                <a:cs typeface="Arial"/>
              </a:rPr>
              <a:t>default, </a:t>
            </a:r>
            <a:r>
              <a:rPr sz="2000" b="1" spc="-5" dirty="0">
                <a:latin typeface="Arial"/>
                <a:cs typeface="Arial"/>
              </a:rPr>
              <a:t>there is a barrier at the end of the </a:t>
            </a:r>
            <a:r>
              <a:rPr sz="2000" b="1" spc="-10" dirty="0">
                <a:latin typeface="Arial"/>
                <a:cs typeface="Arial"/>
              </a:rPr>
              <a:t>“omp  sections”.	</a:t>
            </a:r>
            <a:r>
              <a:rPr sz="2000" b="1" spc="-5" dirty="0">
                <a:latin typeface="Arial"/>
                <a:cs typeface="Arial"/>
              </a:rPr>
              <a:t>Use the </a:t>
            </a:r>
            <a:r>
              <a:rPr sz="2000" b="1" spc="-10" dirty="0">
                <a:latin typeface="Arial"/>
                <a:cs typeface="Arial"/>
              </a:rPr>
              <a:t>“nowait” clause </a:t>
            </a:r>
            <a:r>
              <a:rPr sz="2000" b="1" spc="-5" dirty="0">
                <a:latin typeface="Arial"/>
                <a:cs typeface="Arial"/>
              </a:rPr>
              <a:t>to turn off the</a:t>
            </a:r>
            <a:r>
              <a:rPr sz="2000" b="1" spc="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barrier.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39827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Exercise </a:t>
            </a:r>
            <a:r>
              <a:rPr spc="-5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74595"/>
            <a:ext cx="8215630" cy="17716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98450" marR="5080" indent="-285750">
              <a:lnSpc>
                <a:spcPts val="3130"/>
              </a:lnSpc>
              <a:spcBef>
                <a:spcPts val="3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Parallelize the matrix multiplication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program in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file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matmul.c</a:t>
            </a:r>
            <a:endParaRPr sz="2800">
              <a:latin typeface="Arial"/>
              <a:cs typeface="Arial"/>
            </a:endParaRPr>
          </a:p>
          <a:p>
            <a:pPr marL="298450" marR="116839" indent="-285750">
              <a:lnSpc>
                <a:spcPts val="3130"/>
              </a:lnSpc>
              <a:spcBef>
                <a:spcPts val="100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Can you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optimize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program by playing with  how the loops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scheduled?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1254" y="6985254"/>
            <a:ext cx="139446" cy="164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43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1042" y="6885685"/>
            <a:ext cx="321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144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6950" y="717295"/>
            <a:ext cx="49682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1000" algn="l"/>
              </a:tabLst>
            </a:pPr>
            <a:r>
              <a:rPr dirty="0"/>
              <a:t>Matrix	multiplication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9150" y="1872995"/>
            <a:ext cx="8159750" cy="3664585"/>
          </a:xfrm>
          <a:prstGeom prst="rect">
            <a:avLst/>
          </a:prstGeom>
          <a:solidFill>
            <a:srgbClr val="001E7E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190"/>
              </a:lnSpc>
            </a:pP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#pragma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omp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parallel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for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private(tmp,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i, j,</a:t>
            </a:r>
            <a:r>
              <a:rPr sz="2000" b="1" spc="2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k)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for (i=0;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i&lt;Ndim; i++){</a:t>
            </a:r>
            <a:endParaRPr sz="20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for (j=0;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j&lt;Mdim; j++){</a:t>
            </a:r>
            <a:endParaRPr sz="2000">
              <a:latin typeface="Arial"/>
              <a:cs typeface="Arial"/>
            </a:endParaRPr>
          </a:p>
          <a:p>
            <a:pPr marL="1920875" marR="3680460">
              <a:lnSpc>
                <a:spcPct val="103000"/>
              </a:lnSpc>
              <a:spcBef>
                <a:spcPts val="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tmp =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0.0;  for(k=0;k&lt;Pdim;k++){</a:t>
            </a:r>
            <a:endParaRPr sz="2000">
              <a:latin typeface="Arial"/>
              <a:cs typeface="Arial"/>
            </a:endParaRPr>
          </a:p>
          <a:p>
            <a:pPr marL="2835275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/* C(i,j) =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sum(over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k) A(i,k) * B(k,j)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*/</a:t>
            </a:r>
            <a:endParaRPr sz="2000">
              <a:latin typeface="Arial"/>
              <a:cs typeface="Arial"/>
            </a:endParaRPr>
          </a:p>
          <a:p>
            <a:pPr marL="2835275">
              <a:lnSpc>
                <a:spcPct val="100000"/>
              </a:lnSpc>
              <a:spcBef>
                <a:spcPts val="75"/>
              </a:spcBef>
              <a:tabLst>
                <a:tab pos="5902325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tmp +=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*(A+(i*Ndim+k))</a:t>
            </a: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*	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*(B+(k*Pdim+j));</a:t>
            </a:r>
            <a:endParaRPr sz="2000">
              <a:latin typeface="Arial"/>
              <a:cs typeface="Arial"/>
            </a:endParaRPr>
          </a:p>
          <a:p>
            <a:pPr marL="1920875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920875">
              <a:lnSpc>
                <a:spcPct val="100000"/>
              </a:lnSpc>
              <a:spcBef>
                <a:spcPts val="7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*(C+(i*Ndim+j))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tmp;</a:t>
            </a:r>
            <a:endParaRPr sz="20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05900" y="6832854"/>
            <a:ext cx="203453" cy="19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5748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77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3096" y="1875840"/>
            <a:ext cx="6619240" cy="47555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Introduction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Synchronize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single masters and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stuff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Schedule your for and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Memory model</a:t>
            </a:r>
            <a:endParaRPr sz="2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OpenMP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 and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9648" y="5774944"/>
            <a:ext cx="469900" cy="317500"/>
            <a:chOff x="739648" y="5774944"/>
            <a:chExt cx="469900" cy="317500"/>
          </a:xfrm>
        </p:grpSpPr>
        <p:sp>
          <p:nvSpPr>
            <p:cNvPr id="5" name="object 5"/>
            <p:cNvSpPr/>
            <p:nvPr/>
          </p:nvSpPr>
          <p:spPr>
            <a:xfrm>
              <a:off x="745998" y="5781294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400"/>
                  </a:moveTo>
                  <a:lnTo>
                    <a:pt x="342900" y="0"/>
                  </a:ln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8" y="5781294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42900" y="0"/>
                  </a:moveTo>
                  <a:lnTo>
                    <a:pt x="3429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304800"/>
                  </a:lnTo>
                  <a:lnTo>
                    <a:pt x="457200" y="152400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45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71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41450" y="2457195"/>
            <a:ext cx="7074534" cy="2984500"/>
            <a:chOff x="1441450" y="2457195"/>
            <a:chExt cx="7074534" cy="2984500"/>
          </a:xfrm>
        </p:grpSpPr>
        <p:sp>
          <p:nvSpPr>
            <p:cNvPr id="4" name="object 4"/>
            <p:cNvSpPr/>
            <p:nvPr/>
          </p:nvSpPr>
          <p:spPr>
            <a:xfrm>
              <a:off x="1447800" y="2463545"/>
              <a:ext cx="7061834" cy="2971800"/>
            </a:xfrm>
            <a:custGeom>
              <a:avLst/>
              <a:gdLst/>
              <a:ahLst/>
              <a:cxnLst/>
              <a:rect l="l" t="t" r="r" b="b"/>
              <a:pathLst>
                <a:path w="7061834" h="2971800">
                  <a:moveTo>
                    <a:pt x="7061454" y="2971800"/>
                  </a:moveTo>
                  <a:lnTo>
                    <a:pt x="7061454" y="0"/>
                  </a:lnTo>
                  <a:lnTo>
                    <a:pt x="0" y="0"/>
                  </a:lnTo>
                  <a:lnTo>
                    <a:pt x="0" y="2971800"/>
                  </a:lnTo>
                  <a:lnTo>
                    <a:pt x="7061454" y="2971800"/>
                  </a:lnTo>
                  <a:close/>
                </a:path>
              </a:pathLst>
            </a:custGeom>
            <a:solidFill>
              <a:srgbClr val="000C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7800" y="2463545"/>
              <a:ext cx="7061834" cy="2971800"/>
            </a:xfrm>
            <a:custGeom>
              <a:avLst/>
              <a:gdLst/>
              <a:ahLst/>
              <a:cxnLst/>
              <a:rect l="l" t="t" r="r" b="b"/>
              <a:pathLst>
                <a:path w="7061834" h="2971800">
                  <a:moveTo>
                    <a:pt x="0" y="0"/>
                  </a:moveTo>
                  <a:lnTo>
                    <a:pt x="0" y="2971800"/>
                  </a:lnTo>
                  <a:lnTo>
                    <a:pt x="7061454" y="2971800"/>
                  </a:lnTo>
                  <a:lnTo>
                    <a:pt x="7061454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9924" y="4283201"/>
              <a:ext cx="1030605" cy="557530"/>
            </a:xfrm>
            <a:custGeom>
              <a:avLst/>
              <a:gdLst/>
              <a:ahLst/>
              <a:cxnLst/>
              <a:rect l="l" t="t" r="r" b="b"/>
              <a:pathLst>
                <a:path w="1030604" h="557529">
                  <a:moveTo>
                    <a:pt x="1030223" y="557022"/>
                  </a:moveTo>
                  <a:lnTo>
                    <a:pt x="1030223" y="0"/>
                  </a:lnTo>
                  <a:lnTo>
                    <a:pt x="0" y="0"/>
                  </a:lnTo>
                  <a:lnTo>
                    <a:pt x="0" y="557022"/>
                  </a:lnTo>
                  <a:lnTo>
                    <a:pt x="1030223" y="557022"/>
                  </a:lnTo>
                  <a:close/>
                </a:path>
              </a:pathLst>
            </a:custGeom>
            <a:solidFill>
              <a:srgbClr val="369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9924" y="4283201"/>
              <a:ext cx="1030605" cy="557530"/>
            </a:xfrm>
            <a:custGeom>
              <a:avLst/>
              <a:gdLst/>
              <a:ahLst/>
              <a:cxnLst/>
              <a:rect l="l" t="t" r="r" b="b"/>
              <a:pathLst>
                <a:path w="1030604" h="557529">
                  <a:moveTo>
                    <a:pt x="0" y="0"/>
                  </a:moveTo>
                  <a:lnTo>
                    <a:pt x="0" y="557022"/>
                  </a:lnTo>
                  <a:lnTo>
                    <a:pt x="1030223" y="557022"/>
                  </a:lnTo>
                  <a:lnTo>
                    <a:pt x="1030223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3048" y="4283201"/>
              <a:ext cx="1030605" cy="557530"/>
            </a:xfrm>
            <a:custGeom>
              <a:avLst/>
              <a:gdLst/>
              <a:ahLst/>
              <a:cxnLst/>
              <a:rect l="l" t="t" r="r" b="b"/>
              <a:pathLst>
                <a:path w="1030604" h="557529">
                  <a:moveTo>
                    <a:pt x="1030224" y="557022"/>
                  </a:moveTo>
                  <a:lnTo>
                    <a:pt x="1030224" y="0"/>
                  </a:lnTo>
                  <a:lnTo>
                    <a:pt x="0" y="0"/>
                  </a:lnTo>
                  <a:lnTo>
                    <a:pt x="0" y="557022"/>
                  </a:lnTo>
                  <a:lnTo>
                    <a:pt x="1030224" y="557022"/>
                  </a:lnTo>
                  <a:close/>
                </a:path>
              </a:pathLst>
            </a:custGeom>
            <a:solidFill>
              <a:srgbClr val="369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13048" y="4283201"/>
              <a:ext cx="1030605" cy="557530"/>
            </a:xfrm>
            <a:custGeom>
              <a:avLst/>
              <a:gdLst/>
              <a:ahLst/>
              <a:cxnLst/>
              <a:rect l="l" t="t" r="r" b="b"/>
              <a:pathLst>
                <a:path w="1030604" h="557529">
                  <a:moveTo>
                    <a:pt x="0" y="0"/>
                  </a:moveTo>
                  <a:lnTo>
                    <a:pt x="0" y="557022"/>
                  </a:lnTo>
                  <a:lnTo>
                    <a:pt x="1030224" y="557022"/>
                  </a:lnTo>
                  <a:lnTo>
                    <a:pt x="1030224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86171" y="4283201"/>
              <a:ext cx="1028700" cy="557530"/>
            </a:xfrm>
            <a:custGeom>
              <a:avLst/>
              <a:gdLst/>
              <a:ahLst/>
              <a:cxnLst/>
              <a:rect l="l" t="t" r="r" b="b"/>
              <a:pathLst>
                <a:path w="1028700" h="557529">
                  <a:moveTo>
                    <a:pt x="1028700" y="557022"/>
                  </a:moveTo>
                  <a:lnTo>
                    <a:pt x="1028700" y="0"/>
                  </a:lnTo>
                  <a:lnTo>
                    <a:pt x="0" y="0"/>
                  </a:lnTo>
                  <a:lnTo>
                    <a:pt x="0" y="557022"/>
                  </a:lnTo>
                  <a:lnTo>
                    <a:pt x="1028700" y="557022"/>
                  </a:lnTo>
                  <a:close/>
                </a:path>
              </a:pathLst>
            </a:custGeom>
            <a:solidFill>
              <a:srgbClr val="369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6171" y="4283201"/>
              <a:ext cx="1028700" cy="557530"/>
            </a:xfrm>
            <a:custGeom>
              <a:avLst/>
              <a:gdLst/>
              <a:ahLst/>
              <a:cxnLst/>
              <a:rect l="l" t="t" r="r" b="b"/>
              <a:pathLst>
                <a:path w="1028700" h="557529">
                  <a:moveTo>
                    <a:pt x="0" y="0"/>
                  </a:moveTo>
                  <a:lnTo>
                    <a:pt x="0" y="557022"/>
                  </a:lnTo>
                  <a:lnTo>
                    <a:pt x="1028700" y="557022"/>
                  </a:lnTo>
                  <a:lnTo>
                    <a:pt x="1028700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5096" y="4283201"/>
              <a:ext cx="1030605" cy="557530"/>
            </a:xfrm>
            <a:custGeom>
              <a:avLst/>
              <a:gdLst/>
              <a:ahLst/>
              <a:cxnLst/>
              <a:rect l="l" t="t" r="r" b="b"/>
              <a:pathLst>
                <a:path w="1030604" h="557529">
                  <a:moveTo>
                    <a:pt x="1030224" y="557022"/>
                  </a:moveTo>
                  <a:lnTo>
                    <a:pt x="1030224" y="0"/>
                  </a:lnTo>
                  <a:lnTo>
                    <a:pt x="0" y="0"/>
                  </a:lnTo>
                  <a:lnTo>
                    <a:pt x="0" y="557022"/>
                  </a:lnTo>
                  <a:lnTo>
                    <a:pt x="1030224" y="557022"/>
                  </a:lnTo>
                  <a:close/>
                </a:path>
              </a:pathLst>
            </a:custGeom>
            <a:solidFill>
              <a:srgbClr val="369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45096" y="4283201"/>
              <a:ext cx="1030605" cy="557530"/>
            </a:xfrm>
            <a:custGeom>
              <a:avLst/>
              <a:gdLst/>
              <a:ahLst/>
              <a:cxnLst/>
              <a:rect l="l" t="t" r="r" b="b"/>
              <a:pathLst>
                <a:path w="1030604" h="557529">
                  <a:moveTo>
                    <a:pt x="0" y="0"/>
                  </a:moveTo>
                  <a:lnTo>
                    <a:pt x="0" y="557022"/>
                  </a:lnTo>
                  <a:lnTo>
                    <a:pt x="1030224" y="557022"/>
                  </a:lnTo>
                  <a:lnTo>
                    <a:pt x="1030224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39924" y="2565653"/>
              <a:ext cx="5904230" cy="909319"/>
            </a:xfrm>
            <a:custGeom>
              <a:avLst/>
              <a:gdLst/>
              <a:ahLst/>
              <a:cxnLst/>
              <a:rect l="l" t="t" r="r" b="b"/>
              <a:pathLst>
                <a:path w="5904230" h="909320">
                  <a:moveTo>
                    <a:pt x="5903976" y="909065"/>
                  </a:moveTo>
                  <a:lnTo>
                    <a:pt x="5903976" y="0"/>
                  </a:lnTo>
                  <a:lnTo>
                    <a:pt x="0" y="0"/>
                  </a:lnTo>
                  <a:lnTo>
                    <a:pt x="0" y="909066"/>
                  </a:lnTo>
                  <a:lnTo>
                    <a:pt x="5903976" y="909065"/>
                  </a:lnTo>
                  <a:close/>
                </a:path>
              </a:pathLst>
            </a:custGeom>
            <a:solidFill>
              <a:srgbClr val="9E00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9924" y="2565653"/>
              <a:ext cx="5904230" cy="909319"/>
            </a:xfrm>
            <a:custGeom>
              <a:avLst/>
              <a:gdLst/>
              <a:ahLst/>
              <a:cxnLst/>
              <a:rect l="l" t="t" r="r" b="b"/>
              <a:pathLst>
                <a:path w="5904230" h="909320">
                  <a:moveTo>
                    <a:pt x="0" y="0"/>
                  </a:moveTo>
                  <a:lnTo>
                    <a:pt x="0" y="909066"/>
                  </a:lnTo>
                  <a:lnTo>
                    <a:pt x="5903976" y="909065"/>
                  </a:lnTo>
                  <a:lnTo>
                    <a:pt x="5903976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58413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OpenMP </a:t>
            </a:r>
            <a:r>
              <a:rPr spc="-5" dirty="0"/>
              <a:t>memory</a:t>
            </a:r>
            <a:r>
              <a:rPr spc="-80" dirty="0"/>
              <a:t> </a:t>
            </a:r>
            <a:r>
              <a:rPr spc="-5" dirty="0"/>
              <a:t>model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267200" y="2783077"/>
            <a:ext cx="22599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Shared</a:t>
            </a:r>
            <a:r>
              <a:rPr sz="28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memory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03741" y="3469957"/>
            <a:ext cx="5364480" cy="818515"/>
            <a:chOff x="2503741" y="3469957"/>
            <a:chExt cx="5364480" cy="818515"/>
          </a:xfrm>
        </p:grpSpPr>
        <p:sp>
          <p:nvSpPr>
            <p:cNvPr id="19" name="object 19"/>
            <p:cNvSpPr/>
            <p:nvPr/>
          </p:nvSpPr>
          <p:spPr>
            <a:xfrm>
              <a:off x="4293870" y="3474720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h="253364">
                  <a:moveTo>
                    <a:pt x="0" y="0"/>
                  </a:moveTo>
                  <a:lnTo>
                    <a:pt x="0" y="252984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65470" y="3474720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h="253364">
                  <a:moveTo>
                    <a:pt x="0" y="0"/>
                  </a:moveTo>
                  <a:lnTo>
                    <a:pt x="0" y="252984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63077" y="3474720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h="253364">
                  <a:moveTo>
                    <a:pt x="0" y="0"/>
                  </a:moveTo>
                  <a:lnTo>
                    <a:pt x="0" y="252984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89326" y="3474720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h="253364">
                  <a:moveTo>
                    <a:pt x="0" y="0"/>
                  </a:moveTo>
                  <a:lnTo>
                    <a:pt x="0" y="252984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89326" y="4081272"/>
              <a:ext cx="4874260" cy="201930"/>
            </a:xfrm>
            <a:custGeom>
              <a:avLst/>
              <a:gdLst/>
              <a:ahLst/>
              <a:cxnLst/>
              <a:rect l="l" t="t" r="r" b="b"/>
              <a:pathLst>
                <a:path w="4874259" h="201929">
                  <a:moveTo>
                    <a:pt x="0" y="0"/>
                  </a:moveTo>
                  <a:lnTo>
                    <a:pt x="0" y="201930"/>
                  </a:lnTo>
                </a:path>
                <a:path w="4874259" h="201929">
                  <a:moveTo>
                    <a:pt x="1304544" y="0"/>
                  </a:moveTo>
                  <a:lnTo>
                    <a:pt x="1304544" y="201930"/>
                  </a:lnTo>
                </a:path>
                <a:path w="4874259" h="201929">
                  <a:moveTo>
                    <a:pt x="2676144" y="0"/>
                  </a:moveTo>
                  <a:lnTo>
                    <a:pt x="2676144" y="201930"/>
                  </a:lnTo>
                </a:path>
                <a:path w="4874259" h="201929">
                  <a:moveTo>
                    <a:pt x="4873752" y="0"/>
                  </a:moveTo>
                  <a:lnTo>
                    <a:pt x="4873752" y="20193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08504" y="3727704"/>
              <a:ext cx="962025" cy="353695"/>
            </a:xfrm>
            <a:custGeom>
              <a:avLst/>
              <a:gdLst/>
              <a:ahLst/>
              <a:cxnLst/>
              <a:rect l="l" t="t" r="r" b="b"/>
              <a:pathLst>
                <a:path w="962025" h="353695">
                  <a:moveTo>
                    <a:pt x="961643" y="353567"/>
                  </a:moveTo>
                  <a:lnTo>
                    <a:pt x="961643" y="0"/>
                  </a:lnTo>
                  <a:lnTo>
                    <a:pt x="0" y="0"/>
                  </a:lnTo>
                  <a:lnTo>
                    <a:pt x="0" y="353567"/>
                  </a:lnTo>
                  <a:lnTo>
                    <a:pt x="961643" y="353567"/>
                  </a:lnTo>
                  <a:close/>
                </a:path>
              </a:pathLst>
            </a:custGeom>
            <a:solidFill>
              <a:srgbClr val="9E00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08504" y="3727704"/>
              <a:ext cx="962025" cy="353695"/>
            </a:xfrm>
            <a:custGeom>
              <a:avLst/>
              <a:gdLst/>
              <a:ahLst/>
              <a:cxnLst/>
              <a:rect l="l" t="t" r="r" b="b"/>
              <a:pathLst>
                <a:path w="962025" h="353695">
                  <a:moveTo>
                    <a:pt x="0" y="0"/>
                  </a:moveTo>
                  <a:lnTo>
                    <a:pt x="0" y="353567"/>
                  </a:lnTo>
                  <a:lnTo>
                    <a:pt x="961643" y="353567"/>
                  </a:lnTo>
                  <a:lnTo>
                    <a:pt x="961643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81628" y="3727704"/>
              <a:ext cx="962025" cy="353695"/>
            </a:xfrm>
            <a:custGeom>
              <a:avLst/>
              <a:gdLst/>
              <a:ahLst/>
              <a:cxnLst/>
              <a:rect l="l" t="t" r="r" b="b"/>
              <a:pathLst>
                <a:path w="962025" h="353695">
                  <a:moveTo>
                    <a:pt x="961644" y="353567"/>
                  </a:moveTo>
                  <a:lnTo>
                    <a:pt x="961644" y="0"/>
                  </a:lnTo>
                  <a:lnTo>
                    <a:pt x="0" y="0"/>
                  </a:lnTo>
                  <a:lnTo>
                    <a:pt x="0" y="353567"/>
                  </a:lnTo>
                  <a:lnTo>
                    <a:pt x="961644" y="353567"/>
                  </a:lnTo>
                  <a:close/>
                </a:path>
              </a:pathLst>
            </a:custGeom>
            <a:solidFill>
              <a:srgbClr val="9E00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81628" y="3727704"/>
              <a:ext cx="962025" cy="353695"/>
            </a:xfrm>
            <a:custGeom>
              <a:avLst/>
              <a:gdLst/>
              <a:ahLst/>
              <a:cxnLst/>
              <a:rect l="l" t="t" r="r" b="b"/>
              <a:pathLst>
                <a:path w="962025" h="353695">
                  <a:moveTo>
                    <a:pt x="0" y="0"/>
                  </a:moveTo>
                  <a:lnTo>
                    <a:pt x="0" y="353567"/>
                  </a:lnTo>
                  <a:lnTo>
                    <a:pt x="961644" y="353567"/>
                  </a:lnTo>
                  <a:lnTo>
                    <a:pt x="961644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86172" y="3727704"/>
              <a:ext cx="961390" cy="353695"/>
            </a:xfrm>
            <a:custGeom>
              <a:avLst/>
              <a:gdLst/>
              <a:ahLst/>
              <a:cxnLst/>
              <a:rect l="l" t="t" r="r" b="b"/>
              <a:pathLst>
                <a:path w="961389" h="353695">
                  <a:moveTo>
                    <a:pt x="960881" y="353567"/>
                  </a:moveTo>
                  <a:lnTo>
                    <a:pt x="960881" y="0"/>
                  </a:lnTo>
                  <a:lnTo>
                    <a:pt x="0" y="0"/>
                  </a:lnTo>
                  <a:lnTo>
                    <a:pt x="0" y="353568"/>
                  </a:lnTo>
                  <a:lnTo>
                    <a:pt x="960881" y="353567"/>
                  </a:lnTo>
                  <a:close/>
                </a:path>
              </a:pathLst>
            </a:custGeom>
            <a:solidFill>
              <a:srgbClr val="9E00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86172" y="3727704"/>
              <a:ext cx="961390" cy="353695"/>
            </a:xfrm>
            <a:custGeom>
              <a:avLst/>
              <a:gdLst/>
              <a:ahLst/>
              <a:cxnLst/>
              <a:rect l="l" t="t" r="r" b="b"/>
              <a:pathLst>
                <a:path w="961389" h="353695">
                  <a:moveTo>
                    <a:pt x="0" y="0"/>
                  </a:moveTo>
                  <a:lnTo>
                    <a:pt x="0" y="353568"/>
                  </a:lnTo>
                  <a:lnTo>
                    <a:pt x="960881" y="353567"/>
                  </a:lnTo>
                  <a:lnTo>
                    <a:pt x="960881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567177" y="3699002"/>
            <a:ext cx="36118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372870" algn="l"/>
                <a:tab pos="2753360" algn="l"/>
              </a:tabLst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cache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cache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cache3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08913" y="3722941"/>
            <a:ext cx="971550" cy="363220"/>
            <a:chOff x="7308913" y="3722941"/>
            <a:chExt cx="971550" cy="363220"/>
          </a:xfrm>
        </p:grpSpPr>
        <p:sp>
          <p:nvSpPr>
            <p:cNvPr id="32" name="object 32"/>
            <p:cNvSpPr/>
            <p:nvPr/>
          </p:nvSpPr>
          <p:spPr>
            <a:xfrm>
              <a:off x="7313676" y="3727703"/>
              <a:ext cx="962025" cy="353695"/>
            </a:xfrm>
            <a:custGeom>
              <a:avLst/>
              <a:gdLst/>
              <a:ahLst/>
              <a:cxnLst/>
              <a:rect l="l" t="t" r="r" b="b"/>
              <a:pathLst>
                <a:path w="962025" h="353695">
                  <a:moveTo>
                    <a:pt x="961644" y="353567"/>
                  </a:moveTo>
                  <a:lnTo>
                    <a:pt x="961644" y="0"/>
                  </a:lnTo>
                  <a:lnTo>
                    <a:pt x="0" y="0"/>
                  </a:lnTo>
                  <a:lnTo>
                    <a:pt x="0" y="353567"/>
                  </a:lnTo>
                  <a:lnTo>
                    <a:pt x="961644" y="353567"/>
                  </a:lnTo>
                  <a:close/>
                </a:path>
              </a:pathLst>
            </a:custGeom>
            <a:solidFill>
              <a:srgbClr val="9E00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13676" y="3727703"/>
              <a:ext cx="962025" cy="353695"/>
            </a:xfrm>
            <a:custGeom>
              <a:avLst/>
              <a:gdLst/>
              <a:ahLst/>
              <a:cxnLst/>
              <a:rect l="l" t="t" r="r" b="b"/>
              <a:pathLst>
                <a:path w="962025" h="353695">
                  <a:moveTo>
                    <a:pt x="0" y="0"/>
                  </a:moveTo>
                  <a:lnTo>
                    <a:pt x="0" y="353567"/>
                  </a:lnTo>
                  <a:lnTo>
                    <a:pt x="961644" y="353567"/>
                  </a:lnTo>
                  <a:lnTo>
                    <a:pt x="961644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338821" y="3699002"/>
            <a:ext cx="9251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cacheN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120961" y="2762059"/>
            <a:ext cx="2206625" cy="1123315"/>
            <a:chOff x="3120961" y="2762059"/>
            <a:chExt cx="2206625" cy="1123315"/>
          </a:xfrm>
        </p:grpSpPr>
        <p:sp>
          <p:nvSpPr>
            <p:cNvPr id="36" name="object 36"/>
            <p:cNvSpPr/>
            <p:nvPr/>
          </p:nvSpPr>
          <p:spPr>
            <a:xfrm>
              <a:off x="3125723" y="2766822"/>
              <a:ext cx="481330" cy="558165"/>
            </a:xfrm>
            <a:custGeom>
              <a:avLst/>
              <a:gdLst/>
              <a:ahLst/>
              <a:cxnLst/>
              <a:rect l="l" t="t" r="r" b="b"/>
              <a:pathLst>
                <a:path w="481329" h="558164">
                  <a:moveTo>
                    <a:pt x="480822" y="557784"/>
                  </a:moveTo>
                  <a:lnTo>
                    <a:pt x="480822" y="0"/>
                  </a:lnTo>
                  <a:lnTo>
                    <a:pt x="0" y="0"/>
                  </a:lnTo>
                  <a:lnTo>
                    <a:pt x="0" y="557784"/>
                  </a:lnTo>
                  <a:lnTo>
                    <a:pt x="480822" y="5577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25723" y="2766822"/>
              <a:ext cx="481330" cy="557530"/>
            </a:xfrm>
            <a:custGeom>
              <a:avLst/>
              <a:gdLst/>
              <a:ahLst/>
              <a:cxnLst/>
              <a:rect l="l" t="t" r="r" b="b"/>
              <a:pathLst>
                <a:path w="481329" h="557529">
                  <a:moveTo>
                    <a:pt x="0" y="0"/>
                  </a:moveTo>
                  <a:lnTo>
                    <a:pt x="0" y="557022"/>
                  </a:lnTo>
                  <a:lnTo>
                    <a:pt x="480822" y="557022"/>
                  </a:lnTo>
                  <a:lnTo>
                    <a:pt x="480822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86172" y="3727704"/>
              <a:ext cx="136525" cy="152400"/>
            </a:xfrm>
            <a:custGeom>
              <a:avLst/>
              <a:gdLst/>
              <a:ahLst/>
              <a:cxnLst/>
              <a:rect l="l" t="t" r="r" b="b"/>
              <a:pathLst>
                <a:path w="136525" h="152400">
                  <a:moveTo>
                    <a:pt x="136398" y="152400"/>
                  </a:moveTo>
                  <a:lnTo>
                    <a:pt x="136398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36398" y="152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86172" y="3727704"/>
              <a:ext cx="136525" cy="152400"/>
            </a:xfrm>
            <a:custGeom>
              <a:avLst/>
              <a:gdLst/>
              <a:ahLst/>
              <a:cxnLst/>
              <a:rect l="l" t="t" r="r" b="b"/>
              <a:pathLst>
                <a:path w="136525" h="152400">
                  <a:moveTo>
                    <a:pt x="0" y="0"/>
                  </a:moveTo>
                  <a:lnTo>
                    <a:pt x="0" y="152400"/>
                  </a:lnTo>
                  <a:lnTo>
                    <a:pt x="136398" y="152400"/>
                  </a:lnTo>
                  <a:lnTo>
                    <a:pt x="136398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958845" y="2739644"/>
            <a:ext cx="148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20418" y="3062477"/>
            <a:ext cx="3325495" cy="1984375"/>
          </a:xfrm>
          <a:custGeom>
            <a:avLst/>
            <a:gdLst/>
            <a:ahLst/>
            <a:cxnLst/>
            <a:rect l="l" t="t" r="r" b="b"/>
            <a:pathLst>
              <a:path w="3325495" h="1984375">
                <a:moveTo>
                  <a:pt x="1168908" y="7620"/>
                </a:moveTo>
                <a:lnTo>
                  <a:pt x="1112520" y="0"/>
                </a:lnTo>
                <a:lnTo>
                  <a:pt x="1118997" y="18580"/>
                </a:lnTo>
                <a:lnTo>
                  <a:pt x="0" y="406908"/>
                </a:lnTo>
                <a:lnTo>
                  <a:pt x="3810" y="418338"/>
                </a:lnTo>
                <a:lnTo>
                  <a:pt x="1122972" y="29959"/>
                </a:lnTo>
                <a:lnTo>
                  <a:pt x="1129284" y="48006"/>
                </a:lnTo>
                <a:lnTo>
                  <a:pt x="1134618" y="42570"/>
                </a:lnTo>
                <a:lnTo>
                  <a:pt x="1168908" y="7620"/>
                </a:lnTo>
                <a:close/>
              </a:path>
              <a:path w="3325495" h="1984375">
                <a:moveTo>
                  <a:pt x="3325368" y="846582"/>
                </a:moveTo>
                <a:lnTo>
                  <a:pt x="3296412" y="766572"/>
                </a:lnTo>
                <a:lnTo>
                  <a:pt x="3249930" y="838200"/>
                </a:lnTo>
                <a:lnTo>
                  <a:pt x="3282772" y="841857"/>
                </a:lnTo>
                <a:lnTo>
                  <a:pt x="3154680" y="1978914"/>
                </a:lnTo>
                <a:lnTo>
                  <a:pt x="3156204" y="1982724"/>
                </a:lnTo>
                <a:lnTo>
                  <a:pt x="3159252" y="1984248"/>
                </a:lnTo>
                <a:lnTo>
                  <a:pt x="3162300" y="1983486"/>
                </a:lnTo>
                <a:lnTo>
                  <a:pt x="3164586" y="1979676"/>
                </a:lnTo>
                <a:lnTo>
                  <a:pt x="3291979" y="842873"/>
                </a:lnTo>
                <a:lnTo>
                  <a:pt x="3293364" y="843026"/>
                </a:lnTo>
                <a:lnTo>
                  <a:pt x="3325368" y="8465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708404" y="3548126"/>
            <a:ext cx="148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5500" y="4011422"/>
            <a:ext cx="8188959" cy="286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50085" algn="r">
              <a:lnSpc>
                <a:spcPts val="2915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. .</a:t>
            </a:r>
            <a:r>
              <a:rPr sz="28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1724025">
              <a:lnSpc>
                <a:spcPts val="2915"/>
              </a:lnSpc>
              <a:tabLst>
                <a:tab pos="3096895" algn="l"/>
                <a:tab pos="4469765" algn="l"/>
                <a:tab pos="6490970" algn="l"/>
              </a:tabLst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proc1	proc2	proc3	procN</a:t>
            </a:r>
            <a:endParaRPr sz="2800">
              <a:latin typeface="Times New Roman"/>
              <a:cs typeface="Times New Roman"/>
            </a:endParaRPr>
          </a:p>
          <a:p>
            <a:pPr marL="163195" algn="ctr">
              <a:lnSpc>
                <a:spcPct val="100000"/>
              </a:lnSpc>
              <a:spcBef>
                <a:spcPts val="206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2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memory model is defined in terms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of:</a:t>
            </a:r>
            <a:endParaRPr sz="2400">
              <a:latin typeface="Arial"/>
              <a:cs typeface="Arial"/>
            </a:endParaRPr>
          </a:p>
          <a:p>
            <a:pPr marL="697865" marR="431165" lvl="1" indent="-228600">
              <a:lnSpc>
                <a:spcPts val="224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Coherence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Behavior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memory system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when a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single  address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accessed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0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threads.</a:t>
            </a:r>
            <a:endParaRPr sz="20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Consistency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: Orderings 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accesses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to different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addresses</a:t>
            </a:r>
            <a:r>
              <a:rPr sz="2000" b="1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11300" y="6827769"/>
            <a:ext cx="205358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5500" y="1469085"/>
            <a:ext cx="7925434" cy="90360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7815" algn="l"/>
                <a:tab pos="29845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OpenMP supports a shared memory</a:t>
            </a: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model.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0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7815" algn="l"/>
                <a:tab pos="29845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All threads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share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address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space, but it can get</a:t>
            </a:r>
            <a:r>
              <a:rPr sz="2000" b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complicated: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102" y="6885685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72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9251" y="2044700"/>
            <a:ext cx="1308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8494" y="1398516"/>
            <a:ext cx="1497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9A"/>
                </a:solidFill>
                <a:latin typeface="Arial"/>
                <a:cs typeface="Arial"/>
              </a:rPr>
              <a:t>Program</a:t>
            </a:r>
            <a:r>
              <a:rPr sz="1800" spc="-60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9A"/>
                </a:solidFill>
                <a:latin typeface="Arial"/>
                <a:cs typeface="Arial"/>
              </a:rPr>
              <a:t>order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05037" y="5329237"/>
            <a:ext cx="5267325" cy="1076325"/>
            <a:chOff x="2205037" y="5329237"/>
            <a:chExt cx="5267325" cy="1076325"/>
          </a:xfrm>
        </p:grpSpPr>
        <p:sp>
          <p:nvSpPr>
            <p:cNvPr id="6" name="object 6"/>
            <p:cNvSpPr/>
            <p:nvPr/>
          </p:nvSpPr>
          <p:spPr>
            <a:xfrm>
              <a:off x="2209800" y="5334000"/>
              <a:ext cx="457200" cy="1066800"/>
            </a:xfrm>
            <a:custGeom>
              <a:avLst/>
              <a:gdLst/>
              <a:ahLst/>
              <a:cxnLst/>
              <a:rect l="l" t="t" r="r" b="b"/>
              <a:pathLst>
                <a:path w="457200" h="1066800">
                  <a:moveTo>
                    <a:pt x="0" y="0"/>
                  </a:moveTo>
                  <a:lnTo>
                    <a:pt x="457200" y="1066800"/>
                  </a:lnTo>
                </a:path>
              </a:pathLst>
            </a:custGeom>
            <a:ln w="952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24200" y="5334000"/>
              <a:ext cx="3733800" cy="1066800"/>
            </a:xfrm>
            <a:custGeom>
              <a:avLst/>
              <a:gdLst/>
              <a:ahLst/>
              <a:cxnLst/>
              <a:rect l="l" t="t" r="r" b="b"/>
              <a:pathLst>
                <a:path w="3733800" h="1066800">
                  <a:moveTo>
                    <a:pt x="0" y="0"/>
                  </a:moveTo>
                  <a:lnTo>
                    <a:pt x="3733800" y="1066799"/>
                  </a:lnTo>
                </a:path>
              </a:pathLst>
            </a:custGeom>
            <a:ln w="952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7000" y="5334000"/>
              <a:ext cx="3886200" cy="1066800"/>
            </a:xfrm>
            <a:custGeom>
              <a:avLst/>
              <a:gdLst/>
              <a:ahLst/>
              <a:cxnLst/>
              <a:rect l="l" t="t" r="r" b="b"/>
              <a:pathLst>
                <a:path w="3886200" h="1066800">
                  <a:moveTo>
                    <a:pt x="3886200" y="0"/>
                  </a:moveTo>
                  <a:lnTo>
                    <a:pt x="0" y="1066799"/>
                  </a:lnTo>
                </a:path>
              </a:pathLst>
            </a:custGeom>
            <a:ln w="952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81800" y="5334000"/>
              <a:ext cx="685800" cy="1066800"/>
            </a:xfrm>
            <a:custGeom>
              <a:avLst/>
              <a:gdLst/>
              <a:ahLst/>
              <a:cxnLst/>
              <a:rect l="l" t="t" r="r" b="b"/>
              <a:pathLst>
                <a:path w="685800" h="1066800">
                  <a:moveTo>
                    <a:pt x="685800" y="0"/>
                  </a:moveTo>
                  <a:lnTo>
                    <a:pt x="0" y="1066799"/>
                  </a:lnTo>
                </a:path>
              </a:pathLst>
            </a:custGeom>
            <a:ln w="9524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205037" y="6396037"/>
          <a:ext cx="5334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146302" y="6427722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75101" y="67470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9063" y="67470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1092" y="6975600"/>
            <a:ext cx="140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9A"/>
                </a:solidFill>
                <a:latin typeface="Arial"/>
                <a:cs typeface="Arial"/>
              </a:rPr>
              <a:t>Commit</a:t>
            </a:r>
            <a:r>
              <a:rPr sz="1800" spc="-45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9A"/>
                </a:solidFill>
                <a:latin typeface="Arial"/>
                <a:cs typeface="Arial"/>
              </a:rPr>
              <a:t>order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5294" y="5056115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private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55886" y="4675107"/>
            <a:ext cx="674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9A"/>
                </a:solidFill>
                <a:latin typeface="Arial"/>
                <a:cs typeface="Arial"/>
              </a:rPr>
              <a:t>thread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7494" y="4598915"/>
            <a:ext cx="674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9A"/>
                </a:solidFill>
                <a:latin typeface="Arial"/>
                <a:cs typeface="Arial"/>
              </a:rPr>
              <a:t>thread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205037" y="5024437"/>
          <a:ext cx="9144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548437" y="5024437"/>
          <a:ext cx="9144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D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84902" y="5056123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private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48037" y="5024437"/>
            <a:ext cx="619125" cy="314325"/>
            <a:chOff x="3348037" y="5024437"/>
            <a:chExt cx="619125" cy="314325"/>
          </a:xfrm>
        </p:grpSpPr>
        <p:sp>
          <p:nvSpPr>
            <p:cNvPr id="22" name="object 22"/>
            <p:cNvSpPr/>
            <p:nvPr/>
          </p:nvSpPr>
          <p:spPr>
            <a:xfrm>
              <a:off x="3352800" y="5029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609600" y="3048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609600" y="30480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52800" y="5029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0"/>
                  </a:moveTo>
                  <a:lnTo>
                    <a:pt x="0" y="304800"/>
                  </a:lnTo>
                  <a:lnTo>
                    <a:pt x="609600" y="304800"/>
                  </a:lnTo>
                  <a:lnTo>
                    <a:pt x="60960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691437" y="5024437"/>
            <a:ext cx="619125" cy="314325"/>
            <a:chOff x="7691437" y="5024437"/>
            <a:chExt cx="619125" cy="314325"/>
          </a:xfrm>
        </p:grpSpPr>
        <p:sp>
          <p:nvSpPr>
            <p:cNvPr id="25" name="object 25"/>
            <p:cNvSpPr/>
            <p:nvPr/>
          </p:nvSpPr>
          <p:spPr>
            <a:xfrm>
              <a:off x="7696200" y="5029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609600" y="3048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609600" y="30480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029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0"/>
                  </a:moveTo>
                  <a:lnTo>
                    <a:pt x="0" y="304800"/>
                  </a:lnTo>
                  <a:lnTo>
                    <a:pt x="609600" y="304800"/>
                  </a:lnTo>
                  <a:lnTo>
                    <a:pt x="60960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912100" y="5321300"/>
            <a:ext cx="135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threadprivate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66997" y="5360916"/>
            <a:ext cx="135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threadprivate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41701" y="5299194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	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61294" y="5284723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7" baseline="-3086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700" spc="254" baseline="-308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124200" y="3657600"/>
            <a:ext cx="3429000" cy="1295400"/>
            <a:chOff x="3124200" y="3657600"/>
            <a:chExt cx="3429000" cy="1295400"/>
          </a:xfrm>
        </p:grpSpPr>
        <p:sp>
          <p:nvSpPr>
            <p:cNvPr id="32" name="object 32"/>
            <p:cNvSpPr/>
            <p:nvPr/>
          </p:nvSpPr>
          <p:spPr>
            <a:xfrm>
              <a:off x="3124200" y="4408931"/>
              <a:ext cx="3429000" cy="544195"/>
            </a:xfrm>
            <a:custGeom>
              <a:avLst/>
              <a:gdLst/>
              <a:ahLst/>
              <a:cxnLst/>
              <a:rect l="l" t="t" r="r" b="b"/>
              <a:pathLst>
                <a:path w="3429000" h="544195">
                  <a:moveTo>
                    <a:pt x="845058" y="21336"/>
                  </a:moveTo>
                  <a:lnTo>
                    <a:pt x="831342" y="0"/>
                  </a:lnTo>
                  <a:lnTo>
                    <a:pt x="100253" y="465099"/>
                  </a:lnTo>
                  <a:lnTo>
                    <a:pt x="73152" y="422148"/>
                  </a:lnTo>
                  <a:lnTo>
                    <a:pt x="0" y="544068"/>
                  </a:lnTo>
                  <a:lnTo>
                    <a:pt x="89916" y="534835"/>
                  </a:lnTo>
                  <a:lnTo>
                    <a:pt x="140970" y="529590"/>
                  </a:lnTo>
                  <a:lnTo>
                    <a:pt x="113576" y="486206"/>
                  </a:lnTo>
                  <a:lnTo>
                    <a:pt x="845058" y="21336"/>
                  </a:lnTo>
                  <a:close/>
                </a:path>
                <a:path w="3429000" h="544195">
                  <a:moveTo>
                    <a:pt x="3429000" y="544068"/>
                  </a:moveTo>
                  <a:lnTo>
                    <a:pt x="3361182" y="419100"/>
                  </a:lnTo>
                  <a:lnTo>
                    <a:pt x="3332429" y="460552"/>
                  </a:lnTo>
                  <a:lnTo>
                    <a:pt x="2674620" y="0"/>
                  </a:lnTo>
                  <a:lnTo>
                    <a:pt x="2659380" y="21336"/>
                  </a:lnTo>
                  <a:lnTo>
                    <a:pt x="3317735" y="481749"/>
                  </a:lnTo>
                  <a:lnTo>
                    <a:pt x="3288792" y="523494"/>
                  </a:lnTo>
                  <a:lnTo>
                    <a:pt x="3342894" y="531444"/>
                  </a:lnTo>
                  <a:lnTo>
                    <a:pt x="3429000" y="544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52800" y="3657600"/>
              <a:ext cx="3048000" cy="762000"/>
            </a:xfrm>
            <a:custGeom>
              <a:avLst/>
              <a:gdLst/>
              <a:ahLst/>
              <a:cxnLst/>
              <a:rect l="l" t="t" r="r" b="b"/>
              <a:pathLst>
                <a:path w="3048000" h="762000">
                  <a:moveTo>
                    <a:pt x="3048000" y="762000"/>
                  </a:moveTo>
                  <a:lnTo>
                    <a:pt x="3048000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3048000" y="762000"/>
                  </a:lnTo>
                  <a:close/>
                </a:path>
              </a:pathLst>
            </a:custGeom>
            <a:solidFill>
              <a:srgbClr val="51D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429000" y="1752600"/>
            <a:ext cx="3048000" cy="762000"/>
          </a:xfrm>
          <a:prstGeom prst="rect">
            <a:avLst/>
          </a:prstGeom>
          <a:solidFill>
            <a:srgbClr val="51DC00"/>
          </a:solidFill>
          <a:ln w="9525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200"/>
              </a:spcBef>
              <a:tabLst>
                <a:tab pos="1964689" algn="l"/>
              </a:tabLst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b="1" spc="-7" baseline="-23148" dirty="0">
                <a:solidFill>
                  <a:srgbClr val="FFFFFF"/>
                </a:solidFill>
                <a:latin typeface="Arial"/>
                <a:cs typeface="Arial"/>
              </a:rPr>
              <a:t>a  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b="1" baseline="-23148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800" b="1" spc="22" baseline="-2314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800" b="1" baseline="-23148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b="1" spc="494" baseline="-2314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800" b="1" baseline="-23148" dirty="0">
                <a:solidFill>
                  <a:srgbClr val="FFFFFF"/>
                </a:solidFill>
                <a:latin typeface="Arial"/>
                <a:cs typeface="Arial"/>
              </a:rPr>
              <a:t>b	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. .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993902" y="706628"/>
            <a:ext cx="8206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OpenMP </a:t>
            </a:r>
            <a:r>
              <a:rPr sz="3600" spc="-5" dirty="0"/>
              <a:t>Memory Model: Basic</a:t>
            </a:r>
            <a:r>
              <a:rPr sz="3600" spc="-80" dirty="0"/>
              <a:t> </a:t>
            </a:r>
            <a:r>
              <a:rPr sz="3600" dirty="0"/>
              <a:t>Terms</a:t>
            </a:r>
            <a:endParaRPr sz="3600"/>
          </a:p>
        </p:txBody>
      </p:sp>
      <p:sp>
        <p:nvSpPr>
          <p:cNvPr id="36" name="object 36"/>
          <p:cNvSpPr txBox="1"/>
          <p:nvPr/>
        </p:nvSpPr>
        <p:spPr>
          <a:xfrm>
            <a:off x="3737102" y="2770123"/>
            <a:ext cx="889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compiler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05171" y="2819400"/>
            <a:ext cx="143510" cy="609600"/>
          </a:xfrm>
          <a:custGeom>
            <a:avLst/>
            <a:gdLst/>
            <a:ahLst/>
            <a:cxnLst/>
            <a:rect l="l" t="t" r="r" b="b"/>
            <a:pathLst>
              <a:path w="143510" h="609600">
                <a:moveTo>
                  <a:pt x="143255" y="466344"/>
                </a:moveTo>
                <a:lnTo>
                  <a:pt x="0" y="466344"/>
                </a:lnTo>
                <a:lnTo>
                  <a:pt x="57150" y="580644"/>
                </a:lnTo>
                <a:lnTo>
                  <a:pt x="57150" y="480822"/>
                </a:lnTo>
                <a:lnTo>
                  <a:pt x="86105" y="480822"/>
                </a:lnTo>
                <a:lnTo>
                  <a:pt x="86105" y="580644"/>
                </a:lnTo>
                <a:lnTo>
                  <a:pt x="143255" y="466344"/>
                </a:lnTo>
                <a:close/>
              </a:path>
              <a:path w="143510" h="609600">
                <a:moveTo>
                  <a:pt x="86105" y="466344"/>
                </a:moveTo>
                <a:lnTo>
                  <a:pt x="86105" y="0"/>
                </a:lnTo>
                <a:lnTo>
                  <a:pt x="57150" y="0"/>
                </a:lnTo>
                <a:lnTo>
                  <a:pt x="57150" y="466344"/>
                </a:lnTo>
                <a:lnTo>
                  <a:pt x="86105" y="466344"/>
                </a:lnTo>
                <a:close/>
              </a:path>
              <a:path w="143510" h="609600">
                <a:moveTo>
                  <a:pt x="86105" y="580644"/>
                </a:moveTo>
                <a:lnTo>
                  <a:pt x="86105" y="480822"/>
                </a:lnTo>
                <a:lnTo>
                  <a:pt x="57150" y="480822"/>
                </a:lnTo>
                <a:lnTo>
                  <a:pt x="57150" y="580644"/>
                </a:lnTo>
                <a:lnTo>
                  <a:pt x="71627" y="609600"/>
                </a:lnTo>
                <a:lnTo>
                  <a:pt x="86105" y="580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527302" y="3836923"/>
            <a:ext cx="1715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Executable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32294" y="3303531"/>
            <a:ext cx="1169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9A"/>
                </a:solidFill>
                <a:latin typeface="Arial"/>
                <a:cs typeface="Arial"/>
              </a:rPr>
              <a:t>Code</a:t>
            </a:r>
            <a:r>
              <a:rPr sz="1800" spc="-55" dirty="0">
                <a:solidFill>
                  <a:srgbClr val="FFFF9A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9A"/>
                </a:solidFill>
                <a:latin typeface="Arial"/>
                <a:cs typeface="Arial"/>
              </a:rPr>
              <a:t>order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52800" y="3657600"/>
            <a:ext cx="3048000" cy="76200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191770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151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b="1" spc="-7" baseline="-23148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800" b="1" baseline="-23148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b="1" spc="-7" baseline="-23148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800" b="1" baseline="-23148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. .</a:t>
            </a:r>
            <a:r>
              <a:rPr sz="18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781800" y="3352800"/>
            <a:ext cx="2362200" cy="1007110"/>
          </a:xfrm>
          <a:custGeom>
            <a:avLst/>
            <a:gdLst/>
            <a:ahLst/>
            <a:cxnLst/>
            <a:rect l="l" t="t" r="r" b="b"/>
            <a:pathLst>
              <a:path w="2362200" h="1007110">
                <a:moveTo>
                  <a:pt x="2362200" y="1006601"/>
                </a:moveTo>
                <a:lnTo>
                  <a:pt x="2362200" y="0"/>
                </a:lnTo>
                <a:lnTo>
                  <a:pt x="0" y="0"/>
                </a:lnTo>
                <a:lnTo>
                  <a:pt x="0" y="1006601"/>
                </a:lnTo>
                <a:lnTo>
                  <a:pt x="2362200" y="1006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894831" y="3382771"/>
            <a:ext cx="2137410" cy="9410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3175" algn="ctr">
              <a:lnSpc>
                <a:spcPct val="100200"/>
              </a:lnSpc>
              <a:spcBef>
                <a:spcPts val="90"/>
              </a:spcBef>
            </a:pPr>
            <a:r>
              <a:rPr sz="2000" b="1" spc="-5" dirty="0">
                <a:latin typeface="Tahoma"/>
                <a:cs typeface="Tahoma"/>
              </a:rPr>
              <a:t>RW</a:t>
            </a:r>
            <a:r>
              <a:rPr sz="2000" b="1" spc="-5" dirty="0">
                <a:latin typeface="Arial"/>
                <a:cs typeface="Arial"/>
              </a:rPr>
              <a:t>’</a:t>
            </a:r>
            <a:r>
              <a:rPr sz="2000" b="1" spc="-5" dirty="0">
                <a:latin typeface="Tahoma"/>
                <a:cs typeface="Tahoma"/>
              </a:rPr>
              <a:t>s in any  semantically  equivalent</a:t>
            </a:r>
            <a:r>
              <a:rPr sz="2000" b="1" spc="-3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38800" y="3867150"/>
            <a:ext cx="1221105" cy="128905"/>
          </a:xfrm>
          <a:custGeom>
            <a:avLst/>
            <a:gdLst/>
            <a:ahLst/>
            <a:cxnLst/>
            <a:rect l="l" t="t" r="r" b="b"/>
            <a:pathLst>
              <a:path w="1221104" h="128904">
                <a:moveTo>
                  <a:pt x="75030" y="71181"/>
                </a:moveTo>
                <a:lnTo>
                  <a:pt x="73914" y="52578"/>
                </a:lnTo>
                <a:lnTo>
                  <a:pt x="0" y="95250"/>
                </a:lnTo>
                <a:lnTo>
                  <a:pt x="55626" y="119012"/>
                </a:lnTo>
                <a:lnTo>
                  <a:pt x="55626" y="72390"/>
                </a:lnTo>
                <a:lnTo>
                  <a:pt x="75030" y="71181"/>
                </a:lnTo>
                <a:close/>
              </a:path>
              <a:path w="1221104" h="128904">
                <a:moveTo>
                  <a:pt x="77316" y="109282"/>
                </a:moveTo>
                <a:lnTo>
                  <a:pt x="75030" y="71181"/>
                </a:lnTo>
                <a:lnTo>
                  <a:pt x="55626" y="72390"/>
                </a:lnTo>
                <a:lnTo>
                  <a:pt x="57912" y="110490"/>
                </a:lnTo>
                <a:lnTo>
                  <a:pt x="77316" y="109282"/>
                </a:lnTo>
                <a:close/>
              </a:path>
              <a:path w="1221104" h="128904">
                <a:moveTo>
                  <a:pt x="78486" y="128778"/>
                </a:moveTo>
                <a:lnTo>
                  <a:pt x="77316" y="109282"/>
                </a:lnTo>
                <a:lnTo>
                  <a:pt x="57912" y="110490"/>
                </a:lnTo>
                <a:lnTo>
                  <a:pt x="55626" y="72390"/>
                </a:lnTo>
                <a:lnTo>
                  <a:pt x="55626" y="119012"/>
                </a:lnTo>
                <a:lnTo>
                  <a:pt x="78486" y="128778"/>
                </a:lnTo>
                <a:close/>
              </a:path>
              <a:path w="1221104" h="128904">
                <a:moveTo>
                  <a:pt x="1220724" y="38100"/>
                </a:moveTo>
                <a:lnTo>
                  <a:pt x="1217676" y="0"/>
                </a:lnTo>
                <a:lnTo>
                  <a:pt x="75030" y="71181"/>
                </a:lnTo>
                <a:lnTo>
                  <a:pt x="77316" y="109282"/>
                </a:lnTo>
                <a:lnTo>
                  <a:pt x="1220724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89330"/>
            <a:ext cx="81870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Consistency: Memory Access</a:t>
            </a:r>
            <a:r>
              <a:rPr sz="3200" spc="50" dirty="0"/>
              <a:t> </a:t>
            </a:r>
            <a:r>
              <a:rPr sz="3200" spc="-10" dirty="0"/>
              <a:t>Re-ordering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48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902" y="1913033"/>
            <a:ext cx="8417560" cy="40811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Re-ordering: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Compiler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re-orders </a:t>
            </a:r>
            <a:r>
              <a:rPr sz="2400" b="1" dirty="0">
                <a:solidFill>
                  <a:srgbClr val="FFFFC9"/>
                </a:solidFill>
                <a:latin typeface="Arial"/>
                <a:cs typeface="Arial"/>
              </a:rPr>
              <a:t>program order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code</a:t>
            </a:r>
            <a:r>
              <a:rPr sz="2400" b="1" spc="-50" dirty="0">
                <a:solidFill>
                  <a:srgbClr val="FFFFC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order</a:t>
            </a:r>
            <a:endParaRPr sz="2400">
              <a:latin typeface="Arial"/>
              <a:cs typeface="Arial"/>
            </a:endParaRPr>
          </a:p>
          <a:p>
            <a:pPr marL="698500" marR="1224915" indent="-228600">
              <a:lnSpc>
                <a:spcPts val="2680"/>
              </a:lnSpc>
              <a:spcBef>
                <a:spcPts val="915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Machine re-orders 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code order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sz="2400" b="1" dirty="0">
                <a:solidFill>
                  <a:srgbClr val="FFFFC9"/>
                </a:solidFill>
                <a:latin typeface="Arial"/>
                <a:cs typeface="Arial"/>
              </a:rPr>
              <a:t>memory  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commit</a:t>
            </a:r>
            <a:r>
              <a:rPr sz="2400" b="1" spc="-10" dirty="0">
                <a:solidFill>
                  <a:srgbClr val="FFFFC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order</a:t>
            </a:r>
            <a:endParaRPr sz="2400">
              <a:latin typeface="Arial"/>
              <a:cs typeface="Arial"/>
            </a:endParaRPr>
          </a:p>
          <a:p>
            <a:pPr marL="298450" marR="320040" indent="-285750">
              <a:lnSpc>
                <a:spcPts val="3130"/>
              </a:lnSpc>
              <a:spcBef>
                <a:spcPts val="10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At 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a given point in time, the temporary </a:t>
            </a: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view</a:t>
            </a:r>
            <a:r>
              <a:rPr sz="2800" b="1" spc="-65" dirty="0">
                <a:solidFill>
                  <a:srgbClr val="FFFFC9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of  </a:t>
            </a: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memory may vary 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from </a:t>
            </a: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shared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memory.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ts val="3130"/>
              </a:lnSpc>
              <a:spcBef>
                <a:spcPts val="100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Consistency models 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based on orderings of  </a:t>
            </a: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Reads 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(R), Writes (W) </a:t>
            </a:r>
            <a:r>
              <a:rPr sz="2800" b="1" spc="-5" dirty="0">
                <a:solidFill>
                  <a:srgbClr val="FFFFC9"/>
                </a:solidFill>
                <a:latin typeface="Arial"/>
                <a:cs typeface="Arial"/>
              </a:rPr>
              <a:t>and 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Synchronizations</a:t>
            </a:r>
            <a:r>
              <a:rPr sz="2800" b="1" spc="-40" dirty="0">
                <a:solidFill>
                  <a:srgbClr val="FFFFC9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C9"/>
                </a:solidFill>
                <a:latin typeface="Arial"/>
                <a:cs typeface="Arial"/>
              </a:rPr>
              <a:t>(S):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  <a:tabLst>
                <a:tab pos="1695450" algn="l"/>
                <a:tab pos="2828925" algn="l"/>
                <a:tab pos="3977640" algn="l"/>
                <a:tab pos="4959350" algn="l"/>
                <a:tab pos="5921375" algn="l"/>
              </a:tabLst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C9"/>
                </a:solidFill>
                <a:latin typeface="Arial"/>
                <a:cs typeface="Arial"/>
              </a:rPr>
              <a:t>R</a:t>
            </a:r>
            <a:r>
              <a:rPr sz="2400" b="1" dirty="0">
                <a:solidFill>
                  <a:srgbClr val="FFFFC9"/>
                </a:solidFill>
                <a:latin typeface="SimSun"/>
                <a:cs typeface="SimSun"/>
              </a:rPr>
              <a:t>→</a:t>
            </a:r>
            <a:r>
              <a:rPr sz="2400" b="1" dirty="0">
                <a:solidFill>
                  <a:srgbClr val="FFFFC9"/>
                </a:solidFill>
                <a:latin typeface="Arial"/>
                <a:cs typeface="Arial"/>
              </a:rPr>
              <a:t>R,	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W</a:t>
            </a:r>
            <a:r>
              <a:rPr sz="2400" b="1" spc="-5" dirty="0">
                <a:solidFill>
                  <a:srgbClr val="FFFFC9"/>
                </a:solidFill>
                <a:latin typeface="SimSun"/>
                <a:cs typeface="SimSun"/>
              </a:rPr>
              <a:t>→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W,	R</a:t>
            </a:r>
            <a:r>
              <a:rPr sz="2400" b="1" spc="-5" dirty="0">
                <a:solidFill>
                  <a:srgbClr val="FFFFC9"/>
                </a:solidFill>
                <a:latin typeface="SimSun"/>
                <a:cs typeface="SimSun"/>
              </a:rPr>
              <a:t>→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W,	R</a:t>
            </a:r>
            <a:r>
              <a:rPr sz="2400" b="1" spc="-5" dirty="0">
                <a:solidFill>
                  <a:srgbClr val="FFFFC9"/>
                </a:solidFill>
                <a:latin typeface="SimSun"/>
                <a:cs typeface="SimSun"/>
              </a:rPr>
              <a:t>→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S,	S</a:t>
            </a:r>
            <a:r>
              <a:rPr sz="2400" b="1" spc="-5" dirty="0">
                <a:solidFill>
                  <a:srgbClr val="FFFFC9"/>
                </a:solidFill>
                <a:latin typeface="SimSun"/>
                <a:cs typeface="SimSun"/>
              </a:rPr>
              <a:t>→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S,	W</a:t>
            </a:r>
            <a:r>
              <a:rPr sz="2400" b="1" spc="-5" dirty="0">
                <a:solidFill>
                  <a:srgbClr val="FFFFC9"/>
                </a:solidFill>
                <a:latin typeface="SimSun"/>
                <a:cs typeface="SimSun"/>
              </a:rPr>
              <a:t>→</a:t>
            </a:r>
            <a:r>
              <a:rPr sz="2400" b="1" spc="-5" dirty="0">
                <a:solidFill>
                  <a:srgbClr val="FFFFC9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3045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49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797" y="1877092"/>
            <a:ext cx="8229600" cy="468058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Sequential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Consistency:</a:t>
            </a:r>
            <a:endParaRPr sz="2800">
              <a:latin typeface="Arial"/>
              <a:cs typeface="Arial"/>
            </a:endParaRPr>
          </a:p>
          <a:p>
            <a:pPr marL="698500" marR="180975" indent="-228600">
              <a:lnSpc>
                <a:spcPts val="2670"/>
              </a:lnSpc>
              <a:spcBef>
                <a:spcPts val="919"/>
              </a:spcBef>
            </a:pPr>
            <a:r>
              <a:rPr sz="1800" spc="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multi-processor, ops (R, W, S) are sequentially  consistent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if:</a:t>
            </a:r>
            <a:endParaRPr sz="2400">
              <a:latin typeface="Arial"/>
              <a:cs typeface="Arial"/>
            </a:endParaRPr>
          </a:p>
          <a:p>
            <a:pPr marL="1155700" marR="1376045" lvl="1" indent="-228600">
              <a:lnSpc>
                <a:spcPts val="2680"/>
              </a:lnSpc>
              <a:spcBef>
                <a:spcPts val="860"/>
              </a:spcBef>
              <a:buClr>
                <a:srgbClr val="F5C300"/>
              </a:buClr>
              <a:buFont typeface="Arial"/>
              <a:buChar char="–"/>
              <a:tabLst>
                <a:tab pos="1240155" algn="l"/>
                <a:tab pos="1240790" algn="l"/>
              </a:tabLst>
            </a:pPr>
            <a:r>
              <a:rPr dirty="0"/>
              <a:t>	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They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remain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in program order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for</a:t>
            </a:r>
            <a:r>
              <a:rPr sz="2400" b="1" spc="-95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each 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processor.</a:t>
            </a:r>
            <a:endParaRPr sz="2400">
              <a:latin typeface="Arial"/>
              <a:cs typeface="Arial"/>
            </a:endParaRPr>
          </a:p>
          <a:p>
            <a:pPr marL="1155700" marR="5080" lvl="1" indent="-228600">
              <a:lnSpc>
                <a:spcPts val="2680"/>
              </a:lnSpc>
              <a:spcBef>
                <a:spcPts val="850"/>
              </a:spcBef>
              <a:buClr>
                <a:srgbClr val="F5C300"/>
              </a:buClr>
              <a:buFont typeface="Arial"/>
              <a:buChar char="–"/>
              <a:tabLst>
                <a:tab pos="1240155" algn="l"/>
                <a:tab pos="1240790" algn="l"/>
              </a:tabLst>
            </a:pPr>
            <a:r>
              <a:rPr dirty="0"/>
              <a:t>	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They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are seen to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be in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the same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overall order</a:t>
            </a:r>
            <a:r>
              <a:rPr sz="2400" b="1" spc="-10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by 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each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of </a:t>
            </a:r>
            <a:r>
              <a:rPr sz="2400" b="1" spc="-5" dirty="0">
                <a:solidFill>
                  <a:srgbClr val="FFFF65"/>
                </a:solidFill>
                <a:latin typeface="Arial"/>
                <a:cs typeface="Arial"/>
              </a:rPr>
              <a:t>the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other</a:t>
            </a:r>
            <a:r>
              <a:rPr sz="2400" b="1" spc="-1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65"/>
                </a:solidFill>
                <a:latin typeface="Arial"/>
                <a:cs typeface="Arial"/>
              </a:rPr>
              <a:t>processors.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Program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order =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code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order =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commit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Relaxed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consistency:</a:t>
            </a:r>
            <a:endParaRPr sz="2800">
              <a:latin typeface="Arial"/>
              <a:cs typeface="Arial"/>
            </a:endParaRPr>
          </a:p>
          <a:p>
            <a:pPr marL="698500" marR="1005840" indent="-228600">
              <a:lnSpc>
                <a:spcPts val="2680"/>
              </a:lnSpc>
              <a:spcBef>
                <a:spcPts val="910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Remove some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ordering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constraints for  memory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ops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(R,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W,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S).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3792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Flush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50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307" y="1568450"/>
            <a:ext cx="8475345" cy="53873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429895" marR="486409" indent="-285750">
              <a:lnSpc>
                <a:spcPts val="2680"/>
              </a:lnSpc>
              <a:spcBef>
                <a:spcPts val="3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43053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Defines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sequence point at which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thread is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guaranteed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to see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consistent view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memory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with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respect to the “flush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set”.</a:t>
            </a:r>
            <a:endParaRPr sz="2400">
              <a:latin typeface="Arial"/>
              <a:cs typeface="Arial"/>
            </a:endParaRPr>
          </a:p>
          <a:p>
            <a:pPr marL="429895" indent="-286385">
              <a:lnSpc>
                <a:spcPct val="100000"/>
              </a:lnSpc>
              <a:spcBef>
                <a:spcPts val="5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43053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 flush set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is:</a:t>
            </a:r>
            <a:endParaRPr sz="2400">
              <a:latin typeface="Arial"/>
              <a:cs typeface="Arial"/>
            </a:endParaRPr>
          </a:p>
          <a:p>
            <a:pPr marL="829944" marR="368300" lvl="1" indent="-228600">
              <a:lnSpc>
                <a:spcPts val="2240"/>
              </a:lnSpc>
              <a:spcBef>
                <a:spcPts val="770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83058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“all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 visible variables”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for a flush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construct without an  argument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list.</a:t>
            </a:r>
            <a:endParaRPr sz="2000">
              <a:latin typeface="Arial"/>
              <a:cs typeface="Arial"/>
            </a:endParaRPr>
          </a:p>
          <a:p>
            <a:pPr marL="829944" lvl="1" indent="-229235">
              <a:lnSpc>
                <a:spcPct val="100000"/>
              </a:lnSpc>
              <a:spcBef>
                <a:spcPts val="51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83058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 list 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variables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when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“flush(list)” construct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used.</a:t>
            </a:r>
            <a:endParaRPr sz="2000">
              <a:latin typeface="Arial"/>
              <a:cs typeface="Arial"/>
            </a:endParaRPr>
          </a:p>
          <a:p>
            <a:pPr marL="429895" indent="-286385">
              <a:lnSpc>
                <a:spcPct val="100000"/>
              </a:lnSpc>
              <a:spcBef>
                <a:spcPts val="6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43053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 action of Flush is to guarantee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that:</a:t>
            </a:r>
            <a:endParaRPr sz="2400">
              <a:latin typeface="Arial"/>
              <a:cs typeface="Arial"/>
            </a:endParaRPr>
          </a:p>
          <a:p>
            <a:pPr marL="1287145" marR="5080" indent="-228600">
              <a:lnSpc>
                <a:spcPts val="2240"/>
              </a:lnSpc>
              <a:spcBef>
                <a:spcPts val="770"/>
              </a:spcBef>
              <a:buClr>
                <a:srgbClr val="F5C300"/>
              </a:buClr>
              <a:buFont typeface="Arial"/>
              <a:buChar char="–"/>
              <a:tabLst>
                <a:tab pos="1287780" algn="l"/>
              </a:tabLst>
            </a:pP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All R,W ops that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overlap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the flush set and occur prior to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the 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flush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complete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before the flush</a:t>
            </a:r>
            <a:r>
              <a:rPr sz="2000" b="1" spc="3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executes</a:t>
            </a:r>
            <a:endParaRPr sz="2000">
              <a:latin typeface="Arial"/>
              <a:cs typeface="Arial"/>
            </a:endParaRPr>
          </a:p>
          <a:p>
            <a:pPr marL="1287145" marR="343535" indent="-228600">
              <a:lnSpc>
                <a:spcPts val="2240"/>
              </a:lnSpc>
              <a:spcBef>
                <a:spcPts val="720"/>
              </a:spcBef>
              <a:buClr>
                <a:srgbClr val="F5C300"/>
              </a:buClr>
              <a:buFont typeface="Arial"/>
              <a:buChar char="–"/>
              <a:tabLst>
                <a:tab pos="1287780" algn="l"/>
              </a:tabLst>
            </a:pP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All R,W ops that overlap the flush set and occur after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the 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flush don’t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execute </a:t>
            </a: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until after the</a:t>
            </a:r>
            <a:r>
              <a:rPr sz="2000" b="1" spc="2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flush.</a:t>
            </a:r>
            <a:endParaRPr sz="2000">
              <a:latin typeface="Arial"/>
              <a:cs typeface="Arial"/>
            </a:endParaRPr>
          </a:p>
          <a:p>
            <a:pPr marL="1287145" indent="-229235">
              <a:lnSpc>
                <a:spcPct val="100000"/>
              </a:lnSpc>
              <a:spcBef>
                <a:spcPts val="515"/>
              </a:spcBef>
              <a:buClr>
                <a:srgbClr val="F5C300"/>
              </a:buClr>
              <a:buFont typeface="Arial"/>
              <a:buChar char="–"/>
              <a:tabLst>
                <a:tab pos="1287780" algn="l"/>
              </a:tabLst>
            </a:pPr>
            <a:r>
              <a:rPr sz="2000" b="1" spc="-5" dirty="0">
                <a:solidFill>
                  <a:srgbClr val="FFFF65"/>
                </a:solidFill>
                <a:latin typeface="Arial"/>
                <a:cs typeface="Arial"/>
              </a:rPr>
              <a:t>Flushes with overlapping flush sets can not be</a:t>
            </a:r>
            <a:r>
              <a:rPr sz="2000" b="1" spc="70" dirty="0">
                <a:solidFill>
                  <a:srgbClr val="FFFF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65"/>
                </a:solidFill>
                <a:latin typeface="Arial"/>
                <a:cs typeface="Arial"/>
              </a:rPr>
              <a:t>reordered.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056890" algn="l"/>
              </a:tabLst>
            </a:pPr>
            <a:r>
              <a:rPr sz="2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Memory ops: R</a:t>
            </a:r>
            <a:r>
              <a:rPr sz="20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=</a:t>
            </a:r>
            <a:r>
              <a:rPr sz="20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Read,	W = write, S =</a:t>
            </a:r>
            <a:r>
              <a:rPr sz="20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synchronization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12723"/>
            <a:ext cx="7091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What is the </a:t>
            </a:r>
            <a:r>
              <a:rPr sz="3600" spc="-5" dirty="0"/>
              <a:t>Big Deal </a:t>
            </a:r>
            <a:r>
              <a:rPr sz="3600" dirty="0"/>
              <a:t>with</a:t>
            </a:r>
            <a:r>
              <a:rPr sz="3600" spc="-80" dirty="0"/>
              <a:t> </a:t>
            </a:r>
            <a:r>
              <a:rPr sz="3600" dirty="0"/>
              <a:t>Flush?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51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9319" y="1591309"/>
            <a:ext cx="8216265" cy="4196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 marR="5080" indent="-285750">
              <a:lnSpc>
                <a:spcPts val="2700"/>
              </a:lnSpc>
              <a:spcBef>
                <a:spcPts val="34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Compilers routinely reorder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instructions implementing  a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2400">
              <a:latin typeface="Arial"/>
              <a:cs typeface="Arial"/>
            </a:endParaRPr>
          </a:p>
          <a:p>
            <a:pPr marL="698500" marR="363220" lvl="1" indent="-228600">
              <a:lnSpc>
                <a:spcPts val="2250"/>
              </a:lnSpc>
              <a:spcBef>
                <a:spcPts val="72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This helps better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exploit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functional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units, keep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machine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busy, hide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memory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latencies,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62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Compiler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generally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cannot move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instructions:</a:t>
            </a:r>
            <a:endParaRPr sz="24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90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past a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barrier</a:t>
            </a:r>
            <a:endParaRPr sz="20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past a flush on all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variables</a:t>
            </a:r>
            <a:endParaRPr sz="2000">
              <a:latin typeface="Arial"/>
              <a:cs typeface="Arial"/>
            </a:endParaRPr>
          </a:p>
          <a:p>
            <a:pPr marL="298450" marR="139700" indent="-285750">
              <a:lnSpc>
                <a:spcPts val="2700"/>
              </a:lnSpc>
              <a:spcBef>
                <a:spcPts val="9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But it can move them past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flush with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list of  variables so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long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as those variables are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accessed</a:t>
            </a:r>
            <a:endParaRPr sz="2400">
              <a:latin typeface="Arial"/>
              <a:cs typeface="Arial"/>
            </a:endParaRPr>
          </a:p>
          <a:p>
            <a:pPr marL="298450" marR="229870" indent="-285750">
              <a:lnSpc>
                <a:spcPts val="2700"/>
              </a:lnSpc>
              <a:spcBef>
                <a:spcPts val="85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Keeping track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consistency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flushes are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used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can be confusing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…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especially if “flush(list)” is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used.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8700" y="6027420"/>
            <a:ext cx="7555230" cy="10198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242570" marR="234950" algn="ctr">
              <a:lnSpc>
                <a:spcPct val="100000"/>
              </a:lnSpc>
              <a:spcBef>
                <a:spcPts val="400"/>
              </a:spcBef>
            </a:pPr>
            <a:r>
              <a:rPr sz="2000" b="1" spc="-5" dirty="0">
                <a:latin typeface="Tahoma"/>
                <a:cs typeface="Tahoma"/>
              </a:rPr>
              <a:t>Note: the flush operation does </a:t>
            </a:r>
            <a:r>
              <a:rPr sz="2000" b="1" dirty="0">
                <a:latin typeface="Tahoma"/>
                <a:cs typeface="Tahoma"/>
              </a:rPr>
              <a:t>not actually </a:t>
            </a:r>
            <a:r>
              <a:rPr sz="2000" b="1" spc="-5" dirty="0">
                <a:latin typeface="Tahoma"/>
                <a:cs typeface="Tahoma"/>
              </a:rPr>
              <a:t>synchronize  different </a:t>
            </a:r>
            <a:r>
              <a:rPr sz="2000" b="1" dirty="0">
                <a:latin typeface="Tahoma"/>
                <a:cs typeface="Tahoma"/>
              </a:rPr>
              <a:t>threads. </a:t>
            </a:r>
            <a:r>
              <a:rPr sz="2000" b="1" spc="-5" dirty="0">
                <a:latin typeface="Tahoma"/>
                <a:cs typeface="Tahoma"/>
              </a:rPr>
              <a:t>It just ensures </a:t>
            </a:r>
            <a:r>
              <a:rPr sz="2000" b="1" dirty="0">
                <a:latin typeface="Tahoma"/>
                <a:cs typeface="Tahoma"/>
              </a:rPr>
              <a:t>that </a:t>
            </a:r>
            <a:r>
              <a:rPr sz="2000" b="1" spc="-5" dirty="0">
                <a:latin typeface="Tahoma"/>
                <a:cs typeface="Tahoma"/>
              </a:rPr>
              <a:t>a thread</a:t>
            </a:r>
            <a:r>
              <a:rPr sz="2000" b="1" spc="-5" dirty="0">
                <a:latin typeface="Arial"/>
                <a:cs typeface="Arial"/>
              </a:rPr>
              <a:t>’</a:t>
            </a:r>
            <a:r>
              <a:rPr sz="2000" b="1" spc="-5" dirty="0">
                <a:latin typeface="Tahoma"/>
                <a:cs typeface="Tahoma"/>
              </a:rPr>
              <a:t>s values  are made consistent with main</a:t>
            </a:r>
            <a:r>
              <a:rPr sz="2000" b="1" spc="3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memory.</a:t>
            </a:r>
            <a:endParaRPr sz="2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94915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76733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Synchronization: flush</a:t>
            </a:r>
            <a:r>
              <a:rPr spc="-5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81453"/>
            <a:ext cx="7827009" cy="7340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 marR="5080" indent="-285750">
              <a:lnSpc>
                <a:spcPts val="2700"/>
              </a:lnSpc>
              <a:spcBef>
                <a:spcPts val="34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Flush forces data to be updated in memory so other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threads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see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most recent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053" y="3073145"/>
            <a:ext cx="7772400" cy="1918335"/>
          </a:xfrm>
          <a:prstGeom prst="rect">
            <a:avLst/>
          </a:prstGeom>
          <a:solidFill>
            <a:srgbClr val="001B72"/>
          </a:solidFill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double A;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43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= compute();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425"/>
              </a:spcBef>
              <a:tabLst>
                <a:tab pos="1488440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flush(A);	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//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flush to memory to make sure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  <a:p>
            <a:pPr marL="1463675">
              <a:lnSpc>
                <a:spcPct val="100000"/>
              </a:lnSpc>
              <a:tabLst>
                <a:tab pos="1785620" algn="l"/>
              </a:tabLst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//	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threads can pick up the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right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0566" y="5272194"/>
            <a:ext cx="6969125" cy="706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50"/>
              </a:lnSpc>
            </a:pPr>
            <a:r>
              <a:rPr sz="2400" b="1" spc="-5" dirty="0">
                <a:latin typeface="Arial"/>
                <a:cs typeface="Arial"/>
              </a:rPr>
              <a:t>Note: OpenMP’s flush is analogous to </a:t>
            </a:r>
            <a:r>
              <a:rPr sz="2400" b="1" dirty="0">
                <a:latin typeface="Arial"/>
                <a:cs typeface="Arial"/>
              </a:rPr>
              <a:t>a </a:t>
            </a:r>
            <a:r>
              <a:rPr sz="2400" b="1" spc="-5" dirty="0">
                <a:latin typeface="Arial"/>
                <a:cs typeface="Arial"/>
              </a:rPr>
              <a:t>fence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1905" algn="ctr">
              <a:lnSpc>
                <a:spcPts val="2875"/>
              </a:lnSpc>
            </a:pPr>
            <a:r>
              <a:rPr sz="2400" b="1" dirty="0">
                <a:latin typeface="Arial"/>
                <a:cs typeface="Arial"/>
              </a:rPr>
              <a:t>other </a:t>
            </a:r>
            <a:r>
              <a:rPr sz="2400" b="1" spc="-5" dirty="0">
                <a:latin typeface="Arial"/>
                <a:cs typeface="Arial"/>
              </a:rPr>
              <a:t>shared memory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API’s.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41653" y="5130546"/>
            <a:ext cx="7772400" cy="899160"/>
            <a:chOff x="1041653" y="5130546"/>
            <a:chExt cx="7772400" cy="899160"/>
          </a:xfrm>
        </p:grpSpPr>
        <p:sp>
          <p:nvSpPr>
            <p:cNvPr id="7" name="object 7"/>
            <p:cNvSpPr/>
            <p:nvPr/>
          </p:nvSpPr>
          <p:spPr>
            <a:xfrm>
              <a:off x="1117854" y="5206746"/>
              <a:ext cx="7696200" cy="823594"/>
            </a:xfrm>
            <a:custGeom>
              <a:avLst/>
              <a:gdLst/>
              <a:ahLst/>
              <a:cxnLst/>
              <a:rect l="l" t="t" r="r" b="b"/>
              <a:pathLst>
                <a:path w="7696200" h="823595">
                  <a:moveTo>
                    <a:pt x="7696200" y="0"/>
                  </a:moveTo>
                  <a:lnTo>
                    <a:pt x="0" y="0"/>
                  </a:lnTo>
                  <a:lnTo>
                    <a:pt x="0" y="746772"/>
                  </a:lnTo>
                  <a:lnTo>
                    <a:pt x="0" y="822972"/>
                  </a:lnTo>
                  <a:lnTo>
                    <a:pt x="7696200" y="822972"/>
                  </a:lnTo>
                  <a:lnTo>
                    <a:pt x="7696200" y="746772"/>
                  </a:lnTo>
                  <a:lnTo>
                    <a:pt x="769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41653" y="5130546"/>
              <a:ext cx="7696200" cy="822960"/>
            </a:xfrm>
            <a:custGeom>
              <a:avLst/>
              <a:gdLst/>
              <a:ahLst/>
              <a:cxnLst/>
              <a:rect l="l" t="t" r="r" b="b"/>
              <a:pathLst>
                <a:path w="7696200" h="822960">
                  <a:moveTo>
                    <a:pt x="7696200" y="822960"/>
                  </a:moveTo>
                  <a:lnTo>
                    <a:pt x="7696200" y="0"/>
                  </a:lnTo>
                  <a:lnTo>
                    <a:pt x="0" y="0"/>
                  </a:lnTo>
                  <a:lnTo>
                    <a:pt x="0" y="822960"/>
                  </a:lnTo>
                  <a:lnTo>
                    <a:pt x="7696200" y="822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17853" y="5154421"/>
            <a:ext cx="76200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7520" marR="356870" indent="-146177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Note: OpenMP’s flush is analogous to </a:t>
            </a:r>
            <a:r>
              <a:rPr sz="2400" b="1" dirty="0">
                <a:latin typeface="Arial"/>
                <a:cs typeface="Arial"/>
              </a:rPr>
              <a:t>a </a:t>
            </a:r>
            <a:r>
              <a:rPr sz="2400" b="1" spc="-5" dirty="0">
                <a:latin typeface="Arial"/>
                <a:cs typeface="Arial"/>
              </a:rPr>
              <a:t>fence in  </a:t>
            </a:r>
            <a:r>
              <a:rPr sz="2400" b="1" dirty="0">
                <a:latin typeface="Arial"/>
                <a:cs typeface="Arial"/>
              </a:rPr>
              <a:t>other </a:t>
            </a:r>
            <a:r>
              <a:rPr sz="2400" b="1" spc="-5" dirty="0">
                <a:latin typeface="Arial"/>
                <a:cs typeface="Arial"/>
              </a:rPr>
              <a:t>shared memory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API’s.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52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76231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Exercise 7: </a:t>
            </a:r>
            <a:r>
              <a:rPr dirty="0"/>
              <a:t>producer</a:t>
            </a:r>
            <a:r>
              <a:rPr spc="-50" dirty="0"/>
              <a:t> </a:t>
            </a:r>
            <a:r>
              <a:rPr spc="-5" dirty="0"/>
              <a:t>consumer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53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797" y="1875840"/>
            <a:ext cx="7669530" cy="397446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Parallelize the “prod_cons.c”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program.</a:t>
            </a:r>
            <a:endParaRPr sz="2800">
              <a:latin typeface="Arial"/>
              <a:cs typeface="Arial"/>
            </a:endParaRPr>
          </a:p>
          <a:p>
            <a:pPr marL="298450" marR="897890" indent="-285750">
              <a:lnSpc>
                <a:spcPts val="3120"/>
              </a:lnSpc>
              <a:spcBef>
                <a:spcPts val="10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This is a well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known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pattern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called the 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producer consumer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pattern</a:t>
            </a:r>
            <a:endParaRPr sz="2800">
              <a:latin typeface="Arial"/>
              <a:cs typeface="Arial"/>
            </a:endParaRPr>
          </a:p>
          <a:p>
            <a:pPr marL="698500" marR="5080" indent="-228600">
              <a:lnSpc>
                <a:spcPts val="2680"/>
              </a:lnSpc>
              <a:spcBef>
                <a:spcPts val="850"/>
              </a:spcBef>
            </a:pPr>
            <a:r>
              <a:rPr sz="1800" spc="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5" dirty="0">
                <a:solidFill>
                  <a:srgbClr val="FFFFFF"/>
                </a:solidFill>
                <a:latin typeface="Arial"/>
                <a:cs typeface="Arial"/>
              </a:rPr>
              <a:t>One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thread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produces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values that another thread  consumes.</a:t>
            </a:r>
            <a:endParaRPr sz="2400">
              <a:latin typeface="Arial"/>
              <a:cs typeface="Arial"/>
            </a:endParaRPr>
          </a:p>
          <a:p>
            <a:pPr marL="698500" marR="92710" indent="-228600">
              <a:lnSpc>
                <a:spcPts val="2680"/>
              </a:lnSpc>
              <a:spcBef>
                <a:spcPts val="85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Often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used with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stream of produced values to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implement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“pipeline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parallelism”</a:t>
            </a:r>
            <a:endParaRPr sz="2400">
              <a:latin typeface="Arial"/>
              <a:cs typeface="Arial"/>
            </a:endParaRPr>
          </a:p>
          <a:p>
            <a:pPr marL="298450" marR="1625600" indent="-285750">
              <a:lnSpc>
                <a:spcPts val="3130"/>
              </a:lnSpc>
              <a:spcBef>
                <a:spcPts val="1019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key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implement pairwise  synchronization between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58724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7180" algn="l"/>
              </a:tabLst>
            </a:pPr>
            <a:r>
              <a:rPr spc="-5" dirty="0"/>
              <a:t>Exercise</a:t>
            </a:r>
            <a:r>
              <a:rPr spc="5" dirty="0"/>
              <a:t> </a:t>
            </a:r>
            <a:r>
              <a:rPr spc="-5" dirty="0"/>
              <a:t>7:	prod_cons.c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35733"/>
            <a:ext cx="3164840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int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main()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  <a:spcBef>
                <a:spcPts val="7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double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*A, sum,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runtime;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3769" y="2564364"/>
            <a:ext cx="13684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int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flag =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779" y="3193020"/>
            <a:ext cx="4726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 = (double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*)malloc(N*sizeof(double));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797" y="3821675"/>
            <a:ext cx="6953884" cy="3158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runtime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omp_get_wtime();</a:t>
            </a:r>
            <a:endParaRPr sz="2000">
              <a:latin typeface="Arial"/>
              <a:cs typeface="Arial"/>
            </a:endParaRPr>
          </a:p>
          <a:p>
            <a:pPr marL="152400" marR="488950">
              <a:lnSpc>
                <a:spcPts val="4950"/>
              </a:lnSpc>
              <a:spcBef>
                <a:spcPts val="590"/>
              </a:spcBef>
              <a:tabLst>
                <a:tab pos="2454910" algn="l"/>
                <a:tab pos="3174365" algn="l"/>
              </a:tabLst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fill_rand(N,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A);	//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Producer: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fill an array 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data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sum =</a:t>
            </a:r>
            <a:r>
              <a:rPr sz="20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Sum_array(N,</a:t>
            </a: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A);	//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Consumer: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sum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array  runtime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= omp_get_wtime() -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runtime;</a:t>
            </a:r>
            <a:endParaRPr sz="200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  <a:spcBef>
                <a:spcPts val="1960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printf("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 %lf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seconds,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sum is %lf</a:t>
            </a:r>
            <a:r>
              <a:rPr sz="20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\n",runtime,sum);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8854" y="6959345"/>
            <a:ext cx="152400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664702" y="6902504"/>
            <a:ext cx="2730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54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1042" y="6885685"/>
            <a:ext cx="321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147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6950" y="787399"/>
            <a:ext cx="76231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Exercise 7: </a:t>
            </a:r>
            <a:r>
              <a:rPr dirty="0"/>
              <a:t>producer</a:t>
            </a:r>
            <a:r>
              <a:rPr spc="-50" dirty="0"/>
              <a:t> </a:t>
            </a:r>
            <a:r>
              <a:rPr spc="-5" dirty="0"/>
              <a:t>consumer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5152" y="1565147"/>
            <a:ext cx="4841875" cy="5560060"/>
          </a:xfrm>
          <a:prstGeom prst="rect">
            <a:avLst/>
          </a:prstGeom>
          <a:solidFill>
            <a:srgbClr val="001E7E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int main()</a:t>
            </a:r>
            <a:endParaRPr sz="1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4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289560" marR="148590">
              <a:lnSpc>
                <a:spcPct val="102499"/>
              </a:lnSpc>
              <a:spcBef>
                <a:spcPts val="5"/>
              </a:spcBef>
              <a:tabLst>
                <a:tab pos="2633980" algn="l"/>
              </a:tabLst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double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*A,</a:t>
            </a:r>
            <a:r>
              <a:rPr sz="14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sum,</a:t>
            </a:r>
            <a:r>
              <a:rPr sz="14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runtime;	int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numthreads, flag =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0;  A =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(double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*)malloc(N*sizeof(double));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endParaRPr sz="14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5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436245">
              <a:lnSpc>
                <a:spcPct val="100000"/>
              </a:lnSpc>
              <a:spcBef>
                <a:spcPts val="4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endParaRPr sz="1400">
              <a:latin typeface="Arial"/>
              <a:cs typeface="Arial"/>
            </a:endParaRPr>
          </a:p>
          <a:p>
            <a:pPr marL="486409">
              <a:lnSpc>
                <a:spcPct val="100000"/>
              </a:lnSpc>
              <a:spcBef>
                <a:spcPts val="5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633730">
              <a:lnSpc>
                <a:spcPct val="100000"/>
              </a:lnSpc>
              <a:spcBef>
                <a:spcPts val="4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fill_rand(N,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A);</a:t>
            </a:r>
            <a:endParaRPr sz="1400">
              <a:latin typeface="Arial"/>
              <a:cs typeface="Arial"/>
            </a:endParaRPr>
          </a:p>
          <a:p>
            <a:pPr marL="633730" marR="2564130">
              <a:lnSpc>
                <a:spcPct val="102499"/>
              </a:lnSpc>
              <a:spcBef>
                <a:spcPts val="1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flush 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flag =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1;</a:t>
            </a:r>
            <a:endParaRPr sz="1400">
              <a:latin typeface="Arial"/>
              <a:cs typeface="Arial"/>
            </a:endParaRPr>
          </a:p>
          <a:p>
            <a:pPr marL="633730">
              <a:lnSpc>
                <a:spcPct val="100000"/>
              </a:lnSpc>
              <a:spcBef>
                <a:spcPts val="4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flush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(flag)</a:t>
            </a:r>
            <a:endParaRPr sz="1400">
              <a:latin typeface="Arial"/>
              <a:cs typeface="Arial"/>
            </a:endParaRPr>
          </a:p>
          <a:p>
            <a:pPr marL="486409">
              <a:lnSpc>
                <a:spcPct val="100000"/>
              </a:lnSpc>
              <a:spcBef>
                <a:spcPts val="4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485775">
              <a:lnSpc>
                <a:spcPct val="100000"/>
              </a:lnSpc>
              <a:spcBef>
                <a:spcPts val="4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endParaRPr sz="1400">
              <a:latin typeface="Arial"/>
              <a:cs typeface="Arial"/>
            </a:endParaRPr>
          </a:p>
          <a:p>
            <a:pPr marL="486409">
              <a:lnSpc>
                <a:spcPct val="100000"/>
              </a:lnSpc>
              <a:spcBef>
                <a:spcPts val="4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633730" marR="2084705">
              <a:lnSpc>
                <a:spcPct val="102499"/>
              </a:lnSpc>
              <a:spcBef>
                <a:spcPts val="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flush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(flag) 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while (flag !=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1){</a:t>
            </a:r>
            <a:endParaRPr sz="1400">
              <a:latin typeface="Arial"/>
              <a:cs typeface="Arial"/>
            </a:endParaRPr>
          </a:p>
          <a:p>
            <a:pPr marL="880110">
              <a:lnSpc>
                <a:spcPct val="100000"/>
              </a:lnSpc>
              <a:spcBef>
                <a:spcPts val="4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flush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(flag)</a:t>
            </a:r>
            <a:endParaRPr sz="1400">
              <a:latin typeface="Arial"/>
              <a:cs typeface="Arial"/>
            </a:endParaRPr>
          </a:p>
          <a:p>
            <a:pPr marL="633730">
              <a:lnSpc>
                <a:spcPct val="100000"/>
              </a:lnSpc>
              <a:spcBef>
                <a:spcPts val="4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633730" marR="2182495">
              <a:lnSpc>
                <a:spcPct val="102499"/>
              </a:lnSpc>
              <a:spcBef>
                <a:spcPts val="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#pragma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omp flush  sum = Sum_array(N,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A);</a:t>
            </a:r>
            <a:endParaRPr sz="1400">
              <a:latin typeface="Arial"/>
              <a:cs typeface="Arial"/>
            </a:endParaRPr>
          </a:p>
          <a:p>
            <a:pPr marL="486409">
              <a:lnSpc>
                <a:spcPct val="100000"/>
              </a:lnSpc>
              <a:spcBef>
                <a:spcPts val="5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388620">
              <a:lnSpc>
                <a:spcPct val="100000"/>
              </a:lnSpc>
              <a:spcBef>
                <a:spcPts val="4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0600" y="2667000"/>
            <a:ext cx="3937635" cy="654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97790" marR="685165">
              <a:lnSpc>
                <a:spcPct val="100000"/>
              </a:lnSpc>
              <a:spcBef>
                <a:spcPts val="395"/>
              </a:spcBef>
            </a:pPr>
            <a:r>
              <a:rPr sz="1800" b="1" spc="-5" dirty="0">
                <a:latin typeface="Tahoma"/>
                <a:cs typeface="Tahoma"/>
              </a:rPr>
              <a:t>Use flag to Signal when </a:t>
            </a:r>
            <a:r>
              <a:rPr sz="1800" b="1" dirty="0">
                <a:latin typeface="Tahoma"/>
                <a:cs typeface="Tahoma"/>
              </a:rPr>
              <a:t>the  </a:t>
            </a:r>
            <a:r>
              <a:rPr sz="1800" b="1" spc="-5" dirty="0">
                <a:latin typeface="Tahoma"/>
                <a:cs typeface="Tahoma"/>
              </a:rPr>
              <a:t>“produced” </a:t>
            </a:r>
            <a:r>
              <a:rPr sz="1800" b="1" dirty="0">
                <a:latin typeface="Tahoma"/>
                <a:cs typeface="Tahoma"/>
              </a:rPr>
              <a:t>value is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ready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0600" y="3505200"/>
            <a:ext cx="3937635" cy="9290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97790" marR="178435">
              <a:lnSpc>
                <a:spcPct val="100000"/>
              </a:lnSpc>
              <a:spcBef>
                <a:spcPts val="395"/>
              </a:spcBef>
            </a:pPr>
            <a:r>
              <a:rPr sz="1800" b="1" spc="-5" dirty="0">
                <a:latin typeface="Tahoma"/>
                <a:cs typeface="Tahoma"/>
              </a:rPr>
              <a:t>Flush forces refresh to </a:t>
            </a:r>
            <a:r>
              <a:rPr sz="1800" b="1" dirty="0">
                <a:latin typeface="Tahoma"/>
                <a:cs typeface="Tahoma"/>
              </a:rPr>
              <a:t>memory.  </a:t>
            </a:r>
            <a:r>
              <a:rPr sz="1800" b="1" spc="-5" dirty="0">
                <a:latin typeface="Tahoma"/>
                <a:cs typeface="Tahoma"/>
              </a:rPr>
              <a:t>Guarantees </a:t>
            </a:r>
            <a:r>
              <a:rPr sz="1800" b="1" dirty="0">
                <a:latin typeface="Tahoma"/>
                <a:cs typeface="Tahoma"/>
              </a:rPr>
              <a:t>that the </a:t>
            </a:r>
            <a:r>
              <a:rPr sz="1800" b="1" spc="-10" dirty="0">
                <a:latin typeface="Tahoma"/>
                <a:cs typeface="Tahoma"/>
              </a:rPr>
              <a:t>other  </a:t>
            </a:r>
            <a:r>
              <a:rPr sz="1800" b="1" spc="-5" dirty="0">
                <a:latin typeface="Tahoma"/>
                <a:cs typeface="Tahoma"/>
              </a:rPr>
              <a:t>thread </a:t>
            </a:r>
            <a:r>
              <a:rPr sz="1800" b="1" dirty="0">
                <a:latin typeface="Tahoma"/>
                <a:cs typeface="Tahoma"/>
              </a:rPr>
              <a:t>sees the new value </a:t>
            </a:r>
            <a:r>
              <a:rPr sz="1800" b="1" spc="-5" dirty="0">
                <a:latin typeface="Tahoma"/>
                <a:cs typeface="Tahoma"/>
              </a:rPr>
              <a:t>of</a:t>
            </a:r>
            <a:r>
              <a:rPr sz="1800" b="1" spc="-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7753" y="5587746"/>
            <a:ext cx="5194300" cy="9290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7790" marR="375285">
              <a:lnSpc>
                <a:spcPct val="100000"/>
              </a:lnSpc>
              <a:spcBef>
                <a:spcPts val="400"/>
              </a:spcBef>
            </a:pPr>
            <a:r>
              <a:rPr sz="1800" b="1" spc="-5" dirty="0">
                <a:latin typeface="Tahoma"/>
                <a:cs typeface="Tahoma"/>
              </a:rPr>
              <a:t>Notice you </a:t>
            </a:r>
            <a:r>
              <a:rPr sz="1800" b="1" dirty="0">
                <a:latin typeface="Tahoma"/>
                <a:cs typeface="Tahoma"/>
              </a:rPr>
              <a:t>must </a:t>
            </a:r>
            <a:r>
              <a:rPr sz="1800" b="1" spc="-5" dirty="0">
                <a:latin typeface="Tahoma"/>
                <a:cs typeface="Tahoma"/>
              </a:rPr>
              <a:t>put </a:t>
            </a:r>
            <a:r>
              <a:rPr sz="1800" b="1" dirty="0">
                <a:latin typeface="Tahoma"/>
                <a:cs typeface="Tahoma"/>
              </a:rPr>
              <a:t>the </a:t>
            </a:r>
            <a:r>
              <a:rPr sz="1800" b="1" spc="-5" dirty="0">
                <a:latin typeface="Tahoma"/>
                <a:cs typeface="Tahoma"/>
              </a:rPr>
              <a:t>flush inside </a:t>
            </a:r>
            <a:r>
              <a:rPr sz="1800" b="1" dirty="0">
                <a:latin typeface="Tahoma"/>
                <a:cs typeface="Tahoma"/>
              </a:rPr>
              <a:t>the  while </a:t>
            </a:r>
            <a:r>
              <a:rPr sz="1800" b="1" spc="-5" dirty="0">
                <a:latin typeface="Tahoma"/>
                <a:cs typeface="Tahoma"/>
              </a:rPr>
              <a:t>loop to </a:t>
            </a:r>
            <a:r>
              <a:rPr sz="1800" b="1" dirty="0">
                <a:latin typeface="Tahoma"/>
                <a:cs typeface="Tahoma"/>
              </a:rPr>
              <a:t>make sure the </a:t>
            </a:r>
            <a:r>
              <a:rPr sz="1800" b="1" spc="-5" dirty="0">
                <a:latin typeface="Tahoma"/>
                <a:cs typeface="Tahoma"/>
              </a:rPr>
              <a:t>updated flag  variable is</a:t>
            </a:r>
            <a:r>
              <a:rPr sz="1800" b="1" spc="-1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seen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6146" y="4737353"/>
            <a:ext cx="4914900" cy="654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98425" marR="662940">
              <a:lnSpc>
                <a:spcPct val="100000"/>
              </a:lnSpc>
              <a:spcBef>
                <a:spcPts val="395"/>
              </a:spcBef>
            </a:pPr>
            <a:r>
              <a:rPr sz="1800" b="1" spc="-5" dirty="0">
                <a:latin typeface="Tahoma"/>
                <a:cs typeface="Tahoma"/>
              </a:rPr>
              <a:t>Flush needed on both “reader” and  “writer” sides of the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communication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56954" y="6985254"/>
            <a:ext cx="190500" cy="164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9667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14662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74595"/>
            <a:ext cx="7924165" cy="3452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Adding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tasking is the biggest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addition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3.0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5C300"/>
              </a:buClr>
              <a:buFont typeface="Wingdings"/>
              <a:buChar char=""/>
            </a:pPr>
            <a:endParaRPr sz="42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Worked on by a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separate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subcommittee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led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by Jay Hoeflinger at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Intel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81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Re-examined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issue from ground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quite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different from Intel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taskq’s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68084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 task</a:t>
            </a:r>
            <a:r>
              <a:rPr spc="-70" dirty="0"/>
              <a:t> </a:t>
            </a:r>
            <a:r>
              <a:rPr spc="-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877092"/>
            <a:ext cx="8252459" cy="434086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task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5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7556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Code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execute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5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7556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data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environment (it </a:t>
            </a:r>
            <a:r>
              <a:rPr sz="2400" b="1" i="1" spc="-5" dirty="0">
                <a:solidFill>
                  <a:srgbClr val="FFFFFF"/>
                </a:solidFill>
                <a:latin typeface="Arial"/>
                <a:cs typeface="Arial"/>
              </a:rPr>
              <a:t>owns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data)</a:t>
            </a:r>
            <a:endParaRPr sz="2400">
              <a:latin typeface="Arial"/>
              <a:cs typeface="Arial"/>
            </a:endParaRPr>
          </a:p>
          <a:p>
            <a:pPr marL="755650" marR="666750" lvl="1" indent="-285750">
              <a:lnSpc>
                <a:spcPts val="2680"/>
              </a:lnSpc>
              <a:spcBef>
                <a:spcPts val="91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7556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An assigned thread that executes the code and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uses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Two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activities: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packaging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execution</a:t>
            </a:r>
            <a:endParaRPr sz="2800">
              <a:latin typeface="Arial"/>
              <a:cs typeface="Arial"/>
            </a:endParaRPr>
          </a:p>
          <a:p>
            <a:pPr marL="755650" marR="5080" lvl="1" indent="-285750">
              <a:lnSpc>
                <a:spcPts val="2680"/>
              </a:lnSpc>
              <a:spcBef>
                <a:spcPts val="91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7556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Each encountering thread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packages a new instance  of 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 (code and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data)</a:t>
            </a:r>
            <a:endParaRPr sz="2400">
              <a:latin typeface="Arial"/>
              <a:cs typeface="Arial"/>
            </a:endParaRPr>
          </a:p>
          <a:p>
            <a:pPr marL="755650" marR="87630" lvl="1" indent="-285750">
              <a:lnSpc>
                <a:spcPts val="2680"/>
              </a:lnSpc>
              <a:spcBef>
                <a:spcPts val="850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7556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Some thread in the team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executes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the task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some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later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26498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50974"/>
            <a:ext cx="8347075" cy="35115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97815" marR="5080" indent="-285750">
              <a:lnSpc>
                <a:spcPts val="3310"/>
              </a:lnSpc>
              <a:spcBef>
                <a:spcPts val="254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i="1" dirty="0">
                <a:solidFill>
                  <a:srgbClr val="FFFF65"/>
                </a:solidFill>
                <a:latin typeface="Arial"/>
                <a:cs typeface="Arial"/>
              </a:rPr>
              <a:t>Task construct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800" b="1" spc="-10" dirty="0">
                <a:solidFill>
                  <a:srgbClr val="FFFFFF"/>
                </a:solidFill>
                <a:latin typeface="Courier New"/>
                <a:cs typeface="Courier New"/>
              </a:rPr>
              <a:t>task</a:t>
            </a:r>
            <a:r>
              <a:rPr sz="2800" b="1" spc="-9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directive plus structured  block</a:t>
            </a:r>
            <a:endParaRPr sz="2800">
              <a:latin typeface="Arial"/>
              <a:cs typeface="Arial"/>
            </a:endParaRPr>
          </a:p>
          <a:p>
            <a:pPr marL="297815" marR="539115" indent="-285750">
              <a:lnSpc>
                <a:spcPts val="3130"/>
              </a:lnSpc>
              <a:spcBef>
                <a:spcPts val="96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i="1" dirty="0">
                <a:solidFill>
                  <a:srgbClr val="FFFF65"/>
                </a:solidFill>
                <a:latin typeface="Arial"/>
                <a:cs typeface="Arial"/>
              </a:rPr>
              <a:t>Task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package of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code and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instructions  for allocating data created when a thread  encounters a task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construct</a:t>
            </a:r>
            <a:endParaRPr sz="2800">
              <a:latin typeface="Arial"/>
              <a:cs typeface="Arial"/>
            </a:endParaRPr>
          </a:p>
          <a:p>
            <a:pPr marL="298450" marR="639445" indent="-285750">
              <a:lnSpc>
                <a:spcPct val="92900"/>
              </a:lnSpc>
              <a:spcBef>
                <a:spcPts val="944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i="1" dirty="0">
                <a:solidFill>
                  <a:srgbClr val="FFFF65"/>
                </a:solidFill>
                <a:latin typeface="Arial"/>
                <a:cs typeface="Arial"/>
              </a:rPr>
              <a:t>Task region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– the dynamic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sequence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of  instructions produced by the execution of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  task by a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96543"/>
            <a:ext cx="47110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Tasks and</a:t>
            </a:r>
            <a:r>
              <a:rPr spc="-80" dirty="0"/>
              <a:t> </a:t>
            </a:r>
            <a:r>
              <a:rPr spc="-5" dirty="0"/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681988"/>
            <a:ext cx="8338184" cy="49911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Tasks have been fully integrated into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OpenMP</a:t>
            </a:r>
            <a:endParaRPr sz="2400">
              <a:latin typeface="Arial"/>
              <a:cs typeface="Arial"/>
            </a:endParaRPr>
          </a:p>
          <a:p>
            <a:pPr marL="298450" marR="412115" indent="-285750">
              <a:lnSpc>
                <a:spcPct val="79800"/>
              </a:lnSpc>
              <a:spcBef>
                <a:spcPts val="86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Key concept: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OpenMP has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always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had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tasks,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we just  never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called them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that.</a:t>
            </a:r>
            <a:endParaRPr sz="2400">
              <a:latin typeface="Arial"/>
              <a:cs typeface="Arial"/>
            </a:endParaRPr>
          </a:p>
          <a:p>
            <a:pPr marL="697865" marR="110489" indent="-228600">
              <a:lnSpc>
                <a:spcPts val="2440"/>
              </a:lnSpc>
              <a:spcBef>
                <a:spcPts val="59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Thread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encountering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parallel</a:t>
            </a:r>
            <a:r>
              <a:rPr sz="2400" b="1" spc="-8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construct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packages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up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set of </a:t>
            </a:r>
            <a:r>
              <a:rPr sz="2400" b="1" i="1" spc="-5" dirty="0">
                <a:solidFill>
                  <a:srgbClr val="FFFFFF"/>
                </a:solidFill>
                <a:latin typeface="Arial"/>
                <a:cs typeface="Arial"/>
              </a:rPr>
              <a:t>implicit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tasks,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one per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thread.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Team of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threads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created.</a:t>
            </a:r>
            <a:endParaRPr sz="2400">
              <a:latin typeface="Arial"/>
              <a:cs typeface="Arial"/>
            </a:endParaRPr>
          </a:p>
          <a:p>
            <a:pPr marL="698500" marR="218440" indent="-228600">
              <a:lnSpc>
                <a:spcPct val="79800"/>
              </a:lnSpc>
              <a:spcBef>
                <a:spcPts val="865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Each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thread in team is assigned to one of the tasks  (and </a:t>
            </a:r>
            <a:r>
              <a:rPr sz="2400" b="1" i="1" spc="-5" dirty="0">
                <a:solidFill>
                  <a:srgbClr val="FFFFFF"/>
                </a:solidFill>
                <a:latin typeface="Arial"/>
                <a:cs typeface="Arial"/>
              </a:rPr>
              <a:t>tied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it).</a:t>
            </a:r>
            <a:endParaRPr sz="2400">
              <a:latin typeface="Arial"/>
              <a:cs typeface="Arial"/>
            </a:endParaRPr>
          </a:p>
          <a:p>
            <a:pPr marL="698500" marR="151765" indent="-228600">
              <a:lnSpc>
                <a:spcPct val="80000"/>
              </a:lnSpc>
              <a:spcBef>
                <a:spcPts val="860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Barrier holds original master thread until all implicit  tasks are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finished.</a:t>
            </a:r>
            <a:endParaRPr sz="2400">
              <a:latin typeface="Arial"/>
              <a:cs typeface="Arial"/>
            </a:endParaRPr>
          </a:p>
          <a:p>
            <a:pPr marL="298450" marR="160020" indent="-285750">
              <a:lnSpc>
                <a:spcPct val="79800"/>
              </a:lnSpc>
              <a:spcBef>
                <a:spcPts val="86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We have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simply added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way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to create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 explicitly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for the team to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execute.</a:t>
            </a:r>
            <a:endParaRPr sz="2400">
              <a:latin typeface="Arial"/>
              <a:cs typeface="Arial"/>
            </a:endParaRPr>
          </a:p>
          <a:p>
            <a:pPr marL="298450" marR="5080" indent="-285750">
              <a:lnSpc>
                <a:spcPct val="79800"/>
              </a:lnSpc>
              <a:spcBef>
                <a:spcPts val="86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Every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part of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OpenMP program is part of one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or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another!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59</a:t>
            </a:fld>
            <a:endParaRPr spc="-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888745"/>
            <a:ext cx="378332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urier New"/>
                <a:cs typeface="Courier New"/>
              </a:rPr>
              <a:t>task</a:t>
            </a:r>
            <a:r>
              <a:rPr spc="-1370" dirty="0">
                <a:latin typeface="Courier New"/>
                <a:cs typeface="Courier New"/>
              </a:rPr>
              <a:t> </a:t>
            </a:r>
            <a:r>
              <a:rPr spc="-5" dirty="0"/>
              <a:t>Construct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302" y="1952498"/>
            <a:ext cx="7325359" cy="429958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 task [</a:t>
            </a:r>
            <a:r>
              <a:rPr sz="2400" i="1" spc="-5" dirty="0">
                <a:solidFill>
                  <a:srgbClr val="FFFFFF"/>
                </a:solidFill>
                <a:latin typeface="Courier New"/>
                <a:cs typeface="Courier New"/>
              </a:rPr>
              <a:t>clause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[[,]</a:t>
            </a:r>
            <a:r>
              <a:rPr sz="2400" i="1" spc="-5" dirty="0">
                <a:solidFill>
                  <a:srgbClr val="FFFFFF"/>
                </a:solidFill>
                <a:latin typeface="Courier New"/>
                <a:cs typeface="Courier New"/>
              </a:rPr>
              <a:t>clause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]</a:t>
            </a:r>
            <a:r>
              <a:rPr sz="2400" b="1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...]</a:t>
            </a:r>
            <a:endParaRPr sz="2400">
              <a:latin typeface="Courier New"/>
              <a:cs typeface="Courier New"/>
            </a:endParaRPr>
          </a:p>
          <a:p>
            <a:pPr marL="1779905">
              <a:lnSpc>
                <a:spcPct val="100000"/>
              </a:lnSpc>
              <a:spcBef>
                <a:spcPts val="204"/>
              </a:spcBef>
            </a:pP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structured-block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Arial"/>
              <a:cs typeface="Arial"/>
            </a:endParaRPr>
          </a:p>
          <a:p>
            <a:pPr marL="774700" indent="-6858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where 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clause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can be one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of: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50">
              <a:latin typeface="Arial"/>
              <a:cs typeface="Arial"/>
            </a:endParaRPr>
          </a:p>
          <a:p>
            <a:pPr marL="774700" marR="380365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if</a:t>
            </a:r>
            <a:r>
              <a:rPr sz="2400" b="1" spc="-1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sz="2400" i="1" spc="-5" dirty="0">
                <a:solidFill>
                  <a:srgbClr val="FFFFFF"/>
                </a:solidFill>
                <a:latin typeface="Courier New"/>
                <a:cs typeface="Courier New"/>
              </a:rPr>
              <a:t>expression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) 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untied</a:t>
            </a:r>
            <a:endParaRPr sz="2400">
              <a:latin typeface="Courier New"/>
              <a:cs typeface="Courier New"/>
            </a:endParaRPr>
          </a:p>
          <a:p>
            <a:pPr marL="774700" marR="3074035">
              <a:lnSpc>
                <a:spcPts val="287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shared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sz="2400" i="1" spc="-10" dirty="0">
                <a:solidFill>
                  <a:srgbClr val="FFFFFF"/>
                </a:solidFill>
                <a:latin typeface="Courier New"/>
                <a:cs typeface="Courier New"/>
              </a:rPr>
              <a:t>list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) 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private (</a:t>
            </a:r>
            <a:r>
              <a:rPr sz="2400" i="1" spc="-5" dirty="0">
                <a:solidFill>
                  <a:srgbClr val="FFFFFF"/>
                </a:solidFill>
                <a:latin typeface="Courier New"/>
                <a:cs typeface="Courier New"/>
              </a:rPr>
              <a:t>list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)  firstprivate</a:t>
            </a:r>
            <a:r>
              <a:rPr sz="2400" b="1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sz="2400" i="1" spc="-5" dirty="0">
                <a:solidFill>
                  <a:srgbClr val="FFFFFF"/>
                </a:solidFill>
                <a:latin typeface="Courier New"/>
                <a:cs typeface="Courier New"/>
              </a:rPr>
              <a:t>list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  <a:p>
            <a:pPr marL="774700">
              <a:lnSpc>
                <a:spcPts val="2790"/>
              </a:lnSpc>
              <a:tabLst>
                <a:tab pos="5154295" algn="l"/>
              </a:tabLst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default( shared</a:t>
            </a:r>
            <a:r>
              <a:rPr sz="24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24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none	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60</a:t>
            </a:fld>
            <a:endParaRPr spc="-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977" y="655573"/>
            <a:ext cx="3063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 </a:t>
            </a:r>
            <a:r>
              <a:rPr sz="3600" spc="-10" dirty="0">
                <a:latin typeface="Courier New"/>
                <a:cs typeface="Courier New"/>
              </a:rPr>
              <a:t>if</a:t>
            </a:r>
            <a:r>
              <a:rPr sz="3600" spc="-1250" dirty="0">
                <a:latin typeface="Courier New"/>
                <a:cs typeface="Courier New"/>
              </a:rPr>
              <a:t> </a:t>
            </a:r>
            <a:r>
              <a:rPr sz="3600" spc="-5" dirty="0"/>
              <a:t>clause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0977" y="1600343"/>
            <a:ext cx="7224395" cy="407987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6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When the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if</a:t>
            </a:r>
            <a:r>
              <a:rPr sz="2400" b="1" spc="-8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clause argument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endParaRPr sz="2400">
              <a:latin typeface="Arial"/>
              <a:cs typeface="Arial"/>
            </a:endParaRPr>
          </a:p>
          <a:p>
            <a:pPr marL="697865" marR="5080" lvl="1" indent="-228600">
              <a:lnSpc>
                <a:spcPts val="2240"/>
              </a:lnSpc>
              <a:spcBef>
                <a:spcPts val="92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task is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executed immediately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by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encountering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thread.</a:t>
            </a:r>
            <a:endParaRPr sz="20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data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environment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is still local to the new</a:t>
            </a:r>
            <a:r>
              <a:rPr sz="20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task...</a:t>
            </a:r>
            <a:endParaRPr sz="2000">
              <a:latin typeface="Arial"/>
              <a:cs typeface="Arial"/>
            </a:endParaRPr>
          </a:p>
          <a:p>
            <a:pPr marL="698500" marR="1183640" lvl="1" indent="-228600">
              <a:lnSpc>
                <a:spcPts val="224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...and it’s still a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task with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respect to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synchronization.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F5C300"/>
              </a:buClr>
              <a:buFont typeface="Wingdings"/>
              <a:buChar char=""/>
            </a:pPr>
            <a:endParaRPr sz="31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It’s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user directed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optimization</a:t>
            </a:r>
            <a:endParaRPr sz="2400">
              <a:latin typeface="Arial"/>
              <a:cs typeface="Arial"/>
            </a:endParaRPr>
          </a:p>
          <a:p>
            <a:pPr marL="698500" marR="692785" lvl="1" indent="-228600">
              <a:lnSpc>
                <a:spcPts val="224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when the cost of deferring the task is too great 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compared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to the cost of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executing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task</a:t>
            </a:r>
            <a:r>
              <a:rPr sz="20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1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control cache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memory</a:t>
            </a:r>
            <a:r>
              <a:rPr sz="2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affinity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61</a:t>
            </a:fld>
            <a:endParaRPr spc="-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977" y="683768"/>
            <a:ext cx="7239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When/where </a:t>
            </a:r>
            <a:r>
              <a:rPr sz="3600" spc="-5" dirty="0"/>
              <a:t>are tasks</a:t>
            </a:r>
            <a:r>
              <a:rPr sz="3600" spc="-95" dirty="0"/>
              <a:t> </a:t>
            </a:r>
            <a:r>
              <a:rPr sz="3600" spc="-5" dirty="0"/>
              <a:t>complete?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20977" y="1786294"/>
            <a:ext cx="7548880" cy="41116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At thread barriers, explicit or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implicit</a:t>
            </a:r>
            <a:endParaRPr sz="2400">
              <a:latin typeface="Arial"/>
              <a:cs typeface="Arial"/>
            </a:endParaRPr>
          </a:p>
          <a:p>
            <a:pPr marL="697865" marR="653415" lvl="1" indent="-228600">
              <a:lnSpc>
                <a:spcPts val="2240"/>
              </a:lnSpc>
              <a:spcBef>
                <a:spcPts val="77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applies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to all tasks generated in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current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parallel 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region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up to the</a:t>
            </a: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barrier</a:t>
            </a:r>
            <a:endParaRPr sz="20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51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matches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expectation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F5C300"/>
              </a:buClr>
              <a:buFont typeface="Wingdings"/>
              <a:buChar char=""/>
            </a:pPr>
            <a:endParaRPr sz="31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At task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barriers</a:t>
            </a:r>
            <a:endParaRPr sz="2400">
              <a:latin typeface="Arial"/>
              <a:cs typeface="Arial"/>
            </a:endParaRPr>
          </a:p>
          <a:p>
            <a:pPr marL="698500" marR="320675" lvl="1" indent="-228600">
              <a:lnSpc>
                <a:spcPts val="2240"/>
              </a:lnSpc>
              <a:spcBef>
                <a:spcPts val="780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i.e. Wait until all tasks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defined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in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current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task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have  completed.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50"/>
              </a:spcBef>
            </a:pPr>
            <a:r>
              <a:rPr sz="2400" b="1" spc="-5" dirty="0">
                <a:solidFill>
                  <a:srgbClr val="FFFF65"/>
                </a:solidFill>
                <a:latin typeface="Courier New"/>
                <a:cs typeface="Courier New"/>
              </a:rPr>
              <a:t>#pragma omp</a:t>
            </a:r>
            <a:r>
              <a:rPr sz="2400" b="1" spc="-25" dirty="0">
                <a:solidFill>
                  <a:srgbClr val="FFFF65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65"/>
                </a:solidFill>
                <a:latin typeface="Courier New"/>
                <a:cs typeface="Courier New"/>
              </a:rPr>
              <a:t>taskwait</a:t>
            </a:r>
            <a:endParaRPr sz="2400">
              <a:latin typeface="Courier New"/>
              <a:cs typeface="Courier New"/>
            </a:endParaRPr>
          </a:p>
          <a:p>
            <a:pPr marL="698500" marR="5080" lvl="1" indent="-228600">
              <a:lnSpc>
                <a:spcPts val="2240"/>
              </a:lnSpc>
              <a:spcBef>
                <a:spcPts val="925"/>
              </a:spcBef>
              <a:buClr>
                <a:srgbClr val="F5C300"/>
              </a:buClr>
              <a:buSzPct val="75000"/>
              <a:buFont typeface="Wingdings"/>
              <a:buChar char=""/>
              <a:tabLst>
                <a:tab pos="69850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Note: applies only to tasks generated in the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current task, 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not to “descendants” 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62</a:t>
            </a:fld>
            <a:endParaRPr spc="-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15771"/>
            <a:ext cx="7543800" cy="10521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ts val="3760"/>
              </a:lnSpc>
              <a:spcBef>
                <a:spcPts val="690"/>
              </a:spcBef>
            </a:pPr>
            <a:r>
              <a:rPr sz="3600" spc="-5" dirty="0"/>
              <a:t>Example </a:t>
            </a:r>
            <a:r>
              <a:rPr sz="3600" dirty="0"/>
              <a:t>– </a:t>
            </a:r>
            <a:r>
              <a:rPr sz="3600" spc="-5" dirty="0"/>
              <a:t>parallel </a:t>
            </a:r>
            <a:r>
              <a:rPr sz="3600" dirty="0"/>
              <a:t>pointer</a:t>
            </a:r>
            <a:r>
              <a:rPr sz="3600" spc="-85" dirty="0"/>
              <a:t> </a:t>
            </a:r>
            <a:r>
              <a:rPr sz="3600" spc="-5" dirty="0"/>
              <a:t>chasing  </a:t>
            </a:r>
            <a:r>
              <a:rPr sz="3600" dirty="0"/>
              <a:t>using</a:t>
            </a:r>
            <a:r>
              <a:rPr sz="3600" spc="-10" dirty="0"/>
              <a:t> </a:t>
            </a:r>
            <a:r>
              <a:rPr sz="3600" dirty="0"/>
              <a:t>tasks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739900" y="2106421"/>
            <a:ext cx="5682615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</a:t>
            </a:r>
            <a:r>
              <a:rPr sz="2400" b="1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parallel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846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 single</a:t>
            </a:r>
            <a:r>
              <a:rPr sz="24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private(p)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7777" y="3202178"/>
            <a:ext cx="3676650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194310" marR="917575">
              <a:lnSpc>
                <a:spcPts val="287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 = listhead</a:t>
            </a:r>
            <a:r>
              <a:rPr sz="2400" b="1" spc="-1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;  while (p)</a:t>
            </a:r>
            <a:r>
              <a:rPr sz="2400" b="1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42315">
              <a:lnSpc>
                <a:spcPts val="278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omp</a:t>
            </a:r>
            <a:r>
              <a:rPr sz="2400" b="1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task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9900" y="4662932"/>
            <a:ext cx="4771390" cy="185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0320" marR="5080" indent="145986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process</a:t>
            </a:r>
            <a:r>
              <a:rPr sz="2400" b="1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(p) 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p=next (p)</a:t>
            </a:r>
            <a:r>
              <a:rPr sz="24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925194">
              <a:lnSpc>
                <a:spcPts val="286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56007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2952" y="3611879"/>
            <a:ext cx="2670175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96520" marR="103505">
              <a:lnSpc>
                <a:spcPct val="106300"/>
              </a:lnSpc>
              <a:spcBef>
                <a:spcPts val="45"/>
              </a:spcBef>
            </a:pPr>
            <a:r>
              <a:rPr sz="2000" b="1" spc="-5" dirty="0">
                <a:latin typeface="Courier New"/>
                <a:cs typeface="Courier New"/>
              </a:rPr>
              <a:t>p </a:t>
            </a:r>
            <a:r>
              <a:rPr sz="2000" spc="-5" dirty="0">
                <a:latin typeface="Arial"/>
                <a:cs typeface="Arial"/>
              </a:rPr>
              <a:t>is firstprivate inside  this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task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7171" y="4010405"/>
            <a:ext cx="454659" cy="417195"/>
          </a:xfrm>
          <a:custGeom>
            <a:avLst/>
            <a:gdLst/>
            <a:ahLst/>
            <a:cxnLst/>
            <a:rect l="l" t="t" r="r" b="b"/>
            <a:pathLst>
              <a:path w="454660" h="417195">
                <a:moveTo>
                  <a:pt x="52744" y="361795"/>
                </a:moveTo>
                <a:lnTo>
                  <a:pt x="30479" y="337566"/>
                </a:lnTo>
                <a:lnTo>
                  <a:pt x="0" y="416814"/>
                </a:lnTo>
                <a:lnTo>
                  <a:pt x="41909" y="405172"/>
                </a:lnTo>
                <a:lnTo>
                  <a:pt x="41909" y="374142"/>
                </a:lnTo>
                <a:lnTo>
                  <a:pt x="43433" y="370332"/>
                </a:lnTo>
                <a:lnTo>
                  <a:pt x="52744" y="361795"/>
                </a:lnTo>
                <a:close/>
              </a:path>
              <a:path w="454660" h="417195">
                <a:moveTo>
                  <a:pt x="59664" y="369325"/>
                </a:moveTo>
                <a:lnTo>
                  <a:pt x="52744" y="361795"/>
                </a:lnTo>
                <a:lnTo>
                  <a:pt x="43433" y="370332"/>
                </a:lnTo>
                <a:lnTo>
                  <a:pt x="41909" y="374142"/>
                </a:lnTo>
                <a:lnTo>
                  <a:pt x="43433" y="377190"/>
                </a:lnTo>
                <a:lnTo>
                  <a:pt x="46481" y="378714"/>
                </a:lnTo>
                <a:lnTo>
                  <a:pt x="50291" y="377952"/>
                </a:lnTo>
                <a:lnTo>
                  <a:pt x="59664" y="369325"/>
                </a:lnTo>
                <a:close/>
              </a:path>
              <a:path w="454660" h="417195">
                <a:moveTo>
                  <a:pt x="82295" y="393954"/>
                </a:moveTo>
                <a:lnTo>
                  <a:pt x="59664" y="369325"/>
                </a:lnTo>
                <a:lnTo>
                  <a:pt x="50291" y="377952"/>
                </a:lnTo>
                <a:lnTo>
                  <a:pt x="46481" y="378714"/>
                </a:lnTo>
                <a:lnTo>
                  <a:pt x="43433" y="377190"/>
                </a:lnTo>
                <a:lnTo>
                  <a:pt x="41909" y="374142"/>
                </a:lnTo>
                <a:lnTo>
                  <a:pt x="41909" y="405172"/>
                </a:lnTo>
                <a:lnTo>
                  <a:pt x="82295" y="393954"/>
                </a:lnTo>
                <a:close/>
              </a:path>
              <a:path w="454660" h="417195">
                <a:moveTo>
                  <a:pt x="454151" y="4572"/>
                </a:moveTo>
                <a:lnTo>
                  <a:pt x="452627" y="1524"/>
                </a:lnTo>
                <a:lnTo>
                  <a:pt x="449579" y="0"/>
                </a:lnTo>
                <a:lnTo>
                  <a:pt x="446531" y="762"/>
                </a:lnTo>
                <a:lnTo>
                  <a:pt x="52744" y="361795"/>
                </a:lnTo>
                <a:lnTo>
                  <a:pt x="59664" y="369325"/>
                </a:lnTo>
                <a:lnTo>
                  <a:pt x="452627" y="7620"/>
                </a:lnTo>
                <a:lnTo>
                  <a:pt x="454151" y="45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10" name="object 10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63</a:t>
            </a:fld>
            <a:endParaRPr spc="-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715771"/>
            <a:ext cx="8230234" cy="10521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ts val="3760"/>
              </a:lnSpc>
              <a:spcBef>
                <a:spcPts val="690"/>
              </a:spcBef>
            </a:pPr>
            <a:r>
              <a:rPr sz="3600" spc="-5" dirty="0"/>
              <a:t>Example </a:t>
            </a:r>
            <a:r>
              <a:rPr sz="3600" dirty="0"/>
              <a:t>– </a:t>
            </a:r>
            <a:r>
              <a:rPr sz="3600" spc="-5" dirty="0"/>
              <a:t>parallel </a:t>
            </a:r>
            <a:r>
              <a:rPr sz="3600" dirty="0"/>
              <a:t>pointer </a:t>
            </a:r>
            <a:r>
              <a:rPr sz="3600" spc="-5" dirty="0"/>
              <a:t>chasing </a:t>
            </a:r>
            <a:r>
              <a:rPr sz="3600" dirty="0"/>
              <a:t>on  </a:t>
            </a:r>
            <a:r>
              <a:rPr sz="3600" spc="-5" dirty="0"/>
              <a:t>multiple </a:t>
            </a:r>
            <a:r>
              <a:rPr sz="3600" dirty="0"/>
              <a:t>lists using</a:t>
            </a:r>
            <a:r>
              <a:rPr sz="3600" spc="-15" dirty="0"/>
              <a:t> </a:t>
            </a:r>
            <a:r>
              <a:rPr sz="3600" spc="-5" dirty="0"/>
              <a:t>tasks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358900" y="2154428"/>
            <a:ext cx="7143115" cy="440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</a:t>
            </a:r>
            <a:r>
              <a:rPr sz="2400" b="1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parallel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6007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omp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for</a:t>
            </a:r>
            <a:r>
              <a:rPr sz="24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private(p)</a:t>
            </a:r>
            <a:endParaRPr sz="2400">
              <a:latin typeface="Courier New"/>
              <a:cs typeface="Courier New"/>
            </a:endParaRPr>
          </a:p>
          <a:p>
            <a:pPr marL="1290320" marR="5080" indent="-730250">
              <a:lnSpc>
                <a:spcPts val="2880"/>
              </a:lnSpc>
              <a:spcBef>
                <a:spcPts val="90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for ( int i =0; i &lt;numlists ; i++)</a:t>
            </a:r>
            <a:r>
              <a:rPr sz="2400" b="1" spc="-1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{  </a:t>
            </a:r>
            <a:r>
              <a:rPr sz="24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 = listheads [ i ]</a:t>
            </a:r>
            <a:r>
              <a:rPr sz="2400" b="1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1290320" marR="2923540">
              <a:lnSpc>
                <a:spcPts val="2870"/>
              </a:lnSpc>
              <a:spcBef>
                <a:spcPts val="5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while (p ) {  #pragma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omp</a:t>
            </a:r>
            <a:r>
              <a:rPr sz="2400" b="1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task</a:t>
            </a:r>
            <a:endParaRPr sz="2400">
              <a:latin typeface="Courier New"/>
              <a:cs typeface="Courier New"/>
            </a:endParaRPr>
          </a:p>
          <a:p>
            <a:pPr marL="1290320" marR="3107055" indent="729615">
              <a:lnSpc>
                <a:spcPts val="2870"/>
              </a:lnSpc>
              <a:spcBef>
                <a:spcPts val="5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process</a:t>
            </a:r>
            <a:r>
              <a:rPr sz="2400" b="1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(p) 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p=next (p )</a:t>
            </a:r>
            <a:r>
              <a:rPr sz="2400" b="1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1290320">
              <a:lnSpc>
                <a:spcPts val="278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56007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64</a:t>
            </a:fld>
            <a:endParaRPr spc="-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977" y="683768"/>
            <a:ext cx="7316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Example: </a:t>
            </a:r>
            <a:r>
              <a:rPr sz="3600" dirty="0"/>
              <a:t>postorder </a:t>
            </a:r>
            <a:r>
              <a:rPr sz="3600" spc="-5" dirty="0"/>
              <a:t>tree</a:t>
            </a:r>
            <a:r>
              <a:rPr sz="3600" spc="-80" dirty="0"/>
              <a:t> </a:t>
            </a:r>
            <a:r>
              <a:rPr sz="3600" spc="-5" dirty="0"/>
              <a:t>traversal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22502" y="1796752"/>
            <a:ext cx="6730365" cy="271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marR="2900045" indent="-609600">
              <a:lnSpc>
                <a:spcPct val="1105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void postorder(node *p) {  if</a:t>
            </a:r>
            <a:r>
              <a:rPr sz="2000" b="1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(p-&gt;left)</a:t>
            </a:r>
            <a:endParaRPr sz="2000">
              <a:latin typeface="Courier New"/>
              <a:cs typeface="Courier New"/>
            </a:endParaRPr>
          </a:p>
          <a:p>
            <a:pPr marL="1231265" marR="2595880" indent="-304800">
              <a:lnSpc>
                <a:spcPct val="110200"/>
              </a:lnSpc>
              <a:spcBef>
                <a:spcPts val="5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 task  postorder(p-&gt;left);</a:t>
            </a:r>
            <a:endParaRPr sz="2000">
              <a:latin typeface="Courier New"/>
              <a:cs typeface="Courier New"/>
            </a:endParaRPr>
          </a:p>
          <a:p>
            <a:pPr marL="926465" marR="3356610" indent="-304800">
              <a:lnSpc>
                <a:spcPct val="1105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if (p-&gt;right)  #pragma omp</a:t>
            </a:r>
            <a:r>
              <a:rPr sz="20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task</a:t>
            </a:r>
            <a:endParaRPr sz="200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  <a:spcBef>
                <a:spcPts val="245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postorder(p-&gt;right);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 taskwait // wait for</a:t>
            </a:r>
            <a:r>
              <a:rPr sz="2000" b="1" spc="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descendants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502" y="4490367"/>
            <a:ext cx="2921000" cy="6978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345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process(p-&gt;data);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2502" y="5550661"/>
            <a:ext cx="66579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7815" algn="l"/>
                <a:tab pos="298450" algn="l"/>
              </a:tabLst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Parent task suspended until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children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r>
              <a:rPr sz="20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9944" y="4692396"/>
            <a:ext cx="2651760" cy="40703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latin typeface="Arial"/>
                <a:cs typeface="Arial"/>
              </a:rPr>
              <a:t>Task scheduling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point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67021" y="4484370"/>
            <a:ext cx="2030730" cy="360680"/>
          </a:xfrm>
          <a:custGeom>
            <a:avLst/>
            <a:gdLst/>
            <a:ahLst/>
            <a:cxnLst/>
            <a:rect l="l" t="t" r="r" b="b"/>
            <a:pathLst>
              <a:path w="2030729" h="360679">
                <a:moveTo>
                  <a:pt x="135635" y="0"/>
                </a:moveTo>
                <a:lnTo>
                  <a:pt x="0" y="43434"/>
                </a:lnTo>
                <a:lnTo>
                  <a:pt x="108203" y="119603"/>
                </a:lnTo>
                <a:lnTo>
                  <a:pt x="108203" y="60198"/>
                </a:lnTo>
                <a:lnTo>
                  <a:pt x="110489" y="57150"/>
                </a:lnTo>
                <a:lnTo>
                  <a:pt x="113537" y="55626"/>
                </a:lnTo>
                <a:lnTo>
                  <a:pt x="126499" y="57628"/>
                </a:lnTo>
                <a:lnTo>
                  <a:pt x="135635" y="0"/>
                </a:lnTo>
                <a:close/>
              </a:path>
              <a:path w="2030729" h="360679">
                <a:moveTo>
                  <a:pt x="126499" y="57628"/>
                </a:moveTo>
                <a:lnTo>
                  <a:pt x="113537" y="55626"/>
                </a:lnTo>
                <a:lnTo>
                  <a:pt x="110489" y="57150"/>
                </a:lnTo>
                <a:lnTo>
                  <a:pt x="108203" y="60198"/>
                </a:lnTo>
                <a:lnTo>
                  <a:pt x="109727" y="63246"/>
                </a:lnTo>
                <a:lnTo>
                  <a:pt x="112775" y="65532"/>
                </a:lnTo>
                <a:lnTo>
                  <a:pt x="124949" y="67408"/>
                </a:lnTo>
                <a:lnTo>
                  <a:pt x="126499" y="57628"/>
                </a:lnTo>
                <a:close/>
              </a:path>
              <a:path w="2030729" h="360679">
                <a:moveTo>
                  <a:pt x="124949" y="67408"/>
                </a:moveTo>
                <a:lnTo>
                  <a:pt x="112775" y="65532"/>
                </a:lnTo>
                <a:lnTo>
                  <a:pt x="109727" y="63246"/>
                </a:lnTo>
                <a:lnTo>
                  <a:pt x="108203" y="60198"/>
                </a:lnTo>
                <a:lnTo>
                  <a:pt x="108203" y="119603"/>
                </a:lnTo>
                <a:lnTo>
                  <a:pt x="115823" y="124968"/>
                </a:lnTo>
                <a:lnTo>
                  <a:pt x="124949" y="67408"/>
                </a:lnTo>
                <a:close/>
              </a:path>
              <a:path w="2030729" h="360679">
                <a:moveTo>
                  <a:pt x="2030729" y="356615"/>
                </a:moveTo>
                <a:lnTo>
                  <a:pt x="2029967" y="352805"/>
                </a:lnTo>
                <a:lnTo>
                  <a:pt x="2026919" y="351281"/>
                </a:lnTo>
                <a:lnTo>
                  <a:pt x="126499" y="57628"/>
                </a:lnTo>
                <a:lnTo>
                  <a:pt x="124949" y="67408"/>
                </a:lnTo>
                <a:lnTo>
                  <a:pt x="2025395" y="360425"/>
                </a:lnTo>
                <a:lnTo>
                  <a:pt x="2028443" y="359663"/>
                </a:lnTo>
                <a:lnTo>
                  <a:pt x="2030729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10" name="object 10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65</a:t>
            </a:fld>
            <a:endParaRPr spc="-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977" y="683768"/>
            <a:ext cx="525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Task </a:t>
            </a:r>
            <a:r>
              <a:rPr sz="3600" spc="-5" dirty="0"/>
              <a:t>switching</a:t>
            </a:r>
            <a:r>
              <a:rPr sz="3600" spc="-95" dirty="0"/>
              <a:t> </a:t>
            </a:r>
            <a:r>
              <a:rPr sz="3600" spc="-5" dirty="0"/>
              <a:t>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22502" y="1796752"/>
            <a:ext cx="7601584" cy="49942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50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</a:t>
            </a: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single</a:t>
            </a:r>
            <a:endParaRPr sz="2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254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250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for (i=0; i&lt;ONEZILLION;</a:t>
            </a:r>
            <a:r>
              <a:rPr sz="2000" b="1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i++)</a:t>
            </a:r>
            <a:endParaRPr sz="2000">
              <a:latin typeface="Courier New"/>
              <a:cs typeface="Courier New"/>
            </a:endParaRPr>
          </a:p>
          <a:p>
            <a:pPr marL="1078865" marR="3923665" indent="-304800">
              <a:lnSpc>
                <a:spcPts val="2650"/>
              </a:lnSpc>
              <a:spcBef>
                <a:spcPts val="125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#pragma omp task  process(item[i]);</a:t>
            </a:r>
            <a:endParaRPr sz="2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5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00">
              <a:latin typeface="Courier New"/>
              <a:cs typeface="Courier New"/>
            </a:endParaRPr>
          </a:p>
          <a:p>
            <a:pPr marL="298450" indent="-285750">
              <a:lnSpc>
                <a:spcPct val="100000"/>
              </a:lnSpc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Too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many tasks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generated in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eye-blink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8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Generating task will have to suspend for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80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With task switching, the executing thread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can:</a:t>
            </a:r>
            <a:endParaRPr sz="2400">
              <a:latin typeface="Arial"/>
              <a:cs typeface="Arial"/>
            </a:endParaRPr>
          </a:p>
          <a:p>
            <a:pPr marL="697865" marR="5080" indent="-228600">
              <a:lnSpc>
                <a:spcPct val="79800"/>
              </a:lnSpc>
              <a:spcBef>
                <a:spcPts val="865"/>
              </a:spcBef>
            </a:pPr>
            <a:r>
              <a:rPr sz="1800" spc="-5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execute an already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generated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task (draining the  “</a:t>
            </a:r>
            <a:r>
              <a:rPr sz="2400" b="1" i="1" spc="-5" dirty="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sz="2400" b="1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FFFFFF"/>
                </a:solidFill>
                <a:latin typeface="Arial"/>
                <a:cs typeface="Arial"/>
              </a:rPr>
              <a:t>pool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”)</a:t>
            </a:r>
            <a:endParaRPr sz="2400">
              <a:latin typeface="Arial"/>
              <a:cs typeface="Arial"/>
            </a:endParaRPr>
          </a:p>
          <a:p>
            <a:pPr marL="697865" marR="346710" indent="-228600">
              <a:lnSpc>
                <a:spcPts val="2300"/>
              </a:lnSpc>
              <a:spcBef>
                <a:spcPts val="840"/>
              </a:spcBef>
            </a:pPr>
            <a:r>
              <a:rPr sz="1800" dirty="0">
                <a:solidFill>
                  <a:srgbClr val="F5C300"/>
                </a:solidFill>
                <a:latin typeface="Wingdings"/>
                <a:cs typeface="Wingdings"/>
              </a:rPr>
              <a:t>♦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dive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into the encountered task (could be very  cache-friendly)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66</a:t>
            </a:fld>
            <a:endParaRPr spc="-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950" y="920749"/>
            <a:ext cx="651890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Portable control </a:t>
            </a:r>
            <a:r>
              <a:rPr dirty="0"/>
              <a:t>of</a:t>
            </a:r>
            <a:r>
              <a:rPr spc="-60" dirty="0"/>
              <a:t> </a:t>
            </a:r>
            <a:r>
              <a:rPr spc="-5" dirty="0"/>
              <a:t>threads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97" y="1974595"/>
            <a:ext cx="8237855" cy="355790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98450" marR="5080" indent="-285750">
              <a:lnSpc>
                <a:spcPts val="3130"/>
              </a:lnSpc>
              <a:spcBef>
                <a:spcPts val="39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Added environment variable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size 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child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threads’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 stack</a:t>
            </a:r>
            <a:endParaRPr sz="2800">
              <a:latin typeface="Arial"/>
              <a:cs typeface="Arial"/>
            </a:endParaRPr>
          </a:p>
          <a:p>
            <a:pPr marL="118110" algn="ctr">
              <a:lnSpc>
                <a:spcPct val="100000"/>
              </a:lnSpc>
              <a:spcBef>
                <a:spcPts val="465"/>
              </a:spcBef>
            </a:pPr>
            <a:r>
              <a:rPr sz="2800" b="1" spc="-10" dirty="0">
                <a:solidFill>
                  <a:srgbClr val="FFFFFF"/>
                </a:solidFill>
                <a:latin typeface="Courier New"/>
                <a:cs typeface="Courier New"/>
              </a:rPr>
              <a:t>OMP_STACKSIZE</a:t>
            </a:r>
            <a:endParaRPr sz="2800">
              <a:latin typeface="Courier New"/>
              <a:cs typeface="Courier New"/>
            </a:endParaRPr>
          </a:p>
          <a:p>
            <a:pPr marL="298450" marR="124460" indent="-285750">
              <a:lnSpc>
                <a:spcPts val="3130"/>
              </a:lnSpc>
              <a:spcBef>
                <a:spcPts val="1315"/>
              </a:spcBef>
              <a:buClr>
                <a:srgbClr val="F5C300"/>
              </a:buClr>
              <a:buSzPct val="75000"/>
              <a:buFont typeface="Wingdings"/>
              <a:buChar char=""/>
              <a:tabLst>
                <a:tab pos="29845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Added environment variable to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hint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 runtime 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how to treat idle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threads</a:t>
            </a:r>
            <a:endParaRPr sz="2800">
              <a:latin typeface="Arial"/>
              <a:cs typeface="Arial"/>
            </a:endParaRPr>
          </a:p>
          <a:p>
            <a:pPr marL="117475" algn="ctr">
              <a:lnSpc>
                <a:spcPct val="100000"/>
              </a:lnSpc>
              <a:spcBef>
                <a:spcPts val="465"/>
              </a:spcBef>
            </a:pPr>
            <a:r>
              <a:rPr sz="2800" b="1" spc="-10" dirty="0">
                <a:solidFill>
                  <a:srgbClr val="FFFFFF"/>
                </a:solidFill>
                <a:latin typeface="Courier New"/>
                <a:cs typeface="Courier New"/>
              </a:rPr>
              <a:t>OMP_WAIT_POLICY</a:t>
            </a:r>
            <a:endParaRPr sz="2800">
              <a:latin typeface="Courier New"/>
              <a:cs typeface="Courier New"/>
            </a:endParaRPr>
          </a:p>
          <a:p>
            <a:pPr marL="1339850">
              <a:lnSpc>
                <a:spcPct val="100000"/>
              </a:lnSpc>
              <a:spcBef>
                <a:spcPts val="670"/>
              </a:spcBef>
              <a:tabLst>
                <a:tab pos="2686050" algn="l"/>
              </a:tabLst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ACTIVE	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keep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threads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alive at</a:t>
            </a:r>
            <a:r>
              <a:rPr sz="20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barriers/locks</a:t>
            </a:r>
            <a:endParaRPr sz="2000">
              <a:latin typeface="Arial"/>
              <a:cs typeface="Arial"/>
            </a:endParaRPr>
          </a:p>
          <a:p>
            <a:pPr marL="1339850">
              <a:lnSpc>
                <a:spcPct val="100000"/>
              </a:lnSpc>
              <a:spcBef>
                <a:spcPts val="565"/>
              </a:spcBef>
              <a:tabLst>
                <a:tab pos="5925820" algn="l"/>
              </a:tabLst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PASSIVE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try to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release</a:t>
            </a:r>
            <a:r>
              <a:rPr sz="2000" b="1" spc="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processor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at	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barriers/locks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845" y="463295"/>
            <a:ext cx="1308735" cy="323850"/>
          </a:xfrm>
          <a:custGeom>
            <a:avLst/>
            <a:gdLst/>
            <a:ahLst/>
            <a:cxnLst/>
            <a:rect l="l" t="t" r="r" b="b"/>
            <a:pathLst>
              <a:path w="1308734" h="323850">
                <a:moveTo>
                  <a:pt x="1308353" y="323850"/>
                </a:moveTo>
                <a:lnTo>
                  <a:pt x="1308353" y="0"/>
                </a:lnTo>
                <a:lnTo>
                  <a:pt x="0" y="0"/>
                </a:lnTo>
                <a:lnTo>
                  <a:pt x="0" y="323850"/>
                </a:lnTo>
                <a:lnTo>
                  <a:pt x="1308353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286495" y="456945"/>
            <a:ext cx="1321435" cy="336550"/>
            <a:chOff x="8286495" y="456945"/>
            <a:chExt cx="1321435" cy="336550"/>
          </a:xfrm>
        </p:grpSpPr>
        <p:sp>
          <p:nvSpPr>
            <p:cNvPr id="6" name="object 6"/>
            <p:cNvSpPr/>
            <p:nvPr/>
          </p:nvSpPr>
          <p:spPr>
            <a:xfrm>
              <a:off x="8292845" y="463295"/>
              <a:ext cx="1308735" cy="323850"/>
            </a:xfrm>
            <a:custGeom>
              <a:avLst/>
              <a:gdLst/>
              <a:ahLst/>
              <a:cxnLst/>
              <a:rect l="l" t="t" r="r" b="b"/>
              <a:pathLst>
                <a:path w="1308734" h="323850">
                  <a:moveTo>
                    <a:pt x="0" y="0"/>
                  </a:moveTo>
                  <a:lnTo>
                    <a:pt x="0" y="323850"/>
                  </a:lnTo>
                  <a:lnTo>
                    <a:pt x="1308353" y="323850"/>
                  </a:lnTo>
                  <a:lnTo>
                    <a:pt x="130835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6373" y="486155"/>
              <a:ext cx="819416" cy="2918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7" y="488695"/>
            <a:ext cx="349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sng" dirty="0">
                <a:solidFill>
                  <a:srgbClr val="06905B"/>
                </a:solidFill>
                <a:uFill>
                  <a:solidFill>
                    <a:srgbClr val="297B52"/>
                  </a:solidFill>
                </a:uFill>
                <a:latin typeface="Tahoma"/>
                <a:cs typeface="Tahoma"/>
              </a:rPr>
              <a:t>3.0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145" y="504444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297B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5" dirty="0"/>
              <a:t>67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Words>6830</Words>
  <Application>Microsoft Office PowerPoint</Application>
  <PresentationFormat>Custom</PresentationFormat>
  <Paragraphs>942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SimSun</vt:lpstr>
      <vt:lpstr>Arial</vt:lpstr>
      <vt:lpstr>Calibri</vt:lpstr>
      <vt:lpstr>Courier New</vt:lpstr>
      <vt:lpstr>Lucida Sans Unicode</vt:lpstr>
      <vt:lpstr>Symbol</vt:lpstr>
      <vt:lpstr>Tahoma</vt:lpstr>
      <vt:lpstr>Times New Roman</vt:lpstr>
      <vt:lpstr>Trebuchet MS</vt:lpstr>
      <vt:lpstr>Wingdings</vt:lpstr>
      <vt:lpstr>Office Theme</vt:lpstr>
      <vt:lpstr>A “Hands-on” Introduction to  OpenMP*</vt:lpstr>
      <vt:lpstr>Outline</vt:lpstr>
      <vt:lpstr>OpenMP* Overview:</vt:lpstr>
      <vt:lpstr>OpenMP Basic Defs: Solution Stack</vt:lpstr>
      <vt:lpstr>OpenMP core syntax</vt:lpstr>
      <vt:lpstr>Hello world</vt:lpstr>
      <vt:lpstr>PowerPoint Presentation</vt:lpstr>
      <vt:lpstr>OpenMP Overview:</vt:lpstr>
      <vt:lpstr>Outline</vt:lpstr>
      <vt:lpstr>OpenMP Programming Model:</vt:lpstr>
      <vt:lpstr>Thread Creation: Parallel Regions</vt:lpstr>
      <vt:lpstr>Thread Creation: Parallel Regions</vt:lpstr>
      <vt:lpstr>Thread Creation: Parallel Regions example</vt:lpstr>
      <vt:lpstr>PowerPoint Presentation</vt:lpstr>
      <vt:lpstr>Serial PI Program</vt:lpstr>
      <vt:lpstr>Exercise 2</vt:lpstr>
      <vt:lpstr>The SPMD pattern</vt:lpstr>
      <vt:lpstr>Exercise 2: A simple SPMD pi program</vt:lpstr>
      <vt:lpstr>Outline</vt:lpstr>
      <vt:lpstr>Synchronization</vt:lpstr>
      <vt:lpstr>Synchronization: critical</vt:lpstr>
      <vt:lpstr>Synchronization: Atomic</vt:lpstr>
      <vt:lpstr>Exercise 3</vt:lpstr>
      <vt:lpstr>False sharing</vt:lpstr>
      <vt:lpstr>Exercise 3: SPMD Pi without false sharing</vt:lpstr>
      <vt:lpstr>Outline</vt:lpstr>
      <vt:lpstr>SPMD vs. worksharing</vt:lpstr>
      <vt:lpstr>The loop worksharing Constructs</vt:lpstr>
      <vt:lpstr>Loop worksharing Constructs</vt:lpstr>
      <vt:lpstr>Working with loops</vt:lpstr>
      <vt:lpstr>Reduction</vt:lpstr>
      <vt:lpstr>Reduction</vt:lpstr>
      <vt:lpstr>Exercise 4</vt:lpstr>
      <vt:lpstr>Exercise 4: solution</vt:lpstr>
      <vt:lpstr>Runtime Library routines</vt:lpstr>
      <vt:lpstr>Runtime Library routines</vt:lpstr>
      <vt:lpstr>Outline</vt:lpstr>
      <vt:lpstr>A threadprivate example (C)</vt:lpstr>
      <vt:lpstr>Exercise 5: Monte Carlo Calculations</vt:lpstr>
      <vt:lpstr>Parallel Programmers love Monte Carlo</vt:lpstr>
      <vt:lpstr>Outline</vt:lpstr>
      <vt:lpstr>Sections worksharing Construct</vt:lpstr>
      <vt:lpstr>Exercise 6</vt:lpstr>
      <vt:lpstr>Matrix multiplication</vt:lpstr>
      <vt:lpstr>Outline</vt:lpstr>
      <vt:lpstr>OpenMP memory model</vt:lpstr>
      <vt:lpstr>OpenMP Memory Model: Basic Terms</vt:lpstr>
      <vt:lpstr>Consistency: Memory Access Re-ordering</vt:lpstr>
      <vt:lpstr>Consistency</vt:lpstr>
      <vt:lpstr>Flush</vt:lpstr>
      <vt:lpstr>What is the Big Deal with Flush?</vt:lpstr>
      <vt:lpstr>Synchronization: flush example</vt:lpstr>
      <vt:lpstr>Exercise 7: producer consumer</vt:lpstr>
      <vt:lpstr>Exercise 7: prod_cons.c</vt:lpstr>
      <vt:lpstr>Exercise 7: producer consumer</vt:lpstr>
      <vt:lpstr>Tasks</vt:lpstr>
      <vt:lpstr>General task characteristics</vt:lpstr>
      <vt:lpstr>Definitions</vt:lpstr>
      <vt:lpstr>Tasks and OpenMP</vt:lpstr>
      <vt:lpstr>task Construct</vt:lpstr>
      <vt:lpstr>The if clause</vt:lpstr>
      <vt:lpstr>When/where are tasks complete?</vt:lpstr>
      <vt:lpstr>Example – parallel pointer chasing  using tasks</vt:lpstr>
      <vt:lpstr>Example – parallel pointer chasing on  multiple lists using tasks</vt:lpstr>
      <vt:lpstr>Example: postorder tree traversal</vt:lpstr>
      <vt:lpstr>Task switching example</vt:lpstr>
      <vt:lpstr>Portable control of threads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omp-hands-on-SC08 (2).ppt [Read-Only]</dc:title>
  <dc:creator>lfmeadow</dc:creator>
  <cp:lastModifiedBy>Reza Nezami</cp:lastModifiedBy>
  <cp:revision>25</cp:revision>
  <dcterms:created xsi:type="dcterms:W3CDTF">2020-10-08T00:52:28Z</dcterms:created>
  <dcterms:modified xsi:type="dcterms:W3CDTF">2022-04-16T06:55:55Z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2008-11-24T00:00:00Z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2020-10-08T00:00:00Z</vt:filetime>
  </property>
</Properties>
</file>